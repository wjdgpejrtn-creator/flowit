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99" r:id="rId4"/>
    <p:sldId id="304" r:id="rId5"/>
    <p:sldId id="303" r:id="rId6"/>
    <p:sldId id="305" r:id="rId7"/>
    <p:sldId id="265" r:id="rId8"/>
    <p:sldId id="306" r:id="rId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E"/>
    <a:srgbClr val="49C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29" autoAdjust="0"/>
  </p:normalViewPr>
  <p:slideViewPr>
    <p:cSldViewPr snapToGrid="0">
      <p:cViewPr varScale="1">
        <p:scale>
          <a:sx n="112" d="100"/>
          <a:sy n="112" d="100"/>
        </p:scale>
        <p:origin x="49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AF08C-8A22-47E7-9459-ADC5E1DA5D42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61D3C-0FC0-4521-9527-235AA5B16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981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461D3C-0FC0-4521-9527-235AA5B16B8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65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DF6885A-049B-417E-BED1-845FB5C36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C7274CC-9CDE-4FBC-A4DD-6B9861CFA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9250936-8FF6-4C6F-9893-77207F7D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97EBA92-0994-4D62-9F92-18A7CBDC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B093386-2E2B-47E1-8192-34EC54E0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58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7E36290-953C-4DC1-901B-DB0665D2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1388AE1-1B0B-4F10-A9D2-BAA3ACE0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C536CCD-9576-40CB-ACDC-30972F0C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84C9E20-3C76-447A-ACA6-F7927EFC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AD90410-CF04-4944-A569-EB117C71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4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E394135-EBD8-4AD5-9AE1-6E73F67E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8647CF58-F5F3-44C5-B7DA-6EAA64E58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715F726-4C33-47EF-AF23-F24F5373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14DF504-ED2C-4CDE-A1E4-01520FC5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244A8A6-41E6-4159-9436-4E143142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86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6A0341-E8E1-4456-9261-5FB8E863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0F4A7AD-8CDB-4FC6-B90B-E70F72618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7CD22368-1768-4E1D-BAD9-511CF58BA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B7022F-FE79-48D1-A36F-D6E47C18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31007E62-EEB6-4FCB-AF4E-8603FF0F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9AD578A3-37D3-406F-963D-DECA888F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33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520CBE4-B648-4C94-A991-85610DE7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FC9FD999-B636-41C0-95F1-27A0C3C9E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B9B05D6-ECAC-4A5B-8913-E947F6244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15199CDA-37CD-4BCB-B7D1-ACF022593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871AE525-C281-469E-A83C-5459DF60B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8959A694-0F29-4410-8177-EB224A38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35FD77DD-B615-4A05-8C1E-BB6A1C36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AE304B30-96F5-43F6-9A6B-E16D88F8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04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D208C55-7244-425D-8044-FADB7BB0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43F2E651-FF4B-4724-93FB-090FD635A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A1215D43-7075-46FD-A48F-97FDF518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78EF00DF-0FCC-4168-91C6-9B5AA39B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459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C4C0917-5977-49A8-A57C-BD8A7026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F78DBD0C-9986-43A0-9EE5-966A3428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1139E7-EAD9-41B4-9E45-350F9A5D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67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1CA3641-CDC8-42E8-8394-6B8D22EB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AF06679-1314-4A7C-A717-A3646DCD8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7CBCE254-B670-428A-99CD-455671350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27DBAEB-39DF-4FD5-98DA-C25B5B39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BEDE3DEC-2CDF-4232-B8EF-E61CBA1C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63092A-DC29-4CEB-9362-747C75AC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99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8ACE8D-8314-46AC-9119-9FE80155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A43ADA99-29F5-4539-A13B-ABD47D9FF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C3F15EDE-0363-4CE4-B55D-88A4F50FD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D2C22762-4E1F-4304-95CC-565C8767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2750DA5-F41C-4C2A-A6CE-503006E3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6EDA26C-6C3C-4B22-889F-430F6F5E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76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5684D35-2C48-41C0-B38C-0CCBDC12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0E7523D5-4592-4B8C-A1A2-87D2133CE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81BA664-0E05-445A-8AE7-80029761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184B364-F474-4347-AE93-75E23974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FECB2CE-92F7-40A2-8957-EABFD6C7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5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3E137F05-01A6-4A65-BBC6-C7FAD0CA7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1929B71-145E-4BD1-8F59-AA7173C30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51DE61D-3CD4-4640-AC42-B80627FA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A0B39BD-9307-4AF4-98F0-E5E4C78F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859A4F1-04B3-4006-9F50-FDBBB2E7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35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C4B988D9-C74B-4C94-B900-C4F52AE8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EEC6BA9-DC65-4F1F-B94F-C6A332D91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F262B95-43EA-4D24-83B0-C4FB778B9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3C457-098E-4DDD-8A41-EB86448E5C9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8E02BFE-AAD9-4063-B43D-E0372099E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6D2EA9-81B4-466A-8A4B-83A41E364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FE539-898B-40E9-A6D7-43E62610B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9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2A9B8484-85F4-4939-9404-B90556233F87}"/>
              </a:ext>
            </a:extLst>
          </p:cNvPr>
          <p:cNvGrpSpPr/>
          <p:nvPr/>
        </p:nvGrpSpPr>
        <p:grpSpPr>
          <a:xfrm>
            <a:off x="-1" y="2345696"/>
            <a:ext cx="12192001" cy="1720963"/>
            <a:chOff x="-1" y="2345696"/>
            <a:chExt cx="12192001" cy="1720963"/>
          </a:xfrm>
        </p:grpSpPr>
        <p:sp>
          <p:nvSpPr>
            <p:cNvPr id="8" name="Google Shape;94;p2">
              <a:extLst>
                <a:ext uri="{FF2B5EF4-FFF2-40B4-BE49-F238E27FC236}">
                  <a16:creationId xmlns:a16="http://schemas.microsoft.com/office/drawing/2014/main" xmlns="" id="{6548C4B6-468E-475F-B03B-F54B2604089C}"/>
                </a:ext>
              </a:extLst>
            </p:cNvPr>
            <p:cNvSpPr/>
            <p:nvPr/>
          </p:nvSpPr>
          <p:spPr>
            <a:xfrm>
              <a:off x="0" y="2837399"/>
              <a:ext cx="12192000" cy="965956"/>
            </a:xfrm>
            <a:prstGeom prst="rect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4400" b="1" dirty="0" smtClean="0">
                  <a:solidFill>
                    <a:schemeClr val="lt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  <a:cs typeface="Malgun Gothic"/>
                  <a:sym typeface="Malgun Gothic"/>
                </a:rPr>
                <a:t>행동하는 실천</a:t>
              </a:r>
              <a:endParaRPr sz="1100" dirty="0"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0" name="Google Shape;96;p2">
              <a:extLst>
                <a:ext uri="{FF2B5EF4-FFF2-40B4-BE49-F238E27FC236}">
                  <a16:creationId xmlns:a16="http://schemas.microsoft.com/office/drawing/2014/main" xmlns="" id="{BD2644A7-B6D3-47C8-9C50-62C96BBC8BD4}"/>
                </a:ext>
              </a:extLst>
            </p:cNvPr>
            <p:cNvSpPr/>
            <p:nvPr/>
          </p:nvSpPr>
          <p:spPr>
            <a:xfrm>
              <a:off x="-1" y="3994659"/>
              <a:ext cx="9374820" cy="72000"/>
            </a:xfrm>
            <a:prstGeom prst="rect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13" name="Google Shape;97;p2">
              <a:extLst>
                <a:ext uri="{FF2B5EF4-FFF2-40B4-BE49-F238E27FC236}">
                  <a16:creationId xmlns:a16="http://schemas.microsoft.com/office/drawing/2014/main" xmlns="" id="{31A737F9-DAC3-48C3-96FD-D5F9DE6174BC}"/>
                </a:ext>
              </a:extLst>
            </p:cNvPr>
            <p:cNvSpPr/>
            <p:nvPr/>
          </p:nvSpPr>
          <p:spPr>
            <a:xfrm>
              <a:off x="0" y="3860512"/>
              <a:ext cx="10813002" cy="80455"/>
            </a:xfrm>
            <a:prstGeom prst="rect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53091811-9CAA-416D-A88C-7693E64351ED}"/>
                </a:ext>
              </a:extLst>
            </p:cNvPr>
            <p:cNvSpPr txBox="1"/>
            <p:nvPr/>
          </p:nvSpPr>
          <p:spPr>
            <a:xfrm>
              <a:off x="1802460" y="2345696"/>
              <a:ext cx="85870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200" dirty="0" smtClean="0">
                  <a:solidFill>
                    <a:srgbClr val="0072CE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깨끗한 지구환경</a:t>
              </a:r>
              <a:r>
                <a:rPr lang="en-US" altLang="ko-KR" sz="2200" dirty="0" smtClean="0">
                  <a:solidFill>
                    <a:srgbClr val="0072CE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, </a:t>
              </a:r>
              <a:r>
                <a:rPr lang="ko-KR" altLang="en-US" sz="2200" dirty="0">
                  <a:solidFill>
                    <a:srgbClr val="0072CE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우리가 함께 만듭니다</a:t>
              </a:r>
              <a:r>
                <a:rPr lang="en-US" altLang="ko-KR" sz="2200" dirty="0">
                  <a:solidFill>
                    <a:srgbClr val="0072CE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3091811-9CAA-416D-A88C-7693E64351ED}"/>
              </a:ext>
            </a:extLst>
          </p:cNvPr>
          <p:cNvSpPr txBox="1"/>
          <p:nvPr/>
        </p:nvSpPr>
        <p:spPr>
          <a:xfrm>
            <a:off x="1954860" y="6199248"/>
            <a:ext cx="85870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 smtClean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지구사랑 팀 </a:t>
            </a:r>
            <a:r>
              <a:rPr lang="en-US" altLang="ko-KR" sz="2200" dirty="0" smtClean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2200" dirty="0" smtClean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이윤서 </a:t>
            </a:r>
            <a:r>
              <a:rPr lang="en-US" altLang="ko-KR" sz="2200" dirty="0" smtClean="0">
                <a:solidFill>
                  <a:srgbClr val="0072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dirty="0" smtClean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200" dirty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이효재 </a:t>
            </a:r>
            <a:r>
              <a:rPr lang="en-US" altLang="ko-KR" sz="2200" dirty="0" smtClean="0">
                <a:solidFill>
                  <a:srgbClr val="0072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dirty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200" dirty="0" smtClean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김우영</a:t>
            </a:r>
            <a:r>
              <a:rPr lang="en-US" altLang="ko-KR" sz="2200" dirty="0" smtClean="0">
                <a:solidFill>
                  <a:srgbClr val="0072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en-US" sz="2200" dirty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2200" dirty="0" smtClean="0">
                <a:solidFill>
                  <a:srgbClr val="0072C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윤혜리 </a:t>
            </a:r>
            <a:endParaRPr lang="en-US" altLang="ko-KR" sz="2200" dirty="0">
              <a:solidFill>
                <a:srgbClr val="0072CE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255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80D4CE16-1D72-444D-869E-D7220EE571AB}"/>
              </a:ext>
            </a:extLst>
          </p:cNvPr>
          <p:cNvSpPr/>
          <p:nvPr/>
        </p:nvSpPr>
        <p:spPr>
          <a:xfrm>
            <a:off x="306222" y="662185"/>
            <a:ext cx="1691911" cy="5040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생각 나눔</a:t>
            </a:r>
            <a:endParaRPr lang="ko-KR" altLang="en-US" sz="2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B874D330-F907-441E-B03D-C69F33B02835}"/>
              </a:ext>
            </a:extLst>
          </p:cNvPr>
          <p:cNvSpPr/>
          <p:nvPr/>
        </p:nvSpPr>
        <p:spPr>
          <a:xfrm>
            <a:off x="2423604" y="662185"/>
            <a:ext cx="9462174" cy="30058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atinLnBrk="0">
              <a:lnSpc>
                <a:spcPct val="170000"/>
              </a:lnSpc>
            </a:pPr>
            <a:endParaRPr lang="en-US" altLang="ko-KR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/>
              <a:sym typeface="Arial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EF936E1B-E308-40C3-AF1C-2FF9AD6BE1E1}"/>
              </a:ext>
            </a:extLst>
          </p:cNvPr>
          <p:cNvGrpSpPr/>
          <p:nvPr/>
        </p:nvGrpSpPr>
        <p:grpSpPr>
          <a:xfrm>
            <a:off x="2723498" y="1055386"/>
            <a:ext cx="8898230" cy="2368793"/>
            <a:chOff x="2723499" y="1589282"/>
            <a:chExt cx="7710841" cy="205269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xmlns="" id="{D66126F2-7B33-4010-84A4-2A84E537B28D}"/>
                </a:ext>
              </a:extLst>
            </p:cNvPr>
            <p:cNvSpPr/>
            <p:nvPr/>
          </p:nvSpPr>
          <p:spPr>
            <a:xfrm>
              <a:off x="2931084" y="1767559"/>
              <a:ext cx="1651937" cy="5989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다양한 포장재</a:t>
              </a:r>
              <a:endParaRPr lang="en-US" altLang="ko-K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33715856-F8F0-4189-95E3-EBB65717D35C}"/>
                </a:ext>
              </a:extLst>
            </p:cNvPr>
            <p:cNvSpPr/>
            <p:nvPr/>
          </p:nvSpPr>
          <p:spPr>
            <a:xfrm>
              <a:off x="5650960" y="1767559"/>
              <a:ext cx="1651937" cy="5989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다회용</a:t>
              </a:r>
              <a:r>
                <a:rPr lang="ko-KR" altLang="en-US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용기</a:t>
              </a:r>
              <a:endParaRPr lang="en-US" altLang="ko-K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xmlns="" id="{703DC896-BEB4-4BB0-A19A-2F76F8F0E900}"/>
                </a:ext>
              </a:extLst>
            </p:cNvPr>
            <p:cNvSpPr/>
            <p:nvPr/>
          </p:nvSpPr>
          <p:spPr>
            <a:xfrm>
              <a:off x="8336735" y="1767558"/>
              <a:ext cx="1732565" cy="5989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캠페인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4CF12830-E6C4-47A0-ADE0-065F6AB587B6}"/>
                </a:ext>
              </a:extLst>
            </p:cNvPr>
            <p:cNvSpPr/>
            <p:nvPr/>
          </p:nvSpPr>
          <p:spPr>
            <a:xfrm>
              <a:off x="2723499" y="2542616"/>
              <a:ext cx="1760109" cy="1099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포장재 사용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포장재 크기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포장재 용도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2E9856B4-163C-4A55-B43D-BB684FE229BE}"/>
                </a:ext>
              </a:extLst>
            </p:cNvPr>
            <p:cNvSpPr/>
            <p:nvPr/>
          </p:nvSpPr>
          <p:spPr>
            <a:xfrm>
              <a:off x="5462861" y="2542617"/>
              <a:ext cx="2286207" cy="10993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빈번한 생활용품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음식 조미료 등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음료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xmlns="" id="{2767D5AE-7FDA-4731-843A-310A203DCC62}"/>
                </a:ext>
              </a:extLst>
            </p:cNvPr>
            <p:cNvSpPr/>
            <p:nvPr/>
          </p:nvSpPr>
          <p:spPr>
            <a:xfrm>
              <a:off x="8148133" y="2542615"/>
              <a:ext cx="2286207" cy="10993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분리수거 방법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용기 있는 실천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인식개선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재사용가치</a:t>
              </a:r>
              <a:r>
                <a:rPr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0" name="덧셈 기호 65">
              <a:extLst>
                <a:ext uri="{FF2B5EF4-FFF2-40B4-BE49-F238E27FC236}">
                  <a16:creationId xmlns:a16="http://schemas.microsoft.com/office/drawing/2014/main" xmlns="" id="{93945CF8-5375-435E-AB09-33281CBAAF27}"/>
                </a:ext>
              </a:extLst>
            </p:cNvPr>
            <p:cNvSpPr/>
            <p:nvPr/>
          </p:nvSpPr>
          <p:spPr>
            <a:xfrm>
              <a:off x="4925821" y="1882415"/>
              <a:ext cx="404638" cy="396553"/>
            </a:xfrm>
            <a:prstGeom prst="mathPlus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1" name="덧셈 기호 66">
              <a:extLst>
                <a:ext uri="{FF2B5EF4-FFF2-40B4-BE49-F238E27FC236}">
                  <a16:creationId xmlns:a16="http://schemas.microsoft.com/office/drawing/2014/main" xmlns="" id="{AD3E6A23-4BCC-49C6-B77B-49254F1B3FEF}"/>
                </a:ext>
              </a:extLst>
            </p:cNvPr>
            <p:cNvSpPr/>
            <p:nvPr/>
          </p:nvSpPr>
          <p:spPr>
            <a:xfrm>
              <a:off x="7626914" y="1876763"/>
              <a:ext cx="404638" cy="396553"/>
            </a:xfrm>
            <a:prstGeom prst="mathPlus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xmlns="" id="{3A1952E0-8B48-4FE1-8E86-94638D2DE603}"/>
                </a:ext>
              </a:extLst>
            </p:cNvPr>
            <p:cNvSpPr/>
            <p:nvPr/>
          </p:nvSpPr>
          <p:spPr>
            <a:xfrm>
              <a:off x="2742482" y="1589282"/>
              <a:ext cx="377204" cy="356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xmlns="" id="{980DEE47-292D-4176-B572-A5EF703C0086}"/>
                </a:ext>
              </a:extLst>
            </p:cNvPr>
            <p:cNvSpPr/>
            <p:nvPr/>
          </p:nvSpPr>
          <p:spPr>
            <a:xfrm>
              <a:off x="5462861" y="1589283"/>
              <a:ext cx="377204" cy="356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xmlns="" id="{3D872399-6788-44B1-B22D-7FDD49ED3C3F}"/>
                </a:ext>
              </a:extLst>
            </p:cNvPr>
            <p:cNvSpPr/>
            <p:nvPr/>
          </p:nvSpPr>
          <p:spPr>
            <a:xfrm>
              <a:off x="8148133" y="1589282"/>
              <a:ext cx="377204" cy="356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3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80D4CE16-1D72-444D-869E-D7220EE571AB}"/>
              </a:ext>
            </a:extLst>
          </p:cNvPr>
          <p:cNvSpPr/>
          <p:nvPr/>
        </p:nvSpPr>
        <p:spPr>
          <a:xfrm>
            <a:off x="301865" y="4019348"/>
            <a:ext cx="1691911" cy="5040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생각 수집</a:t>
            </a:r>
            <a:endParaRPr lang="ko-KR" altLang="en-US" sz="2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B874D330-F907-441E-B03D-C69F33B02835}"/>
              </a:ext>
            </a:extLst>
          </p:cNvPr>
          <p:cNvSpPr/>
          <p:nvPr/>
        </p:nvSpPr>
        <p:spPr>
          <a:xfrm>
            <a:off x="2419247" y="4019348"/>
            <a:ext cx="9462174" cy="257800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atinLnBrk="0">
              <a:lnSpc>
                <a:spcPct val="170000"/>
              </a:lnSpc>
            </a:pPr>
            <a:endParaRPr lang="en-US" altLang="ko-KR" kern="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/>
              <a:sym typeface="Arial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EF936E1B-E308-40C3-AF1C-2FF9AD6BE1E1}"/>
              </a:ext>
            </a:extLst>
          </p:cNvPr>
          <p:cNvGrpSpPr/>
          <p:nvPr/>
        </p:nvGrpSpPr>
        <p:grpSpPr>
          <a:xfrm>
            <a:off x="2719141" y="4412549"/>
            <a:ext cx="8898230" cy="2005344"/>
            <a:chOff x="2723499" y="1589282"/>
            <a:chExt cx="7710841" cy="173774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D66126F2-7B33-4010-84A4-2A84E537B28D}"/>
                </a:ext>
              </a:extLst>
            </p:cNvPr>
            <p:cNvSpPr/>
            <p:nvPr/>
          </p:nvSpPr>
          <p:spPr>
            <a:xfrm>
              <a:off x="2931084" y="1767559"/>
              <a:ext cx="1651937" cy="5989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사진촬영</a:t>
              </a:r>
              <a:endParaRPr lang="en-US" altLang="ko-K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33715856-F8F0-4189-95E3-EBB65717D35C}"/>
                </a:ext>
              </a:extLst>
            </p:cNvPr>
            <p:cNvSpPr/>
            <p:nvPr/>
          </p:nvSpPr>
          <p:spPr>
            <a:xfrm>
              <a:off x="5650960" y="1767559"/>
              <a:ext cx="1651937" cy="5989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자료조사</a:t>
              </a:r>
              <a:endParaRPr lang="en-US" altLang="ko-KR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xmlns="" id="{703DC896-BEB4-4BB0-A19A-2F76F8F0E900}"/>
                </a:ext>
              </a:extLst>
            </p:cNvPr>
            <p:cNvSpPr/>
            <p:nvPr/>
          </p:nvSpPr>
          <p:spPr>
            <a:xfrm>
              <a:off x="8336735" y="1767558"/>
              <a:ext cx="1732565" cy="5989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수집방법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4CF12830-E6C4-47A0-ADE0-065F6AB587B6}"/>
                </a:ext>
              </a:extLst>
            </p:cNvPr>
            <p:cNvSpPr/>
            <p:nvPr/>
          </p:nvSpPr>
          <p:spPr>
            <a:xfrm>
              <a:off x="2723499" y="2542616"/>
              <a:ext cx="1760109" cy="7844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정보공유 사진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인터뷰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xmlns="" id="{2E9856B4-163C-4A55-B43D-BB684FE229BE}"/>
                </a:ext>
              </a:extLst>
            </p:cNvPr>
            <p:cNvSpPr/>
            <p:nvPr/>
          </p:nvSpPr>
          <p:spPr>
            <a:xfrm>
              <a:off x="5462861" y="2542617"/>
              <a:ext cx="2286207" cy="7844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용기 사용 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아이디어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해외사례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xmlns="" id="{2767D5AE-7FDA-4731-843A-310A203DCC62}"/>
                </a:ext>
              </a:extLst>
            </p:cNvPr>
            <p:cNvSpPr/>
            <p:nvPr/>
          </p:nvSpPr>
          <p:spPr>
            <a:xfrm>
              <a:off x="8148133" y="2542616"/>
              <a:ext cx="2286207" cy="7844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메일을 통한 자료공유</a:t>
              </a:r>
              <a:endPara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5" name="덧셈 기호 65">
              <a:extLst>
                <a:ext uri="{FF2B5EF4-FFF2-40B4-BE49-F238E27FC236}">
                  <a16:creationId xmlns:a16="http://schemas.microsoft.com/office/drawing/2014/main" xmlns="" id="{93945CF8-5375-435E-AB09-33281CBAAF27}"/>
                </a:ext>
              </a:extLst>
            </p:cNvPr>
            <p:cNvSpPr/>
            <p:nvPr/>
          </p:nvSpPr>
          <p:spPr>
            <a:xfrm>
              <a:off x="4925821" y="1882415"/>
              <a:ext cx="404638" cy="396553"/>
            </a:xfrm>
            <a:prstGeom prst="mathPlus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6" name="덧셈 기호 66">
              <a:extLst>
                <a:ext uri="{FF2B5EF4-FFF2-40B4-BE49-F238E27FC236}">
                  <a16:creationId xmlns:a16="http://schemas.microsoft.com/office/drawing/2014/main" xmlns="" id="{AD3E6A23-4BCC-49C6-B77B-49254F1B3FEF}"/>
                </a:ext>
              </a:extLst>
            </p:cNvPr>
            <p:cNvSpPr/>
            <p:nvPr/>
          </p:nvSpPr>
          <p:spPr>
            <a:xfrm>
              <a:off x="7626914" y="1876763"/>
              <a:ext cx="404638" cy="396553"/>
            </a:xfrm>
            <a:prstGeom prst="mathPlus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xmlns="" id="{3A1952E0-8B48-4FE1-8E86-94638D2DE603}"/>
                </a:ext>
              </a:extLst>
            </p:cNvPr>
            <p:cNvSpPr/>
            <p:nvPr/>
          </p:nvSpPr>
          <p:spPr>
            <a:xfrm>
              <a:off x="2742482" y="1589282"/>
              <a:ext cx="377204" cy="356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xmlns="" id="{980DEE47-292D-4176-B572-A5EF703C0086}"/>
                </a:ext>
              </a:extLst>
            </p:cNvPr>
            <p:cNvSpPr/>
            <p:nvPr/>
          </p:nvSpPr>
          <p:spPr>
            <a:xfrm>
              <a:off x="5462861" y="1589283"/>
              <a:ext cx="377204" cy="356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xmlns="" id="{3D872399-6788-44B1-B22D-7FDD49ED3C3F}"/>
                </a:ext>
              </a:extLst>
            </p:cNvPr>
            <p:cNvSpPr/>
            <p:nvPr/>
          </p:nvSpPr>
          <p:spPr>
            <a:xfrm>
              <a:off x="8148133" y="1589282"/>
              <a:ext cx="377204" cy="356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57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gae8d47679f_1_0">
            <a:extLst>
              <a:ext uri="{FF2B5EF4-FFF2-40B4-BE49-F238E27FC236}">
                <a16:creationId xmlns:a16="http://schemas.microsoft.com/office/drawing/2014/main" xmlns="" id="{8E376A74-AEB5-4B85-9280-B55CBC468089}"/>
              </a:ext>
            </a:extLst>
          </p:cNvPr>
          <p:cNvSpPr/>
          <p:nvPr/>
        </p:nvSpPr>
        <p:spPr>
          <a:xfrm>
            <a:off x="0" y="492216"/>
            <a:ext cx="2423604" cy="504000"/>
          </a:xfrm>
          <a:custGeom>
            <a:avLst/>
            <a:gdLst/>
            <a:ahLst/>
            <a:cxnLst/>
            <a:rect l="l" t="t" r="r" b="b"/>
            <a:pathLst>
              <a:path w="3034002" h="964922" extrusionOk="0">
                <a:moveTo>
                  <a:pt x="0" y="0"/>
                </a:moveTo>
                <a:lnTo>
                  <a:pt x="2873178" y="0"/>
                </a:lnTo>
                <a:cubicBezTo>
                  <a:pt x="2961999" y="0"/>
                  <a:pt x="3034002" y="72003"/>
                  <a:pt x="3034002" y="160824"/>
                </a:cubicBezTo>
                <a:lnTo>
                  <a:pt x="3034002" y="804098"/>
                </a:lnTo>
                <a:cubicBezTo>
                  <a:pt x="3034002" y="892919"/>
                  <a:pt x="2961999" y="964922"/>
                  <a:pt x="2873178" y="964922"/>
                </a:cubicBezTo>
                <a:lnTo>
                  <a:pt x="0" y="964922"/>
                </a:lnTo>
                <a:close/>
              </a:path>
            </a:pathLst>
          </a:cu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" name="Google Shape;130;gae8d47679f_1_0">
            <a:extLst>
              <a:ext uri="{FF2B5EF4-FFF2-40B4-BE49-F238E27FC236}">
                <a16:creationId xmlns:a16="http://schemas.microsoft.com/office/drawing/2014/main" xmlns="" id="{6FDBC032-1842-44C9-A900-0EE0C967C305}"/>
              </a:ext>
            </a:extLst>
          </p:cNvPr>
          <p:cNvSpPr/>
          <p:nvPr/>
        </p:nvSpPr>
        <p:spPr>
          <a:xfrm>
            <a:off x="1117600" y="492216"/>
            <a:ext cx="2423604" cy="504000"/>
          </a:xfrm>
          <a:custGeom>
            <a:avLst/>
            <a:gdLst/>
            <a:ahLst/>
            <a:cxnLst/>
            <a:rect l="l" t="t" r="r" b="b"/>
            <a:pathLst>
              <a:path w="3034002" h="964922" extrusionOk="0">
                <a:moveTo>
                  <a:pt x="0" y="0"/>
                </a:moveTo>
                <a:lnTo>
                  <a:pt x="2873178" y="0"/>
                </a:lnTo>
                <a:cubicBezTo>
                  <a:pt x="2961999" y="0"/>
                  <a:pt x="3034002" y="72003"/>
                  <a:pt x="3034002" y="160824"/>
                </a:cubicBezTo>
                <a:lnTo>
                  <a:pt x="3034002" y="804098"/>
                </a:lnTo>
                <a:cubicBezTo>
                  <a:pt x="3034002" y="892919"/>
                  <a:pt x="2961999" y="964922"/>
                  <a:pt x="2873178" y="964922"/>
                </a:cubicBezTo>
                <a:lnTo>
                  <a:pt x="0" y="964922"/>
                </a:lnTo>
                <a:close/>
              </a:path>
            </a:pathLst>
          </a:cu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CC96A3-916B-4BE3-8A56-F40D6CD42F42}"/>
              </a:ext>
            </a:extLst>
          </p:cNvPr>
          <p:cNvSpPr txBox="1"/>
          <p:nvPr/>
        </p:nvSpPr>
        <p:spPr>
          <a:xfrm>
            <a:off x="612559" y="541539"/>
            <a:ext cx="2423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포장용기의 규격화</a:t>
            </a:r>
            <a:endParaRPr lang="ko-KR" alt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Google Shape;172;p7">
            <a:extLst>
              <a:ext uri="{FF2B5EF4-FFF2-40B4-BE49-F238E27FC236}">
                <a16:creationId xmlns:a16="http://schemas.microsoft.com/office/drawing/2014/main" xmlns="" id="{558690D5-564E-4BE1-8D21-5B2DF2C0F98B}"/>
              </a:ext>
            </a:extLst>
          </p:cNvPr>
          <p:cNvSpPr txBox="1"/>
          <p:nvPr/>
        </p:nvSpPr>
        <p:spPr>
          <a:xfrm>
            <a:off x="442881" y="1137943"/>
            <a:ext cx="11050244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베이커리의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경우 </a:t>
            </a:r>
            <a:r>
              <a:rPr lang="ko-KR" altLang="en-US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케익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크기별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용기</a:t>
            </a:r>
            <a:r>
              <a:rPr lang="en-US" altLang="ko-KR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한식</a:t>
            </a:r>
            <a:r>
              <a:rPr lang="en-US" altLang="ko-KR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·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양식의 </a:t>
            </a:r>
            <a:r>
              <a:rPr lang="ko-KR" altLang="en-US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소포장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 용기</a:t>
            </a:r>
            <a:r>
              <a:rPr lang="en-US" altLang="ko-KR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용량별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 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정량화를 통한 </a:t>
            </a:r>
            <a:r>
              <a:rPr lang="ko-KR" altLang="en-US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다회용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cs typeface="Malgun Gothic"/>
                <a:sym typeface="Malgun Gothic"/>
              </a:rPr>
              <a:t> 용기 제작의 필요</a:t>
            </a:r>
            <a:endParaRPr lang="en-US" altLang="ko-KR" b="1" spc="-150" dirty="0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개선 </a:t>
            </a:r>
            <a:r>
              <a:rPr lang="en-US" altLang="ko-KR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: 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규격화된 용기</a:t>
            </a:r>
            <a:r>
              <a:rPr lang="en-US" altLang="ko-KR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분리막</a:t>
            </a:r>
            <a:r>
              <a:rPr lang="ko-KR" altLang="en-US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사용 용기 등으로 포장재와 과대 포장 줄임</a:t>
            </a:r>
            <a:endParaRPr lang="en-US" altLang="ko-KR" b="1" spc="-150" dirty="0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71E4BDE-BDC2-41E9-A691-3CCEC2962F14}"/>
              </a:ext>
            </a:extLst>
          </p:cNvPr>
          <p:cNvSpPr/>
          <p:nvPr/>
        </p:nvSpPr>
        <p:spPr>
          <a:xfrm>
            <a:off x="306220" y="1220643"/>
            <a:ext cx="13666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" name="Google Shape;123;gae8d47679f_1_0">
            <a:extLst>
              <a:ext uri="{FF2B5EF4-FFF2-40B4-BE49-F238E27FC236}">
                <a16:creationId xmlns:a16="http://schemas.microsoft.com/office/drawing/2014/main" xmlns="" id="{5B2F681D-C40E-4CD7-BAA2-E8C17F1CD385}"/>
              </a:ext>
            </a:extLst>
          </p:cNvPr>
          <p:cNvSpPr/>
          <p:nvPr/>
        </p:nvSpPr>
        <p:spPr>
          <a:xfrm>
            <a:off x="306222" y="2776446"/>
            <a:ext cx="5493404" cy="1471812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8" name="Google Shape;124;gae8d47679f_1_0">
            <a:extLst>
              <a:ext uri="{FF2B5EF4-FFF2-40B4-BE49-F238E27FC236}">
                <a16:creationId xmlns:a16="http://schemas.microsoft.com/office/drawing/2014/main" xmlns="" id="{D253B191-E3E2-4C44-9584-00A1B09A905C}"/>
              </a:ext>
            </a:extLst>
          </p:cNvPr>
          <p:cNvSpPr txBox="1"/>
          <p:nvPr/>
        </p:nvSpPr>
        <p:spPr>
          <a:xfrm>
            <a:off x="423642" y="2936665"/>
            <a:ext cx="5375984" cy="125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다양한 종류의 음식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(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다종의 반찬용기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밥</a:t>
            </a:r>
            <a:r>
              <a:rPr lang="en-US" altLang="ko-KR" sz="1300" dirty="0" smtClean="0">
                <a:solidFill>
                  <a:srgbClr val="75707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·</a:t>
            </a:r>
            <a:r>
              <a:rPr lang="ko-KR" altLang="en-US" sz="1300" dirty="0" smtClean="0">
                <a:solidFill>
                  <a:srgbClr val="75707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국 그릇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), 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으로</a:t>
            </a:r>
            <a:r>
              <a:rPr lang="en-US" altLang="ko-KR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플라스틱류</a:t>
            </a:r>
            <a:r>
              <a:rPr lang="en-US" altLang="ko-KR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스티로폼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은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배달 및 포장이 늘어남에 따라 사용량 증가</a:t>
            </a:r>
            <a:r>
              <a:rPr lang="ko-KR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endParaRPr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크기 및 용도가 다양해져 많은 양이 사용되고 있기 때문에</a:t>
            </a:r>
            <a:r>
              <a:rPr lang="ko-KR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</a:t>
            </a:r>
            <a:r>
              <a:rPr lang="ko-KR" sz="1300" b="0" i="0" u="none" strike="noStrike" cap="none" dirty="0" smtClean="0">
                <a:solidFill>
                  <a:srgbClr val="3F3F3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i="0" u="none" strike="noStrike" cap="none" dirty="0" err="1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다회용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용기를 사용한 규격화 된 포장을 할 수 있도록 요식업체의 함께 하는 노력 필요</a:t>
            </a:r>
            <a:endParaRPr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Google Shape;125;gae8d47679f_1_0">
            <a:extLst>
              <a:ext uri="{FF2B5EF4-FFF2-40B4-BE49-F238E27FC236}">
                <a16:creationId xmlns:a16="http://schemas.microsoft.com/office/drawing/2014/main" xmlns="" id="{84749E75-E364-4F97-A9D4-C3BBEAD9A741}"/>
              </a:ext>
            </a:extLst>
          </p:cNvPr>
          <p:cNvSpPr/>
          <p:nvPr/>
        </p:nvSpPr>
        <p:spPr>
          <a:xfrm>
            <a:off x="1903660" y="2524905"/>
            <a:ext cx="2298529" cy="395634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i="0" u="none" strike="noStrike" cap="none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식당</a:t>
            </a:r>
            <a:r>
              <a:rPr lang="en-US" altLang="ko-KR" b="1" i="0" u="none" strike="noStrike" cap="none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(</a:t>
            </a: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포장재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)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0" name="Google Shape;123;gae8d47679f_1_0">
            <a:extLst>
              <a:ext uri="{FF2B5EF4-FFF2-40B4-BE49-F238E27FC236}">
                <a16:creationId xmlns:a16="http://schemas.microsoft.com/office/drawing/2014/main" xmlns="" id="{81D2A1F2-769B-44F5-825B-6E429C9834AD}"/>
              </a:ext>
            </a:extLst>
          </p:cNvPr>
          <p:cNvSpPr/>
          <p:nvPr/>
        </p:nvSpPr>
        <p:spPr>
          <a:xfrm>
            <a:off x="306222" y="4778210"/>
            <a:ext cx="5493404" cy="1616838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1" name="Google Shape;125;gae8d47679f_1_0">
            <a:extLst>
              <a:ext uri="{FF2B5EF4-FFF2-40B4-BE49-F238E27FC236}">
                <a16:creationId xmlns:a16="http://schemas.microsoft.com/office/drawing/2014/main" xmlns="" id="{D306C881-49BA-4CEB-B5D1-A00E43A31D14}"/>
              </a:ext>
            </a:extLst>
          </p:cNvPr>
          <p:cNvSpPr/>
          <p:nvPr/>
        </p:nvSpPr>
        <p:spPr>
          <a:xfrm>
            <a:off x="1903660" y="4554236"/>
            <a:ext cx="2298529" cy="395634"/>
          </a:xfrm>
          <a:prstGeom prst="roundRect">
            <a:avLst>
              <a:gd name="adj" fmla="val 16667"/>
            </a:avLst>
          </a:prstGeom>
          <a:solidFill>
            <a:srgbClr val="AFABAB"/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온라인 주문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(</a:t>
            </a: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포장재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)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2" name="Google Shape;139;gae8d47679f_1_0">
            <a:extLst>
              <a:ext uri="{FF2B5EF4-FFF2-40B4-BE49-F238E27FC236}">
                <a16:creationId xmlns:a16="http://schemas.microsoft.com/office/drawing/2014/main" xmlns="" id="{F54BB3BD-0340-4C58-BC60-A495889BC316}"/>
              </a:ext>
            </a:extLst>
          </p:cNvPr>
          <p:cNvSpPr txBox="1"/>
          <p:nvPr/>
        </p:nvSpPr>
        <p:spPr>
          <a:xfrm>
            <a:off x="306220" y="4976608"/>
            <a:ext cx="5493404" cy="135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lvl="0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다양한 물품 구입시 개별 포장으로 각각 배송되며 한 물품에 많은 포장을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과도하게 포장해 포장재 사용량 </a:t>
            </a:r>
            <a:r>
              <a:rPr lang="ko-KR" altLang="en-US" sz="1300" b="1" dirty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증가</a:t>
            </a:r>
            <a:r>
              <a:rPr lang="ko-KR" altLang="en-US" sz="1300" dirty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온라인 물품 </a:t>
            </a:r>
            <a:r>
              <a:rPr lang="ko-KR" altLang="en-US" sz="1300" dirty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구입시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개별업체 배송이 아닌 주문자에게 가는 모든 종류를 일괄 배송할 수 있어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불필요한 포장재 사용을 줄임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Google Shape;123;gae8d47679f_1_0">
            <a:extLst>
              <a:ext uri="{FF2B5EF4-FFF2-40B4-BE49-F238E27FC236}">
                <a16:creationId xmlns:a16="http://schemas.microsoft.com/office/drawing/2014/main" xmlns="" id="{4E373858-35F5-468C-B4E6-AC313EFFC201}"/>
              </a:ext>
            </a:extLst>
          </p:cNvPr>
          <p:cNvSpPr/>
          <p:nvPr/>
        </p:nvSpPr>
        <p:spPr>
          <a:xfrm>
            <a:off x="6392376" y="2776446"/>
            <a:ext cx="5493404" cy="1471812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4" name="Google Shape;125;gae8d47679f_1_0">
            <a:extLst>
              <a:ext uri="{FF2B5EF4-FFF2-40B4-BE49-F238E27FC236}">
                <a16:creationId xmlns:a16="http://schemas.microsoft.com/office/drawing/2014/main" xmlns="" id="{161DCD24-ADAE-4317-B718-136D3ABA5E90}"/>
              </a:ext>
            </a:extLst>
          </p:cNvPr>
          <p:cNvSpPr/>
          <p:nvPr/>
        </p:nvSpPr>
        <p:spPr>
          <a:xfrm>
            <a:off x="7990419" y="2533809"/>
            <a:ext cx="2297318" cy="395634"/>
          </a:xfrm>
          <a:prstGeom prst="roundRect">
            <a:avLst>
              <a:gd name="adj" fmla="val 16667"/>
            </a:avLst>
          </a:prstGeom>
          <a:solidFill>
            <a:srgbClr val="AFABAB"/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spc="-150" dirty="0" err="1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베이커리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,</a:t>
            </a: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 아이스크림 </a:t>
            </a: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등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Google Shape;127;gae8d47679f_1_0">
            <a:extLst>
              <a:ext uri="{FF2B5EF4-FFF2-40B4-BE49-F238E27FC236}">
                <a16:creationId xmlns:a16="http://schemas.microsoft.com/office/drawing/2014/main" xmlns="" id="{CACEFEFC-8A4B-42BD-A704-63F8E008F934}"/>
              </a:ext>
            </a:extLst>
          </p:cNvPr>
          <p:cNvSpPr txBox="1"/>
          <p:nvPr/>
        </p:nvSpPr>
        <p:spPr>
          <a:xfrm>
            <a:off x="6392376" y="2900186"/>
            <a:ext cx="5493402" cy="13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0" i="0" u="none" strike="noStrike" cap="none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케익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및 </a:t>
            </a:r>
            <a:r>
              <a:rPr lang="ko-KR" altLang="en-US" sz="1300" b="0" i="0" u="none" strike="noStrike" cap="none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베이커리와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아이스크림은 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크기가 다양하고 냉동 이동을 해야 하는 특수성이 있어 </a:t>
            </a:r>
            <a:r>
              <a:rPr lang="ko-KR" altLang="en-US" sz="1300" b="1" i="0" u="none" strike="noStrike" cap="none" dirty="0" err="1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다회용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용기 활용이 어렵고</a:t>
            </a:r>
            <a:r>
              <a:rPr lang="en-US" altLang="ko-KR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과도한 보충재 포장재를 사용하여 포장재 쓰레기가 증가</a:t>
            </a:r>
            <a:r>
              <a:rPr lang="ko-KR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부피를 줄이면서 안전하게 이동할 수 있는 용기 필요</a:t>
            </a:r>
            <a:endParaRPr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lvl="0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기능성이 추가 된 표준화 된 규격을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기능성 용기 제작 필요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Google Shape;123;gae8d47679f_1_0">
            <a:extLst>
              <a:ext uri="{FF2B5EF4-FFF2-40B4-BE49-F238E27FC236}">
                <a16:creationId xmlns:a16="http://schemas.microsoft.com/office/drawing/2014/main" xmlns="" id="{6794909D-BFDA-48C4-9F6B-C35463A6FAFC}"/>
              </a:ext>
            </a:extLst>
          </p:cNvPr>
          <p:cNvSpPr/>
          <p:nvPr/>
        </p:nvSpPr>
        <p:spPr>
          <a:xfrm>
            <a:off x="6392376" y="4783955"/>
            <a:ext cx="5493404" cy="1616838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7" name="Google Shape;125;gae8d47679f_1_0">
            <a:extLst>
              <a:ext uri="{FF2B5EF4-FFF2-40B4-BE49-F238E27FC236}">
                <a16:creationId xmlns:a16="http://schemas.microsoft.com/office/drawing/2014/main" xmlns="" id="{06A7CE1F-3356-4F0C-A351-2ECC59D631D3}"/>
              </a:ext>
            </a:extLst>
          </p:cNvPr>
          <p:cNvSpPr/>
          <p:nvPr/>
        </p:nvSpPr>
        <p:spPr>
          <a:xfrm>
            <a:off x="7990419" y="4554235"/>
            <a:ext cx="2297318" cy="395634"/>
          </a:xfrm>
          <a:prstGeom prst="roundRect">
            <a:avLst>
              <a:gd name="adj" fmla="val 16667"/>
            </a:avLst>
          </a:prstGeom>
          <a:solidFill>
            <a:srgbClr val="AFABAB"/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계란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두부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(</a:t>
            </a: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포장재</a:t>
            </a:r>
            <a:r>
              <a:rPr lang="en-US" altLang="ko-KR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)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Google Shape;135;gae8d47679f_1_0">
            <a:extLst>
              <a:ext uri="{FF2B5EF4-FFF2-40B4-BE49-F238E27FC236}">
                <a16:creationId xmlns:a16="http://schemas.microsoft.com/office/drawing/2014/main" xmlns="" id="{A49FBABD-6264-48E1-91CE-F571BD0E0269}"/>
              </a:ext>
            </a:extLst>
          </p:cNvPr>
          <p:cNvSpPr txBox="1"/>
          <p:nvPr/>
        </p:nvSpPr>
        <p:spPr>
          <a:xfrm>
            <a:off x="6392375" y="4976608"/>
            <a:ext cx="5493401" cy="135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외부의 충격으로 쉽게 깨지거나 뭉개질 수 있는 제품은 개별 포장에 각별하게 신경을 쓰이므로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특성에 맞는 표준 규격 용기 필요</a:t>
            </a:r>
            <a:r>
              <a:rPr 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endParaRPr sz="1300" dirty="0">
              <a:solidFill>
                <a:srgbClr val="75707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필수 음식 재료인 계란과 두부는</a:t>
            </a:r>
            <a:r>
              <a:rPr lang="ko-KR" sz="1300" b="1" dirty="0" smtClean="0">
                <a:solidFill>
                  <a:srgbClr val="0070C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빈번 구입 물품으로 </a:t>
            </a:r>
            <a:r>
              <a:rPr lang="ko-KR" altLang="en-US" sz="1300" b="1" dirty="0" err="1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다회용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표준 규격 용기를 사용하여 일회용 포장재의 사용 줄임</a:t>
            </a:r>
            <a:r>
              <a:rPr lang="ko-KR" sz="1300" dirty="0" smtClean="0">
                <a:solidFill>
                  <a:srgbClr val="3F3F3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endParaRPr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51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_x218351064">
            <a:extLst>
              <a:ext uri="{FF2B5EF4-FFF2-40B4-BE49-F238E27FC236}">
                <a16:creationId xmlns:a16="http://schemas.microsoft.com/office/drawing/2014/main" xmlns="" id="{EC6D7FF5-690D-49A3-AA84-7495CCA74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2327" y="3425811"/>
            <a:ext cx="4217436" cy="246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A32FF09-6750-4AD6-9EE7-6C98F5F69699}"/>
              </a:ext>
            </a:extLst>
          </p:cNvPr>
          <p:cNvSpPr/>
          <p:nvPr/>
        </p:nvSpPr>
        <p:spPr>
          <a:xfrm>
            <a:off x="358851" y="276681"/>
            <a:ext cx="2926080" cy="63361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3725" y="517109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다회용</a:t>
            </a:r>
            <a:r>
              <a:rPr lang="ko-KR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 용기</a:t>
            </a:r>
            <a:endParaRPr lang="en-US" altLang="ko-K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720" y="300734"/>
            <a:ext cx="3924000" cy="2548290"/>
          </a:xfrm>
          <a:prstGeom prst="rect">
            <a:avLst/>
          </a:prstGeom>
        </p:spPr>
      </p:pic>
      <p:pic>
        <p:nvPicPr>
          <p:cNvPr id="15" name="그림 14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720" y="3453803"/>
            <a:ext cx="3902400" cy="24093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95309" y="-187656"/>
            <a:ext cx="2925620" cy="390240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581693" y="2849024"/>
            <a:ext cx="3942970" cy="4951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배달 및 포장 음식 포장재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581693" y="5860804"/>
            <a:ext cx="3942970" cy="5678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온라인 주문 포장재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600725" y="5860803"/>
            <a:ext cx="3902005" cy="5678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계란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두부 등 포장재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B03054F5-1FBD-499F-A506-47AA7DCD7F46}"/>
              </a:ext>
            </a:extLst>
          </p:cNvPr>
          <p:cNvSpPr/>
          <p:nvPr/>
        </p:nvSpPr>
        <p:spPr>
          <a:xfrm>
            <a:off x="7600724" y="2849024"/>
            <a:ext cx="3942970" cy="4951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베이커리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및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아아스크림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등 포장재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3754" y="6010636"/>
            <a:ext cx="2648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불필요한 포장재 사용을 막는 용기 </a:t>
            </a:r>
            <a:r>
              <a:rPr lang="en-US" altLang="ko-K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/>
            </a:r>
            <a:br>
              <a:rPr lang="en-US" altLang="ko-K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있는 실천</a:t>
            </a:r>
            <a:endPara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51" y="945968"/>
            <a:ext cx="2926080" cy="1643924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85" y="4092021"/>
            <a:ext cx="2908054" cy="192924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51" y="2534069"/>
            <a:ext cx="2922734" cy="16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gae8d47679f_1_0">
            <a:extLst>
              <a:ext uri="{FF2B5EF4-FFF2-40B4-BE49-F238E27FC236}">
                <a16:creationId xmlns:a16="http://schemas.microsoft.com/office/drawing/2014/main" xmlns="" id="{8E376A74-AEB5-4B85-9280-B55CBC468089}"/>
              </a:ext>
            </a:extLst>
          </p:cNvPr>
          <p:cNvSpPr/>
          <p:nvPr/>
        </p:nvSpPr>
        <p:spPr>
          <a:xfrm>
            <a:off x="0" y="492216"/>
            <a:ext cx="2423604" cy="504000"/>
          </a:xfrm>
          <a:custGeom>
            <a:avLst/>
            <a:gdLst/>
            <a:ahLst/>
            <a:cxnLst/>
            <a:rect l="l" t="t" r="r" b="b"/>
            <a:pathLst>
              <a:path w="3034002" h="964922" extrusionOk="0">
                <a:moveTo>
                  <a:pt x="0" y="0"/>
                </a:moveTo>
                <a:lnTo>
                  <a:pt x="2873178" y="0"/>
                </a:lnTo>
                <a:cubicBezTo>
                  <a:pt x="2961999" y="0"/>
                  <a:pt x="3034002" y="72003"/>
                  <a:pt x="3034002" y="160824"/>
                </a:cubicBezTo>
                <a:lnTo>
                  <a:pt x="3034002" y="804098"/>
                </a:lnTo>
                <a:cubicBezTo>
                  <a:pt x="3034002" y="892919"/>
                  <a:pt x="2961999" y="964922"/>
                  <a:pt x="2873178" y="964922"/>
                </a:cubicBezTo>
                <a:lnTo>
                  <a:pt x="0" y="964922"/>
                </a:lnTo>
                <a:close/>
              </a:path>
            </a:pathLst>
          </a:cu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" name="Google Shape;130;gae8d47679f_1_0">
            <a:extLst>
              <a:ext uri="{FF2B5EF4-FFF2-40B4-BE49-F238E27FC236}">
                <a16:creationId xmlns:a16="http://schemas.microsoft.com/office/drawing/2014/main" xmlns="" id="{6FDBC032-1842-44C9-A900-0EE0C967C305}"/>
              </a:ext>
            </a:extLst>
          </p:cNvPr>
          <p:cNvSpPr/>
          <p:nvPr/>
        </p:nvSpPr>
        <p:spPr>
          <a:xfrm>
            <a:off x="1117600" y="492216"/>
            <a:ext cx="2423604" cy="504000"/>
          </a:xfrm>
          <a:custGeom>
            <a:avLst/>
            <a:gdLst/>
            <a:ahLst/>
            <a:cxnLst/>
            <a:rect l="l" t="t" r="r" b="b"/>
            <a:pathLst>
              <a:path w="3034002" h="964922" extrusionOk="0">
                <a:moveTo>
                  <a:pt x="0" y="0"/>
                </a:moveTo>
                <a:lnTo>
                  <a:pt x="2873178" y="0"/>
                </a:lnTo>
                <a:cubicBezTo>
                  <a:pt x="2961999" y="0"/>
                  <a:pt x="3034002" y="72003"/>
                  <a:pt x="3034002" y="160824"/>
                </a:cubicBezTo>
                <a:lnTo>
                  <a:pt x="3034002" y="804098"/>
                </a:lnTo>
                <a:cubicBezTo>
                  <a:pt x="3034002" y="892919"/>
                  <a:pt x="2961999" y="964922"/>
                  <a:pt x="2873178" y="964922"/>
                </a:cubicBezTo>
                <a:lnTo>
                  <a:pt x="0" y="964922"/>
                </a:lnTo>
                <a:close/>
              </a:path>
            </a:pathLst>
          </a:cu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CC96A3-916B-4BE3-8A56-F40D6CD42F42}"/>
              </a:ext>
            </a:extLst>
          </p:cNvPr>
          <p:cNvSpPr txBox="1"/>
          <p:nvPr/>
        </p:nvSpPr>
        <p:spPr>
          <a:xfrm>
            <a:off x="612559" y="541539"/>
            <a:ext cx="2423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측정된 용량 계산</a:t>
            </a:r>
            <a:endParaRPr lang="ko-KR" alt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Google Shape;172;p7">
            <a:extLst>
              <a:ext uri="{FF2B5EF4-FFF2-40B4-BE49-F238E27FC236}">
                <a16:creationId xmlns:a16="http://schemas.microsoft.com/office/drawing/2014/main" xmlns="" id="{558690D5-564E-4BE1-8D21-5B2DF2C0F98B}"/>
              </a:ext>
            </a:extLst>
          </p:cNvPr>
          <p:cNvSpPr txBox="1"/>
          <p:nvPr/>
        </p:nvSpPr>
        <p:spPr>
          <a:xfrm>
            <a:off x="442881" y="1345692"/>
            <a:ext cx="11050244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빈번하게 사용되는 생활용품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음식조미료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음료 등 측정된 용량만 계산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(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샴푸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세탁세제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식용유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간장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우유 및 음료수 등</a:t>
            </a:r>
            <a:r>
              <a:rPr lang="en-US" altLang="ko-KR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71E4BDE-BDC2-41E9-A691-3CCEC2962F14}"/>
              </a:ext>
            </a:extLst>
          </p:cNvPr>
          <p:cNvSpPr/>
          <p:nvPr/>
        </p:nvSpPr>
        <p:spPr>
          <a:xfrm>
            <a:off x="306220" y="1220643"/>
            <a:ext cx="13666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" name="Google Shape;123;gae8d47679f_1_0">
            <a:extLst>
              <a:ext uri="{FF2B5EF4-FFF2-40B4-BE49-F238E27FC236}">
                <a16:creationId xmlns:a16="http://schemas.microsoft.com/office/drawing/2014/main" xmlns="" id="{5B2F681D-C40E-4CD7-BAA2-E8C17F1CD385}"/>
              </a:ext>
            </a:extLst>
          </p:cNvPr>
          <p:cNvSpPr/>
          <p:nvPr/>
        </p:nvSpPr>
        <p:spPr>
          <a:xfrm>
            <a:off x="306222" y="2776446"/>
            <a:ext cx="5493404" cy="1471812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8" name="Google Shape;124;gae8d47679f_1_0">
            <a:extLst>
              <a:ext uri="{FF2B5EF4-FFF2-40B4-BE49-F238E27FC236}">
                <a16:creationId xmlns:a16="http://schemas.microsoft.com/office/drawing/2014/main" xmlns="" id="{D253B191-E3E2-4C44-9584-00A1B09A905C}"/>
              </a:ext>
            </a:extLst>
          </p:cNvPr>
          <p:cNvSpPr txBox="1"/>
          <p:nvPr/>
        </p:nvSpPr>
        <p:spPr>
          <a:xfrm>
            <a:off x="306220" y="2936666"/>
            <a:ext cx="5493406" cy="131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다양한 종류의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샴푸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린스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바디워시</a:t>
            </a:r>
            <a:r>
              <a:rPr lang="ko-KR" altLang="en-US" sz="1300" b="0" i="0" u="none" strike="noStrike" cap="none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와</a:t>
            </a: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용기들로</a:t>
            </a:r>
            <a:r>
              <a:rPr lang="ko-KR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i="0" u="none" strike="noStrike" cap="none" dirty="0" err="1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마트의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생활용품 코너에는 다양한 크기와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성능을 가진 생활용품 </a:t>
            </a:r>
            <a:endParaRPr lang="en-US" altLang="ko-KR" sz="1300" b="1" dirty="0" smtClean="0">
              <a:solidFill>
                <a:srgbClr val="001D58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가정에서 사용하는 용품의 용기는 몇 번이고 재사용이 가능한 용기로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선택된 제품을 주유기를 통해 용기에 담아서 사용</a:t>
            </a:r>
            <a:endParaRPr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Google Shape;125;gae8d47679f_1_0">
            <a:extLst>
              <a:ext uri="{FF2B5EF4-FFF2-40B4-BE49-F238E27FC236}">
                <a16:creationId xmlns:a16="http://schemas.microsoft.com/office/drawing/2014/main" xmlns="" id="{84749E75-E364-4F97-A9D4-C3BBEAD9A741}"/>
              </a:ext>
            </a:extLst>
          </p:cNvPr>
          <p:cNvSpPr/>
          <p:nvPr/>
        </p:nvSpPr>
        <p:spPr>
          <a:xfrm>
            <a:off x="1903660" y="2524905"/>
            <a:ext cx="2298529" cy="395634"/>
          </a:xfrm>
          <a:prstGeom prst="roundRect">
            <a:avLst>
              <a:gd name="adj" fmla="val 16667"/>
            </a:avLst>
          </a:prstGeom>
          <a:solidFill>
            <a:schemeClr val="bg1">
              <a:lumMod val="65000"/>
            </a:schemeClr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i="0" u="none" strike="noStrike" cap="none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생활용품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0" name="Google Shape;123;gae8d47679f_1_0">
            <a:extLst>
              <a:ext uri="{FF2B5EF4-FFF2-40B4-BE49-F238E27FC236}">
                <a16:creationId xmlns:a16="http://schemas.microsoft.com/office/drawing/2014/main" xmlns="" id="{81D2A1F2-769B-44F5-825B-6E429C9834AD}"/>
              </a:ext>
            </a:extLst>
          </p:cNvPr>
          <p:cNvSpPr/>
          <p:nvPr/>
        </p:nvSpPr>
        <p:spPr>
          <a:xfrm>
            <a:off x="306222" y="4778210"/>
            <a:ext cx="5493404" cy="1616838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1" name="Google Shape;125;gae8d47679f_1_0">
            <a:extLst>
              <a:ext uri="{FF2B5EF4-FFF2-40B4-BE49-F238E27FC236}">
                <a16:creationId xmlns:a16="http://schemas.microsoft.com/office/drawing/2014/main" xmlns="" id="{D306C881-49BA-4CEB-B5D1-A00E43A31D14}"/>
              </a:ext>
            </a:extLst>
          </p:cNvPr>
          <p:cNvSpPr/>
          <p:nvPr/>
        </p:nvSpPr>
        <p:spPr>
          <a:xfrm>
            <a:off x="1903660" y="4554236"/>
            <a:ext cx="2298529" cy="395634"/>
          </a:xfrm>
          <a:prstGeom prst="roundRect">
            <a:avLst>
              <a:gd name="adj" fmla="val 16667"/>
            </a:avLst>
          </a:prstGeom>
          <a:solidFill>
            <a:srgbClr val="AFABAB"/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음료수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2" name="Google Shape;139;gae8d47679f_1_0">
            <a:extLst>
              <a:ext uri="{FF2B5EF4-FFF2-40B4-BE49-F238E27FC236}">
                <a16:creationId xmlns:a16="http://schemas.microsoft.com/office/drawing/2014/main" xmlns="" id="{F54BB3BD-0340-4C58-BC60-A495889BC316}"/>
              </a:ext>
            </a:extLst>
          </p:cNvPr>
          <p:cNvSpPr txBox="1"/>
          <p:nvPr/>
        </p:nvSpPr>
        <p:spPr>
          <a:xfrm>
            <a:off x="306218" y="4976608"/>
            <a:ext cx="5493406" cy="141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lvl="0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각종 과일 </a:t>
            </a:r>
            <a:r>
              <a:rPr lang="ko-KR" altLang="en-US" sz="1300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쥬스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우유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탄산음료</a:t>
            </a:r>
            <a:r>
              <a:rPr lang="en-US" altLang="ko-KR" sz="1300" dirty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등</a:t>
            </a:r>
            <a:r>
              <a:rPr lang="ko-KR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자주 가정에서 즐기는 음료</a:t>
            </a:r>
            <a:endParaRPr lang="en-US" altLang="ko-KR" sz="1300" b="1" dirty="0" smtClean="0">
              <a:solidFill>
                <a:srgbClr val="001D58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180975" lvl="0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가까운 편의점에서 주유기가 설치되어 위의 용기 재사용을 하고 싶지만</a:t>
            </a:r>
            <a:r>
              <a:rPr lang="en-US" altLang="ko-KR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살균처리 및 제품의 특성으로 제품의 성능 유지가 필요한 제품도 있음</a:t>
            </a:r>
            <a:endParaRPr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Google Shape;123;gae8d47679f_1_0">
            <a:extLst>
              <a:ext uri="{FF2B5EF4-FFF2-40B4-BE49-F238E27FC236}">
                <a16:creationId xmlns:a16="http://schemas.microsoft.com/office/drawing/2014/main" xmlns="" id="{4E373858-35F5-468C-B4E6-AC313EFFC201}"/>
              </a:ext>
            </a:extLst>
          </p:cNvPr>
          <p:cNvSpPr/>
          <p:nvPr/>
        </p:nvSpPr>
        <p:spPr>
          <a:xfrm>
            <a:off x="6392376" y="2776446"/>
            <a:ext cx="5493404" cy="1471812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4" name="Google Shape;125;gae8d47679f_1_0">
            <a:extLst>
              <a:ext uri="{FF2B5EF4-FFF2-40B4-BE49-F238E27FC236}">
                <a16:creationId xmlns:a16="http://schemas.microsoft.com/office/drawing/2014/main" xmlns="" id="{161DCD24-ADAE-4317-B718-136D3ABA5E90}"/>
              </a:ext>
            </a:extLst>
          </p:cNvPr>
          <p:cNvSpPr/>
          <p:nvPr/>
        </p:nvSpPr>
        <p:spPr>
          <a:xfrm>
            <a:off x="7990419" y="2533809"/>
            <a:ext cx="2297318" cy="395634"/>
          </a:xfrm>
          <a:prstGeom prst="roundRect">
            <a:avLst>
              <a:gd name="adj" fmla="val 16667"/>
            </a:avLst>
          </a:prstGeom>
          <a:solidFill>
            <a:srgbClr val="AFABAB"/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주방 조미료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Google Shape;127;gae8d47679f_1_0">
            <a:extLst>
              <a:ext uri="{FF2B5EF4-FFF2-40B4-BE49-F238E27FC236}">
                <a16:creationId xmlns:a16="http://schemas.microsoft.com/office/drawing/2014/main" xmlns="" id="{CACEFEFC-8A4B-42BD-A704-63F8E008F934}"/>
              </a:ext>
            </a:extLst>
          </p:cNvPr>
          <p:cNvSpPr txBox="1"/>
          <p:nvPr/>
        </p:nvSpPr>
        <p:spPr>
          <a:xfrm>
            <a:off x="6392376" y="2900186"/>
            <a:ext cx="5493402" cy="13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주방에서 사용되는 </a:t>
            </a:r>
            <a:r>
              <a:rPr lang="ko-KR" altLang="en-US" sz="1300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액체류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조미료는 간장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식용유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식초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굴소스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참기름</a:t>
            </a:r>
            <a:r>
              <a:rPr lang="en-US" altLang="ko-KR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,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들기름 등으로 </a:t>
            </a:r>
            <a:r>
              <a:rPr lang="ko-KR" altLang="en-US" sz="1300" b="1" i="0" u="none" strike="noStrike" cap="none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매번 용기와 함께 구입하지 않아도 되는 용기</a:t>
            </a:r>
            <a:endParaRPr lang="en-US" altLang="ko-KR" sz="1300" b="1" i="0" u="none" strike="noStrike" cap="none" dirty="0" smtClean="0">
              <a:solidFill>
                <a:srgbClr val="001D58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180975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0" i="0" u="none" strike="noStrike" cap="none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매번 사용하는 조미료는 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각 용도에 따라 전용 용기를 사용하기 때문에 </a:t>
            </a:r>
            <a:r>
              <a:rPr lang="ko-KR" altLang="en-US" sz="1300" dirty="0" err="1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마트에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주유기를 통해 측정된 양만 구입하고 계산</a:t>
            </a:r>
            <a:endParaRPr lang="en-US" altLang="ko-KR" sz="1300" b="1" dirty="0">
              <a:solidFill>
                <a:srgbClr val="001D58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6" name="Google Shape;123;gae8d47679f_1_0">
            <a:extLst>
              <a:ext uri="{FF2B5EF4-FFF2-40B4-BE49-F238E27FC236}">
                <a16:creationId xmlns:a16="http://schemas.microsoft.com/office/drawing/2014/main" xmlns="" id="{6794909D-BFDA-48C4-9F6B-C35463A6FAFC}"/>
              </a:ext>
            </a:extLst>
          </p:cNvPr>
          <p:cNvSpPr/>
          <p:nvPr/>
        </p:nvSpPr>
        <p:spPr>
          <a:xfrm>
            <a:off x="6392376" y="4783955"/>
            <a:ext cx="5493404" cy="1616838"/>
          </a:xfrm>
          <a:prstGeom prst="rect">
            <a:avLst/>
          </a:prstGeom>
          <a:noFill/>
          <a:ln w="38100" cap="flat" cmpd="sng">
            <a:solidFill>
              <a:srgbClr val="AFABA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7" name="Google Shape;125;gae8d47679f_1_0">
            <a:extLst>
              <a:ext uri="{FF2B5EF4-FFF2-40B4-BE49-F238E27FC236}">
                <a16:creationId xmlns:a16="http://schemas.microsoft.com/office/drawing/2014/main" xmlns="" id="{06A7CE1F-3356-4F0C-A351-2ECC59D631D3}"/>
              </a:ext>
            </a:extLst>
          </p:cNvPr>
          <p:cNvSpPr/>
          <p:nvPr/>
        </p:nvSpPr>
        <p:spPr>
          <a:xfrm>
            <a:off x="7990419" y="4554235"/>
            <a:ext cx="2297318" cy="395634"/>
          </a:xfrm>
          <a:prstGeom prst="roundRect">
            <a:avLst>
              <a:gd name="adj" fmla="val 16667"/>
            </a:avLst>
          </a:prstGeom>
          <a:solidFill>
            <a:srgbClr val="AFABAB"/>
          </a:solidFill>
          <a:ln w="508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spc="-150" dirty="0" smtClean="0">
                <a:solidFill>
                  <a:schemeClr val="lt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Malgun Gothic"/>
              </a:rPr>
              <a:t>세탁세제 등</a:t>
            </a:r>
            <a:endParaRPr spc="-15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Google Shape;135;gae8d47679f_1_0">
            <a:extLst>
              <a:ext uri="{FF2B5EF4-FFF2-40B4-BE49-F238E27FC236}">
                <a16:creationId xmlns:a16="http://schemas.microsoft.com/office/drawing/2014/main" xmlns="" id="{A49FBABD-6264-48E1-91CE-F571BD0E0269}"/>
              </a:ext>
            </a:extLst>
          </p:cNvPr>
          <p:cNvSpPr txBox="1"/>
          <p:nvPr/>
        </p:nvSpPr>
        <p:spPr>
          <a:xfrm>
            <a:off x="6392375" y="4976608"/>
            <a:ext cx="5493401" cy="141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세탁세제 및 주방 욕실 등 청소제품은 매번 개별 용기가 필요 없음</a:t>
            </a:r>
            <a:endParaRPr lang="en-US" altLang="ko-KR" sz="1300" dirty="0" smtClean="0">
              <a:solidFill>
                <a:srgbClr val="75707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필요한 제품양만 구입하고 측정된 양만큼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계산</a:t>
            </a:r>
            <a:r>
              <a:rPr lang="ko-KR" altLang="en-US" sz="1300" dirty="0" smtClean="0">
                <a:solidFill>
                  <a:srgbClr val="75707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endParaRPr lang="en-US" altLang="ko-KR" sz="1300" dirty="0" smtClean="0">
              <a:solidFill>
                <a:srgbClr val="75707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  <a:p>
            <a:pPr marL="180975" indent="-180975">
              <a:lnSpc>
                <a:spcPct val="158333"/>
              </a:lnSpc>
              <a:buClr>
                <a:srgbClr val="757070"/>
              </a:buClr>
              <a:buSzPts val="1200"/>
              <a:buFont typeface="Noto Sans Symbols"/>
              <a:buChar char="▪"/>
            </a:pP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측정된 용량 만큼 계산 하기 위해서는 유통기간이 짧고 살균처리가 필요한 제품은 가까운 거리에 기능에 따른 판매점 필요</a:t>
            </a:r>
            <a:r>
              <a:rPr lang="en-US" altLang="ko-KR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(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우유 주유대리점</a:t>
            </a:r>
            <a:r>
              <a:rPr lang="en-US" altLang="ko-KR" sz="1300" b="1" dirty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 </a:t>
            </a:r>
            <a:r>
              <a:rPr lang="ko-KR" altLang="en-US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등</a:t>
            </a:r>
            <a:r>
              <a:rPr lang="en-US" altLang="ko-KR" sz="1300" b="1" dirty="0" smtClean="0">
                <a:solidFill>
                  <a:srgbClr val="001D58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Malgun Gothic"/>
                <a:sym typeface="Malgun Gothic"/>
              </a:rPr>
              <a:t>)</a:t>
            </a:r>
            <a:endParaRPr lang="ko-KR" altLang="en-US" sz="13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180975" marR="0" lvl="0" indent="-180975" algn="l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200"/>
              <a:buFont typeface="Noto Sans Symbols"/>
              <a:buChar char="▪"/>
            </a:pPr>
            <a:endParaRPr lang="ko-KR" altLang="en-US" sz="1300" dirty="0">
              <a:solidFill>
                <a:srgbClr val="75707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54772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_x223508600">
            <a:extLst>
              <a:ext uri="{FF2B5EF4-FFF2-40B4-BE49-F238E27FC236}">
                <a16:creationId xmlns:a16="http://schemas.microsoft.com/office/drawing/2014/main" xmlns="" id="{8C724A0E-29ED-4732-A08B-919C3FA02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5400000">
            <a:off x="8398540" y="-280712"/>
            <a:ext cx="2331915" cy="392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A32FF09-6750-4AD6-9EE7-6C98F5F69699}"/>
              </a:ext>
            </a:extLst>
          </p:cNvPr>
          <p:cNvSpPr/>
          <p:nvPr/>
        </p:nvSpPr>
        <p:spPr>
          <a:xfrm>
            <a:off x="358851" y="276681"/>
            <a:ext cx="2926080" cy="63361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581693" y="2849024"/>
            <a:ext cx="3942970" cy="4951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생활용품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581693" y="5860804"/>
            <a:ext cx="3942970" cy="5678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음료수 등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600725" y="5860803"/>
            <a:ext cx="3902005" cy="5678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세탁세제 등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591555" y="2828415"/>
            <a:ext cx="3933800" cy="5157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주방 조미료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3725" y="517109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디스펜서</a:t>
            </a:r>
            <a:endParaRPr lang="en-US" altLang="ko-K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029" name="_x223510280">
            <a:extLst>
              <a:ext uri="{FF2B5EF4-FFF2-40B4-BE49-F238E27FC236}">
                <a16:creationId xmlns:a16="http://schemas.microsoft.com/office/drawing/2014/main" xmlns="" id="{8049F1A8-D258-4568-ADE2-8140740A3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0266" y="3397818"/>
            <a:ext cx="3944393" cy="246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_x223511080">
            <a:extLst>
              <a:ext uri="{FF2B5EF4-FFF2-40B4-BE49-F238E27FC236}">
                <a16:creationId xmlns:a16="http://schemas.microsoft.com/office/drawing/2014/main" xmlns="" id="{02F67823-10B0-44E0-A48E-DB9946911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99298" y="3397818"/>
            <a:ext cx="3903431" cy="246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_x215746216">
            <a:extLst>
              <a:ext uri="{FF2B5EF4-FFF2-40B4-BE49-F238E27FC236}">
                <a16:creationId xmlns:a16="http://schemas.microsoft.com/office/drawing/2014/main" xmlns="" id="{55F18699-B635-4505-A442-D34E5CB05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0266" y="517108"/>
            <a:ext cx="3944393" cy="2331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84290" y="6002087"/>
            <a:ext cx="2962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마트에서</a:t>
            </a:r>
            <a:r>
              <a:rPr lang="ko-KR" altLang="en-US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설치된 액상제품 </a:t>
            </a:r>
            <a:r>
              <a:rPr lang="ko-KR" altLang="en-US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디스펜서를</a:t>
            </a:r>
            <a:endParaRPr lang="en-US" altLang="ko-KR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ko-KR" altLang="en-US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통해 필요한 용량만 구입</a:t>
            </a:r>
            <a:endPara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96" y="980152"/>
            <a:ext cx="2927508" cy="164392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3" y="2619528"/>
            <a:ext cx="2924585" cy="164392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96" y="4260322"/>
            <a:ext cx="2927508" cy="16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4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A1BD5C5A-B8EA-4426-98B2-5507DC5D6B09}"/>
              </a:ext>
            </a:extLst>
          </p:cNvPr>
          <p:cNvSpPr/>
          <p:nvPr/>
        </p:nvSpPr>
        <p:spPr>
          <a:xfrm>
            <a:off x="306222" y="1209118"/>
            <a:ext cx="5759893" cy="5040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5738" algn="just"/>
            <a:r>
              <a:rPr lang="ko-KR" altLang="en-US" sz="20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재사용 가치를 상승시키는 분리배출</a:t>
            </a:r>
            <a:endParaRPr lang="ko-KR" altLang="en-US" sz="2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3F0F35F-9E95-482A-9E55-A2B87E76A1BB}"/>
              </a:ext>
            </a:extLst>
          </p:cNvPr>
          <p:cNvSpPr txBox="1"/>
          <p:nvPr/>
        </p:nvSpPr>
        <p:spPr>
          <a:xfrm>
            <a:off x="306222" y="6236294"/>
            <a:ext cx="6569292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70000"/>
              </a:lnSpc>
              <a:buClr>
                <a:srgbClr val="000000"/>
              </a:buClr>
            </a:pPr>
            <a:r>
              <a:rPr lang="ko-KR" altLang="en-US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출처 </a:t>
            </a:r>
            <a:r>
              <a:rPr lang="en-US" altLang="ko-KR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: </a:t>
            </a:r>
            <a:r>
              <a:rPr lang="ko-KR" altLang="en-US" sz="1200" kern="0" dirty="0" err="1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알맹</a:t>
            </a:r>
            <a:r>
              <a:rPr lang="ko-KR" altLang="en-US" sz="1200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 상점 세제리필 모습</a:t>
            </a:r>
            <a:endParaRPr lang="en-US" altLang="ko-KR" sz="1200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BCDEB3E-DB84-44B9-BEC6-CB2B58E3682B}"/>
              </a:ext>
            </a:extLst>
          </p:cNvPr>
          <p:cNvSpPr txBox="1"/>
          <p:nvPr/>
        </p:nvSpPr>
        <p:spPr>
          <a:xfrm>
            <a:off x="306222" y="1713118"/>
            <a:ext cx="5759893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170000"/>
              </a:lnSpc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ko-KR" altLang="en-US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학교</a:t>
            </a:r>
            <a:r>
              <a:rPr lang="en-US" altLang="ko-KR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, </a:t>
            </a:r>
            <a:r>
              <a:rPr lang="ko-KR" altLang="en-US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아파트의 쓰레기 </a:t>
            </a:r>
            <a:r>
              <a:rPr lang="ko-KR" altLang="en-US" kern="0" dirty="0" err="1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분리수거장을</a:t>
            </a:r>
            <a:r>
              <a:rPr lang="ko-KR" altLang="en-US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 상황을 이해하고 분리배출의 중요성을 알리는 민간</a:t>
            </a:r>
            <a:r>
              <a:rPr lang="en-US" altLang="ko-KR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/</a:t>
            </a:r>
            <a:r>
              <a:rPr lang="ko-KR" altLang="en-US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정부의 다각적인 </a:t>
            </a:r>
            <a:r>
              <a:rPr lang="ko-KR" altLang="en-US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홍보</a:t>
            </a:r>
            <a:endParaRPr lang="en-US" altLang="ko-KR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/>
              <a:sym typeface="Arial"/>
            </a:endParaRPr>
          </a:p>
          <a:p>
            <a:pPr marL="285750" indent="-285750" latinLnBrk="0">
              <a:lnSpc>
                <a:spcPct val="170000"/>
              </a:lnSpc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ko-KR" altLang="en-US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환경오염을 일으키는 화학재료의 사용을 막고 재사용 및 재활용의 가치 인식 높이기</a:t>
            </a:r>
            <a:endParaRPr lang="ko-KR" altLang="en-US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/>
              <a:sym typeface="Arial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078639AF-B042-4D6A-AC81-7F6A945AB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329" y="1209118"/>
            <a:ext cx="4901943" cy="50271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12BEB0B-8DD8-4E3C-AE1C-B62B9A867275}"/>
              </a:ext>
            </a:extLst>
          </p:cNvPr>
          <p:cNvSpPr txBox="1"/>
          <p:nvPr/>
        </p:nvSpPr>
        <p:spPr>
          <a:xfrm>
            <a:off x="6532329" y="6236294"/>
            <a:ext cx="5659671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70000"/>
              </a:lnSpc>
              <a:buClr>
                <a:srgbClr val="000000"/>
              </a:buClr>
            </a:pPr>
            <a:r>
              <a:rPr lang="ko-KR" altLang="en-US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출처 </a:t>
            </a:r>
            <a:r>
              <a:rPr lang="en-US" altLang="ko-KR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: </a:t>
            </a:r>
            <a:r>
              <a:rPr lang="en-US" altLang="ko-KR" sz="1200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[</a:t>
            </a:r>
            <a:r>
              <a:rPr lang="ko-KR" altLang="en-US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꿈길 </a:t>
            </a:r>
            <a:r>
              <a:rPr lang="en-US" altLang="ko-KR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THE </a:t>
            </a:r>
            <a:r>
              <a:rPr lang="ko-KR" altLang="en-US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사상 캠페인</a:t>
            </a:r>
            <a:r>
              <a:rPr lang="en-US" altLang="ko-KR" sz="1200" kern="0" dirty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] </a:t>
            </a:r>
            <a:r>
              <a:rPr lang="ko-KR" altLang="en-US" sz="1200" kern="0" dirty="0" smtClean="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/>
                <a:sym typeface="Arial"/>
              </a:rPr>
              <a:t>환경보호실천 재활용 분리배출 캠페인</a:t>
            </a:r>
            <a:endParaRPr lang="en-US" altLang="ko-KR" sz="1200" kern="0" dirty="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Arial"/>
              <a:sym typeface="Arial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1" y="3689044"/>
            <a:ext cx="5759893" cy="254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0;gae8d47679f_1_0">
            <a:extLst>
              <a:ext uri="{FF2B5EF4-FFF2-40B4-BE49-F238E27FC236}">
                <a16:creationId xmlns:a16="http://schemas.microsoft.com/office/drawing/2014/main" xmlns="" id="{75CD38BA-CB31-46AD-8A3A-4273D250D455}"/>
              </a:ext>
            </a:extLst>
          </p:cNvPr>
          <p:cNvSpPr/>
          <p:nvPr/>
        </p:nvSpPr>
        <p:spPr>
          <a:xfrm>
            <a:off x="0" y="492216"/>
            <a:ext cx="3483429" cy="504000"/>
          </a:xfrm>
          <a:custGeom>
            <a:avLst/>
            <a:gdLst/>
            <a:ahLst/>
            <a:cxnLst/>
            <a:rect l="l" t="t" r="r" b="b"/>
            <a:pathLst>
              <a:path w="3034002" h="964922" extrusionOk="0">
                <a:moveTo>
                  <a:pt x="0" y="0"/>
                </a:moveTo>
                <a:lnTo>
                  <a:pt x="2873178" y="0"/>
                </a:lnTo>
                <a:cubicBezTo>
                  <a:pt x="2961999" y="0"/>
                  <a:pt x="3034002" y="72003"/>
                  <a:pt x="3034002" y="160824"/>
                </a:cubicBezTo>
                <a:lnTo>
                  <a:pt x="3034002" y="804098"/>
                </a:lnTo>
                <a:cubicBezTo>
                  <a:pt x="3034002" y="892919"/>
                  <a:pt x="2961999" y="964922"/>
                  <a:pt x="2873178" y="964922"/>
                </a:cubicBezTo>
                <a:lnTo>
                  <a:pt x="0" y="964922"/>
                </a:lnTo>
                <a:close/>
              </a:path>
            </a:pathLst>
          </a:cu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Google Shape;130;gae8d47679f_1_0">
            <a:extLst>
              <a:ext uri="{FF2B5EF4-FFF2-40B4-BE49-F238E27FC236}">
                <a16:creationId xmlns:a16="http://schemas.microsoft.com/office/drawing/2014/main" xmlns="" id="{A3A28B3B-44D6-4207-BD37-883925E9E933}"/>
              </a:ext>
            </a:extLst>
          </p:cNvPr>
          <p:cNvSpPr/>
          <p:nvPr/>
        </p:nvSpPr>
        <p:spPr>
          <a:xfrm>
            <a:off x="3193142" y="492216"/>
            <a:ext cx="2481943" cy="504000"/>
          </a:xfrm>
          <a:custGeom>
            <a:avLst/>
            <a:gdLst/>
            <a:ahLst/>
            <a:cxnLst/>
            <a:rect l="l" t="t" r="r" b="b"/>
            <a:pathLst>
              <a:path w="3034002" h="964922" extrusionOk="0">
                <a:moveTo>
                  <a:pt x="0" y="0"/>
                </a:moveTo>
                <a:lnTo>
                  <a:pt x="2873178" y="0"/>
                </a:lnTo>
                <a:cubicBezTo>
                  <a:pt x="2961999" y="0"/>
                  <a:pt x="3034002" y="72003"/>
                  <a:pt x="3034002" y="160824"/>
                </a:cubicBezTo>
                <a:lnTo>
                  <a:pt x="3034002" y="804098"/>
                </a:lnTo>
                <a:cubicBezTo>
                  <a:pt x="3034002" y="892919"/>
                  <a:pt x="2961999" y="964922"/>
                  <a:pt x="2873178" y="964922"/>
                </a:cubicBezTo>
                <a:lnTo>
                  <a:pt x="0" y="964922"/>
                </a:lnTo>
                <a:close/>
              </a:path>
            </a:pathLst>
          </a:cu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CCB8818-80C3-4C9D-863A-4AE928EE1A5B}"/>
              </a:ext>
            </a:extLst>
          </p:cNvPr>
          <p:cNvSpPr txBox="1"/>
          <p:nvPr/>
        </p:nvSpPr>
        <p:spPr>
          <a:xfrm>
            <a:off x="612558" y="541539"/>
            <a:ext cx="4598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아이디어 제안 </a:t>
            </a:r>
            <a:r>
              <a:rPr lang="en-US" altLang="ko-KR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L" panose="02020603020101020101" pitchFamily="18" charset="-127"/>
                <a:ea typeface="현대하모니 L" panose="02020603020101020101" pitchFamily="18" charset="-127"/>
              </a:rPr>
              <a:t>행동하는 실천</a:t>
            </a:r>
            <a:endParaRPr lang="ko-KR" alt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FF9A96DB-D491-4E4A-B505-1AF9435620B3}"/>
              </a:ext>
            </a:extLst>
          </p:cNvPr>
          <p:cNvSpPr/>
          <p:nvPr/>
        </p:nvSpPr>
        <p:spPr>
          <a:xfrm>
            <a:off x="306222" y="1209117"/>
            <a:ext cx="1691911" cy="5040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생각 나눔</a:t>
            </a:r>
            <a:endParaRPr lang="ko-KR" altLang="en-US" sz="2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16BCF8B-CE78-4895-B3D3-0FB52DBB32BD}"/>
              </a:ext>
            </a:extLst>
          </p:cNvPr>
          <p:cNvSpPr/>
          <p:nvPr/>
        </p:nvSpPr>
        <p:spPr bwMode="auto">
          <a:xfrm>
            <a:off x="2325188" y="5204240"/>
            <a:ext cx="9560589" cy="9255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  <a:defRPr/>
            </a:pP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지구환경 오염물질 생산량을 줄이고 재사용</a:t>
            </a:r>
            <a:r>
              <a:rPr lang="en-US" altLang="ko-KR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재활용을 통해 쓰레기의 양을 줄이고 버려진 쓰레기 자원도 다시 활용할 수 있도록 물건의 활용 가치 높임</a:t>
            </a: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B112B00E-7A17-41FA-A923-F4578CE6D743}"/>
              </a:ext>
            </a:extLst>
          </p:cNvPr>
          <p:cNvSpPr/>
          <p:nvPr/>
        </p:nvSpPr>
        <p:spPr>
          <a:xfrm>
            <a:off x="3898515" y="4190707"/>
            <a:ext cx="1839397" cy="713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경안전모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설치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사용 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및 재난 교육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8D23024-18CD-494E-8937-BFC928EDF236}"/>
              </a:ext>
            </a:extLst>
          </p:cNvPr>
          <p:cNvSpPr/>
          <p:nvPr/>
        </p:nvSpPr>
        <p:spPr>
          <a:xfrm>
            <a:off x="6638454" y="4190707"/>
            <a:ext cx="1801553" cy="7130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차 대피 훈련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학급별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16" name="덧셈 기호 32">
            <a:extLst>
              <a:ext uri="{FF2B5EF4-FFF2-40B4-BE49-F238E27FC236}">
                <a16:creationId xmlns:a16="http://schemas.microsoft.com/office/drawing/2014/main" xmlns="" id="{E4AF7848-DDA8-4ECC-B11C-FB7375C27855}"/>
              </a:ext>
            </a:extLst>
          </p:cNvPr>
          <p:cNvSpPr/>
          <p:nvPr/>
        </p:nvSpPr>
        <p:spPr>
          <a:xfrm>
            <a:off x="5985864" y="4348939"/>
            <a:ext cx="404638" cy="396553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덧셈 기호 33">
            <a:extLst>
              <a:ext uri="{FF2B5EF4-FFF2-40B4-BE49-F238E27FC236}">
                <a16:creationId xmlns:a16="http://schemas.microsoft.com/office/drawing/2014/main" xmlns="" id="{C254E376-DAE3-40B1-8E73-7FD61C31A924}"/>
              </a:ext>
            </a:extLst>
          </p:cNvPr>
          <p:cNvSpPr/>
          <p:nvPr/>
        </p:nvSpPr>
        <p:spPr>
          <a:xfrm>
            <a:off x="8687959" y="4348938"/>
            <a:ext cx="404638" cy="396553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CEA3864D-1738-44E7-833D-392659F70547}"/>
              </a:ext>
            </a:extLst>
          </p:cNvPr>
          <p:cNvSpPr/>
          <p:nvPr/>
        </p:nvSpPr>
        <p:spPr bwMode="auto">
          <a:xfrm>
            <a:off x="2325189" y="1209116"/>
            <a:ext cx="9560589" cy="3833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69875" indent="-2698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72C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새로운 물건 구입방법과 용기 있는 실천을 통해 변화된 지구환경</a:t>
            </a: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0072C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69875" indent="-2698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72CE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인식개선을 통한 물건의 활용 및 가치 높임</a:t>
            </a:r>
            <a:endParaRPr lang="en-US" altLang="ko-KR" dirty="0" smtClean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0072CE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69875" indent="-2698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학교와 민간</a:t>
            </a:r>
            <a:r>
              <a:rPr lang="en-US" altLang="ko-KR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정부의 연계를 통한 홍보교육 </a:t>
            </a:r>
            <a:r>
              <a:rPr lang="ko-KR" altLang="en-US" dirty="0" err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콘텐츠</a:t>
            </a:r>
            <a:r>
              <a:rPr lang="ko-KR" altLang="en-US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구성</a:t>
            </a:r>
            <a:endParaRPr lang="en-US" altLang="ko-KR" dirty="0" smtClean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69875" indent="-269875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변화된 지구환경</a:t>
            </a:r>
            <a:r>
              <a:rPr lang="en-US" altLang="ko-KR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최종 의견 정리</a:t>
            </a:r>
            <a:r>
              <a:rPr lang="en-US" altLang="ko-KR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4B7C918-C6F5-428E-B20E-BC04B9AEC86C}"/>
              </a:ext>
            </a:extLst>
          </p:cNvPr>
          <p:cNvSpPr/>
          <p:nvPr/>
        </p:nvSpPr>
        <p:spPr>
          <a:xfrm>
            <a:off x="2518251" y="1404352"/>
            <a:ext cx="2520000" cy="713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자료조사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1AE5EC00-AB2D-4777-8138-A1CDC0BA184E}"/>
              </a:ext>
            </a:extLst>
          </p:cNvPr>
          <p:cNvSpPr/>
          <p:nvPr/>
        </p:nvSpPr>
        <p:spPr>
          <a:xfrm>
            <a:off x="5860187" y="1407773"/>
            <a:ext cx="2520000" cy="713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아이디어 제안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1" name="덧셈 기호 60">
            <a:extLst>
              <a:ext uri="{FF2B5EF4-FFF2-40B4-BE49-F238E27FC236}">
                <a16:creationId xmlns:a16="http://schemas.microsoft.com/office/drawing/2014/main" xmlns="" id="{3C39D995-3418-482B-88DD-97FA54787CA9}"/>
              </a:ext>
            </a:extLst>
          </p:cNvPr>
          <p:cNvSpPr/>
          <p:nvPr/>
        </p:nvSpPr>
        <p:spPr>
          <a:xfrm>
            <a:off x="5246900" y="1546911"/>
            <a:ext cx="404638" cy="396553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2" name="덧셈 기호 62">
            <a:extLst>
              <a:ext uri="{FF2B5EF4-FFF2-40B4-BE49-F238E27FC236}">
                <a16:creationId xmlns:a16="http://schemas.microsoft.com/office/drawing/2014/main" xmlns="" id="{03331CAF-6E03-4056-8C0A-F8CE646550C8}"/>
              </a:ext>
            </a:extLst>
          </p:cNvPr>
          <p:cNvSpPr/>
          <p:nvPr/>
        </p:nvSpPr>
        <p:spPr>
          <a:xfrm>
            <a:off x="8588836" y="1546910"/>
            <a:ext cx="404638" cy="396553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C0B6A46D-5E96-4FD7-B61D-22188EDFB884}"/>
              </a:ext>
            </a:extLst>
          </p:cNvPr>
          <p:cNvSpPr/>
          <p:nvPr/>
        </p:nvSpPr>
        <p:spPr>
          <a:xfrm>
            <a:off x="2518251" y="2214314"/>
            <a:ext cx="2520000" cy="1239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버려지는 쓰레기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빈번 용기 활용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8863D886-2313-46C6-9ED8-13F814317D65}"/>
              </a:ext>
            </a:extLst>
          </p:cNvPr>
          <p:cNvSpPr/>
          <p:nvPr/>
        </p:nvSpPr>
        <p:spPr>
          <a:xfrm>
            <a:off x="5860187" y="2214314"/>
            <a:ext cx="2520000" cy="1239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물건 구입 방법의 변화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용기 있는 실천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D2153362-80C7-452B-AF82-3D79E334EB24}"/>
              </a:ext>
            </a:extLst>
          </p:cNvPr>
          <p:cNvSpPr/>
          <p:nvPr/>
        </p:nvSpPr>
        <p:spPr>
          <a:xfrm>
            <a:off x="9202123" y="1404351"/>
            <a:ext cx="2520000" cy="713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algn="ctr"/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캠페인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C2E8890F-6349-4C8F-95FC-3A3C258C5F1F}"/>
              </a:ext>
            </a:extLst>
          </p:cNvPr>
          <p:cNvSpPr/>
          <p:nvPr/>
        </p:nvSpPr>
        <p:spPr>
          <a:xfrm>
            <a:off x="2891630" y="1303721"/>
            <a:ext cx="5116231" cy="237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쓰레기 줄이는 방법 및 새로운 물건 구입방법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93294FEC-C085-451C-AA6C-5FC352E5C010}"/>
              </a:ext>
            </a:extLst>
          </p:cNvPr>
          <p:cNvSpPr/>
          <p:nvPr/>
        </p:nvSpPr>
        <p:spPr>
          <a:xfrm>
            <a:off x="9202123" y="2214314"/>
            <a:ext cx="2520000" cy="1239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인식개선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재사용 가치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분리배출 안내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450648B1-DEA7-4D22-9939-97147862F7D1}"/>
              </a:ext>
            </a:extLst>
          </p:cNvPr>
          <p:cNvSpPr/>
          <p:nvPr/>
        </p:nvSpPr>
        <p:spPr>
          <a:xfrm>
            <a:off x="306222" y="5204240"/>
            <a:ext cx="1691911" cy="5040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지구환경</a:t>
            </a:r>
            <a:endParaRPr lang="ko-KR" altLang="en-US" sz="20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51B4FAF9-B1AC-4920-AEC2-344B33985BA6}"/>
              </a:ext>
            </a:extLst>
          </p:cNvPr>
          <p:cNvSpPr/>
          <p:nvPr/>
        </p:nvSpPr>
        <p:spPr>
          <a:xfrm>
            <a:off x="9393409" y="1303723"/>
            <a:ext cx="2135319" cy="23380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홍보 및 안내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02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658</Words>
  <Application>Microsoft Office PowerPoint</Application>
  <PresentationFormat>와이드스크린</PresentationFormat>
  <Paragraphs>111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Noto Sans Symbols</vt:lpstr>
      <vt:lpstr>맑은 고딕</vt:lpstr>
      <vt:lpstr>맑은 고딕</vt:lpstr>
      <vt:lpstr>현대하모니 L</vt:lpstr>
      <vt:lpstr>현대하모니 M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SC♥SY</dc:creator>
  <cp:lastModifiedBy>user</cp:lastModifiedBy>
  <cp:revision>102</cp:revision>
  <cp:lastPrinted>2021-04-28T03:30:20Z</cp:lastPrinted>
  <dcterms:created xsi:type="dcterms:W3CDTF">2021-03-25T00:38:49Z</dcterms:created>
  <dcterms:modified xsi:type="dcterms:W3CDTF">2021-05-06T05:11:24Z</dcterms:modified>
</cp:coreProperties>
</file>