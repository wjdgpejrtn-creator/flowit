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301" r:id="rId2"/>
    <p:sldId id="320" r:id="rId3"/>
    <p:sldId id="307" r:id="rId4"/>
    <p:sldId id="308" r:id="rId5"/>
    <p:sldId id="309" r:id="rId6"/>
    <p:sldId id="310" r:id="rId7"/>
    <p:sldId id="312" r:id="rId8"/>
    <p:sldId id="313" r:id="rId9"/>
    <p:sldId id="315" r:id="rId10"/>
    <p:sldId id="316" r:id="rId11"/>
    <p:sldId id="317" r:id="rId12"/>
  </p:sldIdLst>
  <p:sldSz cx="9144000" cy="6858000" type="screen4x3"/>
  <p:notesSz cx="6805613" cy="9939338"/>
  <p:embeddedFontLst>
    <p:embeddedFont>
      <p:font typeface="맑은 고딕" pitchFamily="50" charset="-127"/>
      <p:regular r:id="rId14"/>
      <p:bold r:id="rId15"/>
    </p:embeddedFont>
    <p:embeddedFont>
      <p:font typeface="HY헤드라인M" pitchFamily="18" charset="-127"/>
      <p:regular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FEE"/>
    <a:srgbClr val="990033"/>
    <a:srgbClr val="2DB9FF"/>
    <a:srgbClr val="ECECEC"/>
    <a:srgbClr val="DBDBDB"/>
    <a:srgbClr val="0099E6"/>
    <a:srgbClr val="65CCFF"/>
    <a:srgbClr val="0097E2"/>
    <a:srgbClr val="0094DE"/>
    <a:srgbClr val="008FD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1" autoAdjust="0"/>
    <p:restoredTop sz="97452" autoAdjust="0"/>
  </p:normalViewPr>
  <p:slideViewPr>
    <p:cSldViewPr>
      <p:cViewPr varScale="1">
        <p:scale>
          <a:sx n="105" d="100"/>
          <a:sy n="105" d="100"/>
        </p:scale>
        <p:origin x="-9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023F1-806E-4A3B-8B42-94937208ED0B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AE988-F0AF-463F-BCC7-2F84CCC4BF9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58272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AE988-F0AF-463F-BCC7-2F84CCC4BF9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9689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AE988-F0AF-463F-BCC7-2F84CCC4BF9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7869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AE988-F0AF-463F-BCC7-2F84CCC4BF9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51747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AE988-F0AF-463F-BCC7-2F84CCC4BF9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85636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AE988-F0AF-463F-BCC7-2F84CCC4BF93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45535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AE988-F0AF-463F-BCC7-2F84CCC4BF93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235973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AE988-F0AF-463F-BCC7-2F84CCC4BF93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05493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AE988-F0AF-463F-BCC7-2F84CCC4BF93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60388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AE988-F0AF-463F-BCC7-2F84CCC4BF93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39625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24939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74574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76339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711882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7062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70927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8214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5929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98554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32112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1654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D5A08-4272-48C4-85A7-0B11D54CBC4F}" type="datetimeFigureOut">
              <a:rPr lang="ko-KR" altLang="en-US" smtClean="0"/>
              <a:pPr/>
              <a:t>2019-04-18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77341-4B90-4F34-B0EF-1C4E467375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845597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540568" y="1911305"/>
            <a:ext cx="10441160" cy="2376264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19872" y="5949280"/>
            <a:ext cx="1732778" cy="74148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 rot="21569650">
            <a:off x="261060" y="2495380"/>
            <a:ext cx="6686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발달장애인 자조모임의</a:t>
            </a:r>
            <a:endParaRPr lang="en-US" altLang="ko-KR" sz="3600" dirty="0" smtClean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z="36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창업지원</a:t>
            </a:r>
            <a:endParaRPr lang="en-US" altLang="ko-KR" sz="36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1004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grpSp>
        <p:nvGrpSpPr>
          <p:cNvPr id="11" name="그룹 1"/>
          <p:cNvGrpSpPr>
            <a:grpSpLocks/>
          </p:cNvGrpSpPr>
          <p:nvPr/>
        </p:nvGrpSpPr>
        <p:grpSpPr bwMode="auto">
          <a:xfrm>
            <a:off x="1730375" y="3463553"/>
            <a:ext cx="5688013" cy="836612"/>
            <a:chOff x="1730375" y="4062065"/>
            <a:chExt cx="5688013" cy="444500"/>
          </a:xfrm>
          <a:solidFill>
            <a:schemeClr val="bg1">
              <a:lumMod val="85000"/>
            </a:schemeClr>
          </a:solidFill>
        </p:grpSpPr>
        <p:sp>
          <p:nvSpPr>
            <p:cNvPr id="12" name="자유형 11"/>
            <p:cNvSpPr/>
            <p:nvPr/>
          </p:nvSpPr>
          <p:spPr bwMode="auto">
            <a:xfrm flipH="1">
              <a:off x="5099050" y="4062065"/>
              <a:ext cx="2319338" cy="444500"/>
            </a:xfrm>
            <a:custGeom>
              <a:avLst/>
              <a:gdLst>
                <a:gd name="connsiteX0" fmla="*/ 0 w 2571768"/>
                <a:gd name="connsiteY0" fmla="*/ 0 h 1285884"/>
                <a:gd name="connsiteX1" fmla="*/ 2571768 w 2571768"/>
                <a:gd name="connsiteY1" fmla="*/ 0 h 1285884"/>
                <a:gd name="connsiteX2" fmla="*/ 2571768 w 2571768"/>
                <a:gd name="connsiteY2" fmla="*/ 1285884 h 1285884"/>
                <a:gd name="connsiteX3" fmla="*/ 0 w 2571768"/>
                <a:gd name="connsiteY3" fmla="*/ 1285884 h 1285884"/>
                <a:gd name="connsiteX4" fmla="*/ 0 w 2571768"/>
                <a:gd name="connsiteY4" fmla="*/ 0 h 1285884"/>
                <a:gd name="connsiteX0" fmla="*/ 0 w 3857620"/>
                <a:gd name="connsiteY0" fmla="*/ 0 h 1285884"/>
                <a:gd name="connsiteX1" fmla="*/ 3857620 w 3857620"/>
                <a:gd name="connsiteY1" fmla="*/ 285728 h 1285884"/>
                <a:gd name="connsiteX2" fmla="*/ 2571768 w 3857620"/>
                <a:gd name="connsiteY2" fmla="*/ 1285884 h 1285884"/>
                <a:gd name="connsiteX3" fmla="*/ 0 w 3857620"/>
                <a:gd name="connsiteY3" fmla="*/ 1285884 h 1285884"/>
                <a:gd name="connsiteX4" fmla="*/ 0 w 3857620"/>
                <a:gd name="connsiteY4" fmla="*/ 0 h 1285884"/>
                <a:gd name="connsiteX0" fmla="*/ 3428992 w 3857620"/>
                <a:gd name="connsiteY0" fmla="*/ 0 h 1000156"/>
                <a:gd name="connsiteX1" fmla="*/ 3857620 w 3857620"/>
                <a:gd name="connsiteY1" fmla="*/ 0 h 1000156"/>
                <a:gd name="connsiteX2" fmla="*/ 2571768 w 3857620"/>
                <a:gd name="connsiteY2" fmla="*/ 1000156 h 1000156"/>
                <a:gd name="connsiteX3" fmla="*/ 0 w 3857620"/>
                <a:gd name="connsiteY3" fmla="*/ 1000156 h 1000156"/>
                <a:gd name="connsiteX4" fmla="*/ 3428992 w 3857620"/>
                <a:gd name="connsiteY4" fmla="*/ 0 h 1000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20" h="1000156">
                  <a:moveTo>
                    <a:pt x="3428992" y="0"/>
                  </a:moveTo>
                  <a:lnTo>
                    <a:pt x="3857620" y="0"/>
                  </a:lnTo>
                  <a:lnTo>
                    <a:pt x="2571768" y="1000156"/>
                  </a:lnTo>
                  <a:lnTo>
                    <a:pt x="0" y="1000156"/>
                  </a:lnTo>
                  <a:lnTo>
                    <a:pt x="342899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800">
                <a:solidFill>
                  <a:prstClr val="white"/>
                </a:solidFill>
              </a:endParaRPr>
            </a:p>
          </p:txBody>
        </p:sp>
        <p:sp>
          <p:nvSpPr>
            <p:cNvPr id="13" name="자유형 12"/>
            <p:cNvSpPr/>
            <p:nvPr/>
          </p:nvSpPr>
          <p:spPr bwMode="auto">
            <a:xfrm>
              <a:off x="1730375" y="4062065"/>
              <a:ext cx="2319338" cy="444500"/>
            </a:xfrm>
            <a:custGeom>
              <a:avLst/>
              <a:gdLst>
                <a:gd name="connsiteX0" fmla="*/ 0 w 2571768"/>
                <a:gd name="connsiteY0" fmla="*/ 0 h 1285884"/>
                <a:gd name="connsiteX1" fmla="*/ 2571768 w 2571768"/>
                <a:gd name="connsiteY1" fmla="*/ 0 h 1285884"/>
                <a:gd name="connsiteX2" fmla="*/ 2571768 w 2571768"/>
                <a:gd name="connsiteY2" fmla="*/ 1285884 h 1285884"/>
                <a:gd name="connsiteX3" fmla="*/ 0 w 2571768"/>
                <a:gd name="connsiteY3" fmla="*/ 1285884 h 1285884"/>
                <a:gd name="connsiteX4" fmla="*/ 0 w 2571768"/>
                <a:gd name="connsiteY4" fmla="*/ 0 h 1285884"/>
                <a:gd name="connsiteX0" fmla="*/ 0 w 3857620"/>
                <a:gd name="connsiteY0" fmla="*/ 0 h 1285884"/>
                <a:gd name="connsiteX1" fmla="*/ 3857620 w 3857620"/>
                <a:gd name="connsiteY1" fmla="*/ 285728 h 1285884"/>
                <a:gd name="connsiteX2" fmla="*/ 2571768 w 3857620"/>
                <a:gd name="connsiteY2" fmla="*/ 1285884 h 1285884"/>
                <a:gd name="connsiteX3" fmla="*/ 0 w 3857620"/>
                <a:gd name="connsiteY3" fmla="*/ 1285884 h 1285884"/>
                <a:gd name="connsiteX4" fmla="*/ 0 w 3857620"/>
                <a:gd name="connsiteY4" fmla="*/ 0 h 1285884"/>
                <a:gd name="connsiteX0" fmla="*/ 3428992 w 3857620"/>
                <a:gd name="connsiteY0" fmla="*/ 0 h 1000156"/>
                <a:gd name="connsiteX1" fmla="*/ 3857620 w 3857620"/>
                <a:gd name="connsiteY1" fmla="*/ 0 h 1000156"/>
                <a:gd name="connsiteX2" fmla="*/ 2571768 w 3857620"/>
                <a:gd name="connsiteY2" fmla="*/ 1000156 h 1000156"/>
                <a:gd name="connsiteX3" fmla="*/ 0 w 3857620"/>
                <a:gd name="connsiteY3" fmla="*/ 1000156 h 1000156"/>
                <a:gd name="connsiteX4" fmla="*/ 3428992 w 3857620"/>
                <a:gd name="connsiteY4" fmla="*/ 0 h 1000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20" h="1000156">
                  <a:moveTo>
                    <a:pt x="3428992" y="0"/>
                  </a:moveTo>
                  <a:lnTo>
                    <a:pt x="3857620" y="0"/>
                  </a:lnTo>
                  <a:lnTo>
                    <a:pt x="2571768" y="1000156"/>
                  </a:lnTo>
                  <a:lnTo>
                    <a:pt x="0" y="1000156"/>
                  </a:lnTo>
                  <a:lnTo>
                    <a:pt x="342899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800">
                <a:solidFill>
                  <a:prstClr val="white"/>
                </a:solidFill>
              </a:endParaRPr>
            </a:p>
          </p:txBody>
        </p:sp>
        <p:sp>
          <p:nvSpPr>
            <p:cNvPr id="14" name="사다리꼴 13"/>
            <p:cNvSpPr/>
            <p:nvPr/>
          </p:nvSpPr>
          <p:spPr bwMode="auto">
            <a:xfrm>
              <a:off x="3794125" y="4062065"/>
              <a:ext cx="1557338" cy="444500"/>
            </a:xfrm>
            <a:prstGeom prst="trapezoid">
              <a:avLst>
                <a:gd name="adj" fmla="val 915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800">
                <a:solidFill>
                  <a:prstClr val="white"/>
                </a:solidFill>
              </a:endParaRPr>
            </a:p>
          </p:txBody>
        </p:sp>
      </p:grpSp>
      <p:sp>
        <p:nvSpPr>
          <p:cNvPr id="15" name="AutoShape 35"/>
          <p:cNvSpPr>
            <a:spLocks noChangeArrowheads="1"/>
          </p:cNvSpPr>
          <p:nvPr/>
        </p:nvSpPr>
        <p:spPr bwMode="auto">
          <a:xfrm>
            <a:off x="1263650" y="2492896"/>
            <a:ext cx="6619875" cy="910332"/>
          </a:xfrm>
          <a:prstGeom prst="roundRect">
            <a:avLst>
              <a:gd name="adj" fmla="val 12139"/>
            </a:avLst>
          </a:prstGeom>
          <a:gradFill rotWithShape="0">
            <a:gsLst>
              <a:gs pos="0">
                <a:srgbClr val="0000CC">
                  <a:lumMod val="57000"/>
                  <a:lumOff val="43000"/>
                </a:srgbClr>
              </a:gs>
              <a:gs pos="39999">
                <a:srgbClr val="0070C0"/>
              </a:gs>
              <a:gs pos="82001">
                <a:srgbClr val="00B0F0"/>
              </a:gs>
              <a:gs pos="100000">
                <a:srgbClr val="00B0F0"/>
              </a:gs>
            </a:gsLst>
            <a:lin ang="16200000" scaled="1"/>
          </a:gradFill>
          <a:ln w="19050" algn="ctr">
            <a:solidFill>
              <a:srgbClr val="C0C0C0"/>
            </a:solidFill>
            <a:round/>
            <a:headEnd/>
            <a:tailEnd/>
          </a:ln>
        </p:spPr>
        <p:txBody>
          <a:bodyPr wrap="none" lIns="18000" tIns="0" rIns="18000" bIns="0"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latinLnBrk="0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ko-KR" altLang="en-US" sz="1800">
              <a:solidFill>
                <a:srgbClr val="FFFF66"/>
              </a:solidFill>
            </a:endParaRPr>
          </a:p>
        </p:txBody>
      </p:sp>
      <p:sp>
        <p:nvSpPr>
          <p:cNvPr id="16" name="Text Box 50"/>
          <p:cNvSpPr txBox="1">
            <a:spLocks noChangeArrowheads="1"/>
          </p:cNvSpPr>
          <p:nvPr/>
        </p:nvSpPr>
        <p:spPr bwMode="auto">
          <a:xfrm>
            <a:off x="1619117" y="2708920"/>
            <a:ext cx="5913848" cy="430887"/>
          </a:xfrm>
          <a:prstGeom prst="rect">
            <a:avLst/>
          </a:prstGeom>
          <a:noFill/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2800" kern="0" spc="-1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</a:t>
            </a:r>
            <a:r>
              <a:rPr lang="en-US" altLang="ko-KR" sz="2800" kern="0" spc="-1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800" kern="0" spc="-1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창업 및 운영 지원</a:t>
            </a:r>
            <a:endParaRPr lang="ko-KR" altLang="en-US" sz="2800" kern="0" spc="-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 bwMode="auto">
          <a:xfrm>
            <a:off x="504748" y="4350873"/>
            <a:ext cx="2593876" cy="11836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ko-KR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</a:t>
            </a:r>
            <a:r>
              <a:rPr lang="ko-KR" alt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창업지원</a:t>
            </a:r>
            <a:endParaRPr lang="ko-KR" altLang="en-US" sz="1600" dirty="0">
              <a:solidFill>
                <a:schemeClr val="tx2">
                  <a:lumMod val="60000"/>
                  <a:lumOff val="4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 bwMode="auto">
          <a:xfrm>
            <a:off x="3269596" y="4351383"/>
            <a:ext cx="2670345" cy="11836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ko-KR" alt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</a:t>
            </a:r>
            <a:r>
              <a:rPr lang="ko-KR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맞춤형 아카데미</a:t>
            </a:r>
            <a:endParaRPr lang="ko-KR" altLang="ko-KR" sz="16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9598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 bwMode="auto">
          <a:xfrm>
            <a:off x="6099623" y="4351383"/>
            <a:ext cx="2520000" cy="11836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 latinLnBrk="0"/>
            <a:r>
              <a:rPr lang="ko-KR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운영 역량강화</a:t>
            </a:r>
          </a:p>
        </p:txBody>
      </p:sp>
      <p:sp>
        <p:nvSpPr>
          <p:cNvPr id="20" name="모서리가 둥근 직사각형 19"/>
          <p:cNvSpPr/>
          <p:nvPr/>
        </p:nvSpPr>
        <p:spPr bwMode="auto">
          <a:xfrm rot="18000000">
            <a:off x="276685" y="1164947"/>
            <a:ext cx="123081" cy="123081"/>
          </a:xfrm>
          <a:prstGeom prst="roundRect">
            <a:avLst/>
          </a:prstGeom>
          <a:gradFill flip="none" rotWithShape="1">
            <a:gsLst>
              <a:gs pos="40000">
                <a:srgbClr val="249FFD"/>
              </a:gs>
              <a:gs pos="48000">
                <a:srgbClr val="004C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35320" y="910690"/>
            <a:ext cx="26629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ko-KR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활성화 사업</a:t>
            </a:r>
            <a:endParaRPr lang="ko-KR" altLang="en-US" sz="2000" dirty="0">
              <a:solidFill>
                <a:schemeClr val="tx2">
                  <a:lumMod val="60000"/>
                  <a:lumOff val="4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695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7504" y="788618"/>
            <a:ext cx="1193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2-1-1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316082" y="794733"/>
            <a:ext cx="0" cy="486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331640" y="813662"/>
            <a:ext cx="4824507" cy="461665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창업지원 사업</a:t>
            </a: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sp>
        <p:nvSpPr>
          <p:cNvPr id="15" name="모서리가 둥근 직사각형 14"/>
          <p:cNvSpPr/>
          <p:nvPr/>
        </p:nvSpPr>
        <p:spPr bwMode="auto">
          <a:xfrm rot="18000000">
            <a:off x="303008" y="1964030"/>
            <a:ext cx="123081" cy="123081"/>
          </a:xfrm>
          <a:prstGeom prst="roundRect">
            <a:avLst/>
          </a:prstGeom>
          <a:gradFill flip="none" rotWithShape="1">
            <a:gsLst>
              <a:gs pos="40000">
                <a:srgbClr val="249FFD"/>
              </a:gs>
              <a:gs pos="48000">
                <a:srgbClr val="004C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1643" y="1709773"/>
            <a:ext cx="48654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사업명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청년 등 협동조합 창업지원 사업</a:t>
            </a:r>
            <a:endParaRPr lang="ko-KR" altLang="en-US" sz="2000" dirty="0">
              <a:solidFill>
                <a:schemeClr val="tx2">
                  <a:lumMod val="60000"/>
                  <a:lumOff val="4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 bwMode="auto">
          <a:xfrm rot="18000000">
            <a:off x="303008" y="2684110"/>
            <a:ext cx="123081" cy="123081"/>
          </a:xfrm>
          <a:prstGeom prst="roundRect">
            <a:avLst/>
          </a:prstGeom>
          <a:gradFill flip="none" rotWithShape="1">
            <a:gsLst>
              <a:gs pos="40000">
                <a:srgbClr val="249FFD"/>
              </a:gs>
              <a:gs pos="48000">
                <a:srgbClr val="004C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70521" y="2412097"/>
            <a:ext cx="3964547" cy="5052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defRPr/>
            </a:pP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지원내용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2019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~ 2019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11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620831" y="3429000"/>
            <a:ext cx="2186881" cy="2290634"/>
            <a:chOff x="620831" y="3980288"/>
            <a:chExt cx="2186881" cy="2290634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79892" y="3980288"/>
              <a:ext cx="1440000" cy="1440000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620831" y="5544889"/>
              <a:ext cx="2186881" cy="7260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600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협동조합 운영 원리에 </a:t>
              </a:r>
              <a:endPara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60000"/>
                </a:lnSpc>
              </a:pP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기반한 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팀 빌딩 지원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3377207" y="3429000"/>
            <a:ext cx="2389585" cy="2602741"/>
            <a:chOff x="3377207" y="3980288"/>
            <a:chExt cx="2389585" cy="2602741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852000" y="3980288"/>
              <a:ext cx="1440000" cy="1440000"/>
            </a:xfrm>
            <a:prstGeom prst="rect">
              <a:avLst/>
            </a:prstGeom>
          </p:spPr>
        </p:pic>
        <p:sp>
          <p:nvSpPr>
            <p:cNvPr id="29" name="직사각형 28"/>
            <p:cNvSpPr/>
            <p:nvPr/>
          </p:nvSpPr>
          <p:spPr>
            <a:xfrm>
              <a:off x="3377207" y="5512287"/>
              <a:ext cx="2389585" cy="10707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600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시장 조사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사업모델 구축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초기 시제품 개발 등 초기 사업화 비용 지원</a:t>
              </a: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6324800" y="3429000"/>
            <a:ext cx="2389585" cy="2258032"/>
            <a:chOff x="6324800" y="3980288"/>
            <a:chExt cx="2389585" cy="2258032"/>
          </a:xfrm>
        </p:grpSpPr>
        <p:sp>
          <p:nvSpPr>
            <p:cNvPr id="30" name="직사각형 29"/>
            <p:cNvSpPr/>
            <p:nvPr/>
          </p:nvSpPr>
          <p:spPr>
            <a:xfrm>
              <a:off x="6324800" y="5512287"/>
              <a:ext cx="2389585" cy="7260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600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창업에 필요한 </a:t>
              </a:r>
              <a:r>
                <a:rPr lang="ko-KR" alt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멘토링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endPara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60000"/>
                </a:lnSpc>
              </a:pP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프로그램 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</a:t>
              </a:r>
            </a:p>
          </p:txBody>
        </p:sp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799592" y="3980288"/>
              <a:ext cx="1440000" cy="1440000"/>
            </a:xfrm>
            <a:prstGeom prst="rect">
              <a:avLst/>
            </a:prstGeom>
          </p:spPr>
        </p:pic>
      </p:grpSp>
      <p:sp>
        <p:nvSpPr>
          <p:cNvPr id="32" name="직사각형 31"/>
          <p:cNvSpPr/>
          <p:nvPr/>
        </p:nvSpPr>
        <p:spPr>
          <a:xfrm>
            <a:off x="4499992" y="6597352"/>
            <a:ext cx="4645327" cy="27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Icon made by [monkik, Freepik</a:t>
            </a:r>
            <a:r>
              <a:rPr lang="ko-KR" altLang="en-US" sz="1200" dirty="0" smtClean="0">
                <a:solidFill>
                  <a:schemeClr val="bg1">
                    <a:lumMod val="50000"/>
                  </a:schemeClr>
                </a:solidFill>
              </a:rPr>
              <a:t>, dDara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] from www.flaticon.com</a:t>
            </a:r>
          </a:p>
        </p:txBody>
      </p:sp>
      <p:sp>
        <p:nvSpPr>
          <p:cNvPr id="25" name="TextBox 24"/>
          <p:cNvSpPr txBox="1"/>
          <p:nvPr/>
        </p:nvSpPr>
        <p:spPr>
          <a:xfrm rot="21569650">
            <a:off x="56871" y="83011"/>
            <a:ext cx="668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2-1. </a:t>
            </a:r>
            <a:r>
              <a:rPr lang="ko-KR" altLang="en-US" sz="2000" dirty="0" err="1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사회적경제기업</a:t>
            </a:r>
            <a:r>
              <a:rPr lang="ko-KR" altLang="en-US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창업지원</a:t>
            </a:r>
            <a:endParaRPr lang="en-US" altLang="ko-KR" sz="2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901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7504" y="788618"/>
            <a:ext cx="1193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2-1-1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316082" y="794733"/>
            <a:ext cx="0" cy="486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331640" y="813662"/>
            <a:ext cx="4824507" cy="461665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창업지원 사업</a:t>
            </a: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303008" y="1681905"/>
            <a:ext cx="6723993" cy="505203"/>
            <a:chOff x="303008" y="2475140"/>
            <a:chExt cx="6723993" cy="505203"/>
          </a:xfrm>
        </p:grpSpPr>
        <p:sp>
          <p:nvSpPr>
            <p:cNvPr id="15" name="모서리가 둥근 직사각형 14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52765" y="2475140"/>
              <a:ext cx="6574236" cy="5052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지원대상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발달장애 부모 협동조합 설립 및 전환 희망자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303008" y="2575390"/>
            <a:ext cx="6514000" cy="997645"/>
            <a:chOff x="303008" y="3207367"/>
            <a:chExt cx="6514000" cy="997645"/>
          </a:xfrm>
        </p:grpSpPr>
        <p:sp>
          <p:nvSpPr>
            <p:cNvPr id="18" name="모서리가 둥근 직사각형 17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52765" y="3207367"/>
              <a:ext cx="6364243" cy="9976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19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년 지원규모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예산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955</a:t>
              </a:r>
              <a:r>
                <a:rPr lang="ko-KR" altLang="en-US" sz="2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백만원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/ 11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개 분야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60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개 팀</a:t>
              </a:r>
              <a:endPara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lnSpc>
                  <a:spcPct val="160000"/>
                </a:lnSpc>
                <a:defRPr/>
              </a:pP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                 </a:t>
              </a:r>
              <a:r>
                <a:rPr lang="en-US" altLang="ko-KR" sz="20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0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발달장애 분야 </a:t>
              </a:r>
              <a:r>
                <a:rPr lang="en-US" altLang="ko-KR" sz="20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10</a:t>
              </a:r>
              <a:r>
                <a:rPr lang="ko-KR" altLang="en-US" sz="20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개 팀 내외</a:t>
              </a:r>
              <a:r>
                <a:rPr lang="en-US" altLang="ko-KR" sz="20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endPara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303008" y="3961317"/>
            <a:ext cx="4675355" cy="505203"/>
            <a:chOff x="303008" y="3198489"/>
            <a:chExt cx="4675355" cy="505203"/>
          </a:xfrm>
        </p:grpSpPr>
        <p:sp>
          <p:nvSpPr>
            <p:cNvPr id="29" name="모서리가 둥근 직사각형 28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52765" y="3198489"/>
              <a:ext cx="4525598" cy="5052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사업시행주체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한국사회적기업진흥원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303008" y="4854801"/>
            <a:ext cx="8304554" cy="997645"/>
            <a:chOff x="303008" y="3198489"/>
            <a:chExt cx="8304554" cy="997645"/>
          </a:xfrm>
        </p:grpSpPr>
        <p:sp>
          <p:nvSpPr>
            <p:cNvPr id="32" name="모서리가 둥근 직사각형 31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2765" y="3198489"/>
              <a:ext cx="8154797" cy="9976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신청방법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협력기관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꿈고래놀이터부모협동조합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 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문의 후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이메일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신청</a:t>
              </a:r>
              <a:endPara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lnSpc>
                  <a:spcPct val="160000"/>
                </a:lnSpc>
                <a:defRPr/>
              </a:pP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          www.dreamwhale.net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imsh74@naver.com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 rot="21569650">
            <a:off x="56871" y="83011"/>
            <a:ext cx="668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2-1. </a:t>
            </a:r>
            <a:r>
              <a:rPr lang="ko-KR" altLang="en-US" sz="2000" dirty="0" err="1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사회적경제기업</a:t>
            </a:r>
            <a:r>
              <a:rPr lang="ko-KR" altLang="en-US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창업지원</a:t>
            </a:r>
            <a:endParaRPr lang="en-US" altLang="ko-KR" sz="2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976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7504" y="788618"/>
            <a:ext cx="1193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2-1-1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316082" y="794733"/>
            <a:ext cx="0" cy="486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331640" y="813662"/>
            <a:ext cx="4824507" cy="461665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창업지원 사업</a:t>
            </a: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grpSp>
        <p:nvGrpSpPr>
          <p:cNvPr id="23" name="그룹 22"/>
          <p:cNvGrpSpPr/>
          <p:nvPr/>
        </p:nvGrpSpPr>
        <p:grpSpPr>
          <a:xfrm>
            <a:off x="303008" y="5023643"/>
            <a:ext cx="8596300" cy="997645"/>
            <a:chOff x="303008" y="3207367"/>
            <a:chExt cx="8596300" cy="997645"/>
          </a:xfrm>
        </p:grpSpPr>
        <p:sp>
          <p:nvSpPr>
            <p:cNvPr id="24" name="모서리가 둥근 직사각형 23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452765" y="3207367"/>
              <a:ext cx="8446543" cy="9976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세부 문의처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한국사회적기업진흥원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설립지원팀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(031-697-7731, 7734)</a:t>
              </a:r>
            </a:p>
            <a:p>
              <a:pPr>
                <a:lnSpc>
                  <a:spcPct val="160000"/>
                </a:lnSpc>
                <a:defRPr/>
              </a:pP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              </a:t>
              </a:r>
              <a:r>
                <a:rPr lang="ko-KR" altLang="en-US" sz="2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꿈고래놀이터부모협동조합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(031-296-0412)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306290" y="2642748"/>
            <a:ext cx="578161" cy="395150"/>
            <a:chOff x="303008" y="2492896"/>
            <a:chExt cx="1257753" cy="535531"/>
          </a:xfrm>
        </p:grpSpPr>
        <p:sp>
          <p:nvSpPr>
            <p:cNvPr id="15" name="모서리가 둥근 직사각형 14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52765" y="2492896"/>
              <a:ext cx="1107996" cy="5355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34" name="그림 95" descr="IBK-37.png"/>
          <p:cNvPicPr>
            <a:picLocks noChangeAspect="1"/>
          </p:cNvPicPr>
          <p:nvPr/>
        </p:nvPicPr>
        <p:blipFill>
          <a:blip r:embed="rId5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13320" y="3035927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그림 96" descr="IBK-37.png"/>
          <p:cNvPicPr>
            <a:picLocks noChangeAspect="1"/>
          </p:cNvPicPr>
          <p:nvPr/>
        </p:nvPicPr>
        <p:blipFill>
          <a:blip r:embed="rId6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4143" y="3035927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양쪽 모서리가 둥근 사각형 35"/>
          <p:cNvSpPr/>
          <p:nvPr/>
        </p:nvSpPr>
        <p:spPr bwMode="auto">
          <a:xfrm>
            <a:off x="326867" y="2932739"/>
            <a:ext cx="1896590" cy="1584549"/>
          </a:xfrm>
          <a:prstGeom prst="round2SameRect">
            <a:avLst>
              <a:gd name="adj1" fmla="val 0"/>
              <a:gd name="adj2" fmla="val 2707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7" name="Text Box 50"/>
          <p:cNvSpPr txBox="1">
            <a:spLocks noChangeArrowheads="1"/>
          </p:cNvSpPr>
          <p:nvPr/>
        </p:nvSpPr>
        <p:spPr bwMode="auto">
          <a:xfrm>
            <a:off x="366693" y="2636769"/>
            <a:ext cx="185257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sz="2000" kern="0" spc="-100" dirty="0">
                <a:solidFill>
                  <a:prstClr val="white"/>
                </a:solidFill>
              </a:rPr>
              <a:t>사기대출 신청자의 주요 특징</a:t>
            </a:r>
          </a:p>
        </p:txBody>
      </p:sp>
      <p:sp>
        <p:nvSpPr>
          <p:cNvPr id="38" name="모서리가 둥근 직사각형 37"/>
          <p:cNvSpPr/>
          <p:nvPr/>
        </p:nvSpPr>
        <p:spPr bwMode="auto">
          <a:xfrm>
            <a:off x="315008" y="2418389"/>
            <a:ext cx="1915875" cy="6343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00000"/>
              </a:lnSpc>
              <a:defRPr/>
            </a:pPr>
            <a:endParaRPr lang="ko-KR" altLang="ko-KR" sz="1500">
              <a:solidFill>
                <a:srgbClr val="000000"/>
              </a:solidFill>
            </a:endParaRPr>
          </a:p>
        </p:txBody>
      </p:sp>
      <p:sp>
        <p:nvSpPr>
          <p:cNvPr id="39" name="TextBox 86"/>
          <p:cNvSpPr txBox="1">
            <a:spLocks noChangeArrowheads="1"/>
          </p:cNvSpPr>
          <p:nvPr/>
        </p:nvSpPr>
        <p:spPr bwMode="auto">
          <a:xfrm>
            <a:off x="362126" y="2569453"/>
            <a:ext cx="17849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800" spc="-15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</a:t>
            </a:r>
            <a:r>
              <a:rPr lang="ko-KR" altLang="en-US" sz="1800" spc="-15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 </a:t>
            </a:r>
            <a:r>
              <a:rPr lang="en-US" altLang="ko-KR" sz="1800" spc="-15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17</a:t>
            </a:r>
            <a:r>
              <a:rPr lang="ko-KR" altLang="en-US" sz="1800" spc="-15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일 </a:t>
            </a:r>
            <a:r>
              <a:rPr lang="en-US" altLang="ko-KR" sz="1800" spc="-15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~ 5</a:t>
            </a:r>
            <a:r>
              <a:rPr lang="ko-KR" altLang="en-US" sz="1800" spc="-15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endParaRPr lang="ko-KR" altLang="en-US" sz="18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527461" y="3282529"/>
            <a:ext cx="1449218" cy="969657"/>
            <a:chOff x="561153" y="2541796"/>
            <a:chExt cx="3714471" cy="1399967"/>
          </a:xfrm>
        </p:grpSpPr>
        <p:sp>
          <p:nvSpPr>
            <p:cNvPr id="41" name="모서리가 둥근 직사각형 40"/>
            <p:cNvSpPr/>
            <p:nvPr/>
          </p:nvSpPr>
          <p:spPr bwMode="auto">
            <a:xfrm>
              <a:off x="561153" y="2541796"/>
              <a:ext cx="3714471" cy="1399967"/>
            </a:xfrm>
            <a:prstGeom prst="roundRect">
              <a:avLst>
                <a:gd name="adj" fmla="val 9683"/>
              </a:avLst>
            </a:prstGeom>
            <a:gradFill flip="none" rotWithShape="1">
              <a:gsLst>
                <a:gs pos="30000">
                  <a:srgbClr val="F0F3F4"/>
                </a:gs>
                <a:gs pos="40000">
                  <a:srgbClr val="D7DDE1"/>
                </a:gs>
                <a:gs pos="85000">
                  <a:schemeClr val="bg1"/>
                </a:gs>
              </a:gsLst>
              <a:lin ang="5400000" scaled="1"/>
              <a:tileRect/>
            </a:gradFill>
            <a:ln w="3175">
              <a:gradFill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</a:ln>
            <a:effectLst>
              <a:outerShdw blurRad="254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예비 </a:t>
              </a:r>
              <a:r>
                <a:rPr lang="ko-KR" altLang="en-US" sz="16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창업팀</a:t>
              </a:r>
              <a:endPara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모집</a:t>
              </a:r>
              <a:endParaRPr lang="ko-KR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42" name="직사각형 30"/>
            <p:cNvSpPr>
              <a:spLocks noChangeArrowheads="1"/>
            </p:cNvSpPr>
            <p:nvPr/>
          </p:nvSpPr>
          <p:spPr bwMode="auto">
            <a:xfrm>
              <a:off x="630238" y="2603500"/>
              <a:ext cx="3530600" cy="666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defRPr/>
              </a:pPr>
              <a:endParaRPr lang="ko-KR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2503623" y="2642748"/>
            <a:ext cx="578161" cy="395150"/>
            <a:chOff x="303008" y="2492896"/>
            <a:chExt cx="1257753" cy="535531"/>
          </a:xfrm>
        </p:grpSpPr>
        <p:sp>
          <p:nvSpPr>
            <p:cNvPr id="63" name="모서리가 둥근 직사각형 62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452765" y="2492896"/>
              <a:ext cx="1107996" cy="5355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54" name="그림 95" descr="IBK-37.png"/>
          <p:cNvPicPr>
            <a:picLocks noChangeAspect="1"/>
          </p:cNvPicPr>
          <p:nvPr/>
        </p:nvPicPr>
        <p:blipFill>
          <a:blip r:embed="rId5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0653" y="3035927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그림 96" descr="IBK-37.png"/>
          <p:cNvPicPr>
            <a:picLocks noChangeAspect="1"/>
          </p:cNvPicPr>
          <p:nvPr/>
        </p:nvPicPr>
        <p:blipFill>
          <a:blip r:embed="rId6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81476" y="3035927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양쪽 모서리가 둥근 사각형 55"/>
          <p:cNvSpPr/>
          <p:nvPr/>
        </p:nvSpPr>
        <p:spPr bwMode="auto">
          <a:xfrm>
            <a:off x="2524200" y="2932739"/>
            <a:ext cx="1896590" cy="1584549"/>
          </a:xfrm>
          <a:prstGeom prst="round2SameRect">
            <a:avLst>
              <a:gd name="adj1" fmla="val 0"/>
              <a:gd name="adj2" fmla="val 2707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7" name="Text Box 50"/>
          <p:cNvSpPr txBox="1">
            <a:spLocks noChangeArrowheads="1"/>
          </p:cNvSpPr>
          <p:nvPr/>
        </p:nvSpPr>
        <p:spPr bwMode="auto">
          <a:xfrm>
            <a:off x="2564026" y="2636769"/>
            <a:ext cx="185257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sz="2000" kern="0" spc="-100" dirty="0">
                <a:solidFill>
                  <a:prstClr val="white"/>
                </a:solidFill>
              </a:rPr>
              <a:t>사기대출 신청자의 주요 특징</a:t>
            </a:r>
          </a:p>
        </p:txBody>
      </p:sp>
      <p:sp>
        <p:nvSpPr>
          <p:cNvPr id="58" name="모서리가 둥근 직사각형 57"/>
          <p:cNvSpPr/>
          <p:nvPr/>
        </p:nvSpPr>
        <p:spPr bwMode="auto">
          <a:xfrm>
            <a:off x="2512341" y="2418389"/>
            <a:ext cx="1915875" cy="6343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00000"/>
              </a:lnSpc>
              <a:defRPr/>
            </a:pPr>
            <a:endParaRPr lang="ko-KR" altLang="ko-KR" sz="1500">
              <a:solidFill>
                <a:srgbClr val="000000"/>
              </a:solidFill>
            </a:endParaRPr>
          </a:p>
        </p:txBody>
      </p:sp>
      <p:sp>
        <p:nvSpPr>
          <p:cNvPr id="59" name="TextBox 86"/>
          <p:cNvSpPr txBox="1">
            <a:spLocks noChangeArrowheads="1"/>
          </p:cNvSpPr>
          <p:nvPr/>
        </p:nvSpPr>
        <p:spPr bwMode="auto">
          <a:xfrm>
            <a:off x="2583523" y="2569453"/>
            <a:ext cx="17849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8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</a:t>
            </a:r>
            <a:r>
              <a:rPr lang="ko-KR" altLang="en-US" sz="18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endParaRPr lang="ko-KR" altLang="en-US" sz="1800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2724794" y="3282529"/>
            <a:ext cx="1449218" cy="969657"/>
            <a:chOff x="561153" y="2541796"/>
            <a:chExt cx="3714471" cy="1399967"/>
          </a:xfrm>
        </p:grpSpPr>
        <p:sp>
          <p:nvSpPr>
            <p:cNvPr id="61" name="모서리가 둥근 직사각형 60"/>
            <p:cNvSpPr/>
            <p:nvPr/>
          </p:nvSpPr>
          <p:spPr bwMode="auto">
            <a:xfrm>
              <a:off x="561153" y="2541796"/>
              <a:ext cx="3714471" cy="1399967"/>
            </a:xfrm>
            <a:prstGeom prst="roundRect">
              <a:avLst>
                <a:gd name="adj" fmla="val 9683"/>
              </a:avLst>
            </a:prstGeom>
            <a:gradFill flip="none" rotWithShape="1">
              <a:gsLst>
                <a:gs pos="30000">
                  <a:srgbClr val="F0F3F4"/>
                </a:gs>
                <a:gs pos="40000">
                  <a:srgbClr val="D7DDE1"/>
                </a:gs>
                <a:gs pos="85000">
                  <a:schemeClr val="bg1"/>
                </a:gs>
              </a:gsLst>
              <a:lin ang="5400000" scaled="1"/>
              <a:tileRect/>
            </a:gradFill>
            <a:ln w="3175">
              <a:gradFill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</a:ln>
            <a:effectLst>
              <a:outerShdw blurRad="254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예비 </a:t>
              </a:r>
              <a:r>
                <a:rPr lang="ko-KR" altLang="en-US" sz="16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참업팀</a:t>
              </a:r>
              <a:endPara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선발</a:t>
              </a:r>
              <a:endParaRPr lang="ko-KR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2" name="직사각형 30"/>
            <p:cNvSpPr>
              <a:spLocks noChangeArrowheads="1"/>
            </p:cNvSpPr>
            <p:nvPr/>
          </p:nvSpPr>
          <p:spPr bwMode="auto">
            <a:xfrm>
              <a:off x="630238" y="2603500"/>
              <a:ext cx="3530600" cy="666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defRPr/>
              </a:pPr>
              <a:endParaRPr lang="ko-KR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4700956" y="2642748"/>
            <a:ext cx="578161" cy="395150"/>
            <a:chOff x="303008" y="2492896"/>
            <a:chExt cx="1257753" cy="535531"/>
          </a:xfrm>
        </p:grpSpPr>
        <p:sp>
          <p:nvSpPr>
            <p:cNvPr id="77" name="모서리가 둥근 직사각형 76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452765" y="2492896"/>
              <a:ext cx="1107996" cy="5355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67" name="그림 95" descr="IBK-37.png"/>
          <p:cNvPicPr>
            <a:picLocks noChangeAspect="1"/>
          </p:cNvPicPr>
          <p:nvPr/>
        </p:nvPicPr>
        <p:blipFill>
          <a:blip r:embed="rId5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07986" y="3035927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그림 96" descr="IBK-37.png"/>
          <p:cNvPicPr>
            <a:picLocks noChangeAspect="1"/>
          </p:cNvPicPr>
          <p:nvPr/>
        </p:nvPicPr>
        <p:blipFill>
          <a:blip r:embed="rId6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8809" y="3035927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양쪽 모서리가 둥근 사각형 68"/>
          <p:cNvSpPr/>
          <p:nvPr/>
        </p:nvSpPr>
        <p:spPr bwMode="auto">
          <a:xfrm>
            <a:off x="4721533" y="2932739"/>
            <a:ext cx="1896590" cy="1584549"/>
          </a:xfrm>
          <a:prstGeom prst="round2SameRect">
            <a:avLst>
              <a:gd name="adj1" fmla="val 0"/>
              <a:gd name="adj2" fmla="val 2707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0" name="Text Box 50"/>
          <p:cNvSpPr txBox="1">
            <a:spLocks noChangeArrowheads="1"/>
          </p:cNvSpPr>
          <p:nvPr/>
        </p:nvSpPr>
        <p:spPr bwMode="auto">
          <a:xfrm>
            <a:off x="4761359" y="2636769"/>
            <a:ext cx="185257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sz="2000" kern="0" spc="-100" dirty="0">
                <a:solidFill>
                  <a:prstClr val="white"/>
                </a:solidFill>
              </a:rPr>
              <a:t>사기대출 신청자의 주요 특징</a:t>
            </a:r>
          </a:p>
        </p:txBody>
      </p:sp>
      <p:sp>
        <p:nvSpPr>
          <p:cNvPr id="71" name="모서리가 둥근 직사각형 70"/>
          <p:cNvSpPr/>
          <p:nvPr/>
        </p:nvSpPr>
        <p:spPr bwMode="auto">
          <a:xfrm>
            <a:off x="4709674" y="2418389"/>
            <a:ext cx="1915875" cy="6343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00000"/>
              </a:lnSpc>
              <a:defRPr/>
            </a:pPr>
            <a:endParaRPr lang="ko-KR" altLang="ko-KR" sz="1500">
              <a:solidFill>
                <a:srgbClr val="000000"/>
              </a:solidFill>
            </a:endParaRPr>
          </a:p>
        </p:txBody>
      </p:sp>
      <p:sp>
        <p:nvSpPr>
          <p:cNvPr id="72" name="TextBox 86"/>
          <p:cNvSpPr txBox="1">
            <a:spLocks noChangeArrowheads="1"/>
          </p:cNvSpPr>
          <p:nvPr/>
        </p:nvSpPr>
        <p:spPr bwMode="auto">
          <a:xfrm>
            <a:off x="4780856" y="2569453"/>
            <a:ext cx="17849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8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</a:t>
            </a:r>
            <a:r>
              <a:rPr lang="ko-KR" altLang="en-US" sz="18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r>
              <a:rPr lang="en-US" altLang="ko-KR" sz="18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~11</a:t>
            </a:r>
            <a:r>
              <a:rPr lang="ko-KR" altLang="en-US" sz="18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endParaRPr lang="ko-KR" altLang="en-US" sz="1800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4922127" y="3282529"/>
            <a:ext cx="1449218" cy="969657"/>
            <a:chOff x="561153" y="2541796"/>
            <a:chExt cx="3714471" cy="1399967"/>
          </a:xfrm>
        </p:grpSpPr>
        <p:sp>
          <p:nvSpPr>
            <p:cNvPr id="74" name="모서리가 둥근 직사각형 73"/>
            <p:cNvSpPr/>
            <p:nvPr/>
          </p:nvSpPr>
          <p:spPr bwMode="auto">
            <a:xfrm>
              <a:off x="561153" y="2541796"/>
              <a:ext cx="3714471" cy="1399967"/>
            </a:xfrm>
            <a:prstGeom prst="roundRect">
              <a:avLst>
                <a:gd name="adj" fmla="val 9683"/>
              </a:avLst>
            </a:prstGeom>
            <a:gradFill flip="none" rotWithShape="1">
              <a:gsLst>
                <a:gs pos="30000">
                  <a:srgbClr val="F0F3F4"/>
                </a:gs>
                <a:gs pos="40000">
                  <a:srgbClr val="D7DDE1"/>
                </a:gs>
                <a:gs pos="85000">
                  <a:schemeClr val="bg1"/>
                </a:gs>
              </a:gsLst>
              <a:lin ang="5400000" scaled="1"/>
              <a:tileRect/>
            </a:gradFill>
            <a:ln w="3175">
              <a:gradFill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</a:ln>
            <a:effectLst>
              <a:outerShdw blurRad="254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창업 지원</a:t>
              </a:r>
              <a:endPara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프로그램 운영</a:t>
              </a:r>
              <a:endParaRPr lang="ko-KR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5" name="직사각형 30"/>
            <p:cNvSpPr>
              <a:spLocks noChangeArrowheads="1"/>
            </p:cNvSpPr>
            <p:nvPr/>
          </p:nvSpPr>
          <p:spPr bwMode="auto">
            <a:xfrm>
              <a:off x="630238" y="2603500"/>
              <a:ext cx="3530600" cy="666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defRPr/>
              </a:pPr>
              <a:endParaRPr lang="ko-KR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6898289" y="2642748"/>
            <a:ext cx="578161" cy="395150"/>
            <a:chOff x="303008" y="2492896"/>
            <a:chExt cx="1257753" cy="535531"/>
          </a:xfrm>
        </p:grpSpPr>
        <p:sp>
          <p:nvSpPr>
            <p:cNvPr id="90" name="모서리가 둥근 직사각형 89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452765" y="2492896"/>
              <a:ext cx="1107996" cy="5355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81" name="그림 95" descr="IBK-37.png"/>
          <p:cNvPicPr>
            <a:picLocks noChangeAspect="1"/>
          </p:cNvPicPr>
          <p:nvPr/>
        </p:nvPicPr>
        <p:blipFill>
          <a:blip r:embed="rId5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05319" y="3035927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" name="그림 96" descr="IBK-37.png"/>
          <p:cNvPicPr>
            <a:picLocks noChangeAspect="1"/>
          </p:cNvPicPr>
          <p:nvPr/>
        </p:nvPicPr>
        <p:blipFill>
          <a:blip r:embed="rId6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76142" y="3035927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양쪽 모서리가 둥근 사각형 82"/>
          <p:cNvSpPr/>
          <p:nvPr/>
        </p:nvSpPr>
        <p:spPr bwMode="auto">
          <a:xfrm>
            <a:off x="6918866" y="2932739"/>
            <a:ext cx="1896590" cy="1584549"/>
          </a:xfrm>
          <a:prstGeom prst="round2SameRect">
            <a:avLst>
              <a:gd name="adj1" fmla="val 0"/>
              <a:gd name="adj2" fmla="val 2707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6958692" y="2636769"/>
            <a:ext cx="185257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sz="2000" kern="0" spc="-100" dirty="0">
                <a:solidFill>
                  <a:prstClr val="white"/>
                </a:solidFill>
              </a:rPr>
              <a:t>사기대출 신청자의 주요 특징</a:t>
            </a:r>
          </a:p>
        </p:txBody>
      </p:sp>
      <p:sp>
        <p:nvSpPr>
          <p:cNvPr id="85" name="모서리가 둥근 직사각형 84"/>
          <p:cNvSpPr/>
          <p:nvPr/>
        </p:nvSpPr>
        <p:spPr bwMode="auto">
          <a:xfrm>
            <a:off x="6907007" y="2418389"/>
            <a:ext cx="1915875" cy="6343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00000"/>
              </a:lnSpc>
              <a:defRPr/>
            </a:pPr>
            <a:endParaRPr lang="ko-KR" altLang="ko-KR" sz="1500">
              <a:solidFill>
                <a:srgbClr val="000000"/>
              </a:solidFill>
            </a:endParaRPr>
          </a:p>
        </p:txBody>
      </p:sp>
      <p:sp>
        <p:nvSpPr>
          <p:cNvPr id="86" name="TextBox 86"/>
          <p:cNvSpPr txBox="1">
            <a:spLocks noChangeArrowheads="1"/>
          </p:cNvSpPr>
          <p:nvPr/>
        </p:nvSpPr>
        <p:spPr bwMode="auto">
          <a:xfrm>
            <a:off x="6978189" y="2569453"/>
            <a:ext cx="17849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8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11</a:t>
            </a:r>
            <a:r>
              <a:rPr lang="ko-KR" altLang="en-US" sz="18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endParaRPr lang="ko-KR" altLang="en-US" sz="1800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7119460" y="3282529"/>
            <a:ext cx="1449218" cy="969657"/>
            <a:chOff x="561153" y="2541796"/>
            <a:chExt cx="3714471" cy="1399967"/>
          </a:xfrm>
        </p:grpSpPr>
        <p:sp>
          <p:nvSpPr>
            <p:cNvPr id="88" name="모서리가 둥근 직사각형 87"/>
            <p:cNvSpPr/>
            <p:nvPr/>
          </p:nvSpPr>
          <p:spPr bwMode="auto">
            <a:xfrm>
              <a:off x="561153" y="2541796"/>
              <a:ext cx="3714471" cy="1399967"/>
            </a:xfrm>
            <a:prstGeom prst="roundRect">
              <a:avLst>
                <a:gd name="adj" fmla="val 9683"/>
              </a:avLst>
            </a:prstGeom>
            <a:gradFill flip="none" rotWithShape="1">
              <a:gsLst>
                <a:gs pos="30000">
                  <a:srgbClr val="F0F3F4"/>
                </a:gs>
                <a:gs pos="40000">
                  <a:srgbClr val="D7DDE1"/>
                </a:gs>
                <a:gs pos="85000">
                  <a:schemeClr val="bg1"/>
                </a:gs>
              </a:gsLst>
              <a:lin ang="5400000" scaled="1"/>
              <a:tileRect/>
            </a:gradFill>
            <a:ln w="3175">
              <a:gradFill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</a:ln>
            <a:effectLst>
              <a:outerShdw blurRad="254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성과공유회</a:t>
              </a:r>
              <a:endParaRPr lang="ko-KR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89" name="직사각형 30"/>
            <p:cNvSpPr>
              <a:spLocks noChangeArrowheads="1"/>
            </p:cNvSpPr>
            <p:nvPr/>
          </p:nvSpPr>
          <p:spPr bwMode="auto">
            <a:xfrm>
              <a:off x="630238" y="2603500"/>
              <a:ext cx="3530600" cy="666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defRPr/>
              </a:pPr>
              <a:endParaRPr lang="ko-KR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03008" y="1635821"/>
            <a:ext cx="1360345" cy="505203"/>
            <a:chOff x="303008" y="2465278"/>
            <a:chExt cx="1360345" cy="505203"/>
          </a:xfrm>
        </p:grpSpPr>
        <p:sp>
          <p:nvSpPr>
            <p:cNvPr id="93" name="모서리가 둥근 직사각형 92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452765" y="2465278"/>
              <a:ext cx="1210588" cy="5052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79" name="TextBox 78"/>
          <p:cNvSpPr txBox="1"/>
          <p:nvPr/>
        </p:nvSpPr>
        <p:spPr>
          <a:xfrm rot="21569650">
            <a:off x="56871" y="83011"/>
            <a:ext cx="668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2-1. </a:t>
            </a:r>
            <a:r>
              <a:rPr lang="ko-KR" altLang="en-US" sz="2000" dirty="0" err="1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사회적경제기업</a:t>
            </a:r>
            <a:r>
              <a:rPr lang="ko-KR" altLang="en-US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창업지원</a:t>
            </a:r>
            <a:endParaRPr lang="en-US" altLang="ko-KR" sz="2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209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7504" y="788618"/>
            <a:ext cx="1193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2-1-3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316082" y="794733"/>
            <a:ext cx="0" cy="486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331640" y="813662"/>
            <a:ext cx="4824507" cy="461665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</a:t>
            </a: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맞춤형 아카데미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sp>
        <p:nvSpPr>
          <p:cNvPr id="15" name="모서리가 둥근 직사각형 14"/>
          <p:cNvSpPr/>
          <p:nvPr/>
        </p:nvSpPr>
        <p:spPr bwMode="auto">
          <a:xfrm rot="18000000">
            <a:off x="303008" y="1891935"/>
            <a:ext cx="123081" cy="123081"/>
          </a:xfrm>
          <a:prstGeom prst="roundRect">
            <a:avLst/>
          </a:prstGeom>
          <a:gradFill flip="none" rotWithShape="1">
            <a:gsLst>
              <a:gs pos="40000">
                <a:srgbClr val="249FFD"/>
              </a:gs>
              <a:gs pos="48000">
                <a:srgbClr val="004C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52765" y="1628800"/>
            <a:ext cx="5205271" cy="5052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사업명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en-US" altLang="ko-KR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2019</a:t>
            </a:r>
            <a:r>
              <a: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협동조합 맞춤형 아카데미 </a:t>
            </a:r>
          </a:p>
        </p:txBody>
      </p:sp>
      <p:sp>
        <p:nvSpPr>
          <p:cNvPr id="23" name="모서리가 둥근 직사각형 22"/>
          <p:cNvSpPr/>
          <p:nvPr/>
        </p:nvSpPr>
        <p:spPr bwMode="auto">
          <a:xfrm rot="18000000">
            <a:off x="303008" y="2656242"/>
            <a:ext cx="123081" cy="123081"/>
          </a:xfrm>
          <a:prstGeom prst="roundRect">
            <a:avLst/>
          </a:prstGeom>
          <a:gradFill flip="none" rotWithShape="1">
            <a:gsLst>
              <a:gs pos="40000">
                <a:srgbClr val="249FFD"/>
              </a:gs>
              <a:gs pos="48000">
                <a:srgbClr val="004C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52765" y="2384392"/>
            <a:ext cx="1210588" cy="5052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지원내용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52765" y="2917050"/>
            <a:ext cx="8703024" cy="1865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ko-KR" altLang="en-US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조합에 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필요한 교육을 당사자가 직접 계획수립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운영할 수 있도록 사업비 일체 </a:t>
            </a:r>
            <a:r>
              <a:rPr lang="ko-KR" altLang="en-US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지원</a:t>
            </a:r>
            <a:endParaRPr lang="en-US" altLang="ko-KR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지원기간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연중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연초 제안서 접수 및 심사를 통해 교육기관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선정완료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 기관 당 지원내용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교육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시간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별 차등 지급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34900100"/>
              </p:ext>
            </p:extLst>
          </p:nvPr>
        </p:nvGraphicFramePr>
        <p:xfrm>
          <a:off x="588165" y="4974808"/>
          <a:ext cx="8191306" cy="10464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03515"/>
                <a:gridCol w="2362597"/>
                <a:gridCol w="2362597"/>
                <a:gridCol w="2362597"/>
              </a:tblGrid>
              <a:tr h="52324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시 간</a:t>
                      </a:r>
                      <a:endParaRPr lang="ko-KR" altLang="en-US" sz="1600" kern="1200" spc="-1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8</a:t>
                      </a:r>
                      <a:r>
                        <a:rPr lang="ko-KR" altLang="en-US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시간</a:t>
                      </a:r>
                      <a:endParaRPr lang="ko-KR" altLang="en-US" sz="1600" kern="1200" spc="-1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시간</a:t>
                      </a:r>
                      <a:endParaRPr lang="ko-KR" altLang="en-US" sz="1600" kern="1200" spc="-1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16</a:t>
                      </a:r>
                      <a:r>
                        <a:rPr lang="ko-KR" altLang="en-US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시간</a:t>
                      </a:r>
                      <a:endParaRPr lang="en-US" altLang="ko-KR" sz="1600" kern="1200" spc="-12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지원금</a:t>
                      </a:r>
                      <a:endParaRPr lang="ko-KR" altLang="en-US" sz="1600" kern="1200" spc="-1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300</a:t>
                      </a:r>
                      <a:r>
                        <a:rPr lang="ko-KR" altLang="en-US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만원 이내</a:t>
                      </a:r>
                      <a:endParaRPr lang="ko-KR" altLang="en-US" sz="1600" kern="1200" spc="-1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400</a:t>
                      </a:r>
                      <a:r>
                        <a:rPr lang="ko-KR" altLang="en-US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만원 이내</a:t>
                      </a:r>
                      <a:endParaRPr lang="ko-KR" altLang="en-US" sz="1600" kern="1200" spc="-1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500</a:t>
                      </a:r>
                      <a:r>
                        <a:rPr lang="ko-KR" altLang="en-US" sz="1600" kern="1200" spc="-12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만원 이내</a:t>
                      </a:r>
                      <a:endParaRPr lang="ko-KR" altLang="en-US" sz="1600" kern="1200" spc="-1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 rot="21569650">
            <a:off x="56871" y="83011"/>
            <a:ext cx="668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2-1. </a:t>
            </a:r>
            <a:r>
              <a:rPr lang="ko-KR" altLang="en-US" sz="2000" dirty="0" err="1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사회적경제기업</a:t>
            </a:r>
            <a:r>
              <a:rPr lang="ko-KR" altLang="en-US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창업지원</a:t>
            </a:r>
            <a:endParaRPr lang="en-US" altLang="ko-KR" sz="2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928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7504" y="788618"/>
            <a:ext cx="1193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2-1-3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316082" y="794733"/>
            <a:ext cx="0" cy="486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331640" y="813662"/>
            <a:ext cx="4824507" cy="461665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</a:t>
            </a: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맞춤형 아카데미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grpSp>
        <p:nvGrpSpPr>
          <p:cNvPr id="16" name="그룹 15"/>
          <p:cNvGrpSpPr/>
          <p:nvPr/>
        </p:nvGrpSpPr>
        <p:grpSpPr>
          <a:xfrm>
            <a:off x="303008" y="1874036"/>
            <a:ext cx="8945755" cy="1027974"/>
            <a:chOff x="303008" y="2492896"/>
            <a:chExt cx="8945755" cy="1027974"/>
          </a:xfrm>
        </p:grpSpPr>
        <p:sp>
          <p:nvSpPr>
            <p:cNvPr id="18" name="모서리가 둥근 직사각형 17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52765" y="2492896"/>
              <a:ext cx="8795998" cy="10279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지원대상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협동조합 및 해당 분야에 대한 전문지식과 인력을 갖춘 </a:t>
              </a:r>
              <a:r>
                <a:rPr lang="ko-KR" altLang="en-US" sz="20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교육기관</a:t>
              </a:r>
              <a:endParaRPr lang="en-US" altLang="ko-KR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lnSpc>
                  <a:spcPct val="160000"/>
                </a:lnSpc>
                <a:defRPr/>
              </a:pPr>
              <a:r>
                <a:rPr lang="en-US" altLang="ko-KR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     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(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단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1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명 이상의 전담인력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행정지원인력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을 보유한 법인 또는 단체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303008" y="3011806"/>
            <a:ext cx="8418367" cy="505203"/>
            <a:chOff x="303008" y="3234001"/>
            <a:chExt cx="8418367" cy="505203"/>
          </a:xfrm>
        </p:grpSpPr>
        <p:sp>
          <p:nvSpPr>
            <p:cNvPr id="22" name="모서리가 둥근 직사각형 21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452765" y="3234001"/>
              <a:ext cx="8268610" cy="5052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19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년 지원규모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예산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150</a:t>
              </a:r>
              <a:r>
                <a:rPr lang="ko-KR" altLang="en-US" sz="2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백만원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/ 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교육과정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개 운영 시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500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만원 이내</a:t>
              </a:r>
              <a:endPara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303008" y="3861994"/>
            <a:ext cx="4675355" cy="505203"/>
            <a:chOff x="303008" y="3234001"/>
            <a:chExt cx="4675355" cy="505203"/>
          </a:xfrm>
        </p:grpSpPr>
        <p:sp>
          <p:nvSpPr>
            <p:cNvPr id="29" name="모서리가 둥근 직사각형 28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52765" y="3234001"/>
              <a:ext cx="4525598" cy="5052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사업시행주체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한국사회적기업진흥원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303008" y="4735611"/>
            <a:ext cx="8905359" cy="1077218"/>
            <a:chOff x="303008" y="3234001"/>
            <a:chExt cx="8905359" cy="1077218"/>
          </a:xfrm>
        </p:grpSpPr>
        <p:sp>
          <p:nvSpPr>
            <p:cNvPr id="32" name="모서리가 둥근 직사각형 31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2765" y="3234001"/>
              <a:ext cx="8755602" cy="107721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신청방법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en-US" altLang="ko-KR" sz="2000" spc="-4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2019</a:t>
              </a:r>
              <a:r>
                <a:rPr lang="ko-KR" altLang="en-US" sz="2000" spc="-4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년 협동조합 맞춤형 아카데미 운영기관 신청서</a:t>
              </a:r>
              <a:r>
                <a:rPr lang="en-US" altLang="ko-KR" sz="2000" spc="-4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2000" spc="-4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구비서류 등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endPara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lnSpc>
                  <a:spcPct val="160000"/>
                </a:lnSpc>
                <a:defRPr/>
              </a:pP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          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온라인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(www.coop.go.kr) 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제출</a:t>
              </a:r>
              <a:endPara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 rot="21569650">
            <a:off x="56871" y="83011"/>
            <a:ext cx="668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2-1. </a:t>
            </a:r>
            <a:r>
              <a:rPr lang="ko-KR" altLang="en-US" sz="2000" dirty="0" err="1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사회적경제기업</a:t>
            </a:r>
            <a:r>
              <a:rPr lang="ko-KR" altLang="en-US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창업지원</a:t>
            </a:r>
            <a:endParaRPr lang="en-US" altLang="ko-KR" sz="2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807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grpSp>
        <p:nvGrpSpPr>
          <p:cNvPr id="65" name="그룹 64"/>
          <p:cNvGrpSpPr/>
          <p:nvPr/>
        </p:nvGrpSpPr>
        <p:grpSpPr>
          <a:xfrm>
            <a:off x="303008" y="5258583"/>
            <a:ext cx="7031769" cy="978729"/>
            <a:chOff x="303008" y="3234001"/>
            <a:chExt cx="7031769" cy="978729"/>
          </a:xfrm>
        </p:grpSpPr>
        <p:sp>
          <p:nvSpPr>
            <p:cNvPr id="79" name="모서리가 둥근 직사각형 78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452765" y="3234001"/>
              <a:ext cx="6882012" cy="9787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세부 문의처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한국사회적기업진흥원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협력운영팀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(031-697-7743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</a:p>
            <a:p>
              <a:pPr>
                <a:lnSpc>
                  <a:spcPct val="160000"/>
                </a:lnSpc>
                <a:defRPr/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             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협동조합 공식홈페이지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(www.coop.go.kr)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306290" y="2474597"/>
            <a:ext cx="578161" cy="395150"/>
            <a:chOff x="303008" y="2492896"/>
            <a:chExt cx="1257753" cy="535531"/>
          </a:xfrm>
        </p:grpSpPr>
        <p:sp>
          <p:nvSpPr>
            <p:cNvPr id="94" name="모서리가 둥근 직사각형 93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452765" y="2492896"/>
              <a:ext cx="1107996" cy="5355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96" name="그림 95" descr="IBK-37.png"/>
          <p:cNvPicPr>
            <a:picLocks noChangeAspect="1"/>
          </p:cNvPicPr>
          <p:nvPr/>
        </p:nvPicPr>
        <p:blipFill>
          <a:blip r:embed="rId5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13320" y="2867776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" name="그림 96" descr="IBK-37.png"/>
          <p:cNvPicPr>
            <a:picLocks noChangeAspect="1"/>
          </p:cNvPicPr>
          <p:nvPr/>
        </p:nvPicPr>
        <p:blipFill>
          <a:blip r:embed="rId6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4143" y="2867776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" name="양쪽 모서리가 둥근 사각형 97"/>
          <p:cNvSpPr/>
          <p:nvPr/>
        </p:nvSpPr>
        <p:spPr bwMode="auto">
          <a:xfrm>
            <a:off x="326867" y="2764588"/>
            <a:ext cx="1896590" cy="1584549"/>
          </a:xfrm>
          <a:prstGeom prst="round2SameRect">
            <a:avLst>
              <a:gd name="adj1" fmla="val 0"/>
              <a:gd name="adj2" fmla="val 2707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9" name="Text Box 50"/>
          <p:cNvSpPr txBox="1">
            <a:spLocks noChangeArrowheads="1"/>
          </p:cNvSpPr>
          <p:nvPr/>
        </p:nvSpPr>
        <p:spPr bwMode="auto">
          <a:xfrm>
            <a:off x="366693" y="2468618"/>
            <a:ext cx="185257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sz="2000" kern="0" spc="-100" dirty="0">
                <a:solidFill>
                  <a:prstClr val="white"/>
                </a:solidFill>
              </a:rPr>
              <a:t>사기대출 신청자의 주요 특징</a:t>
            </a:r>
          </a:p>
        </p:txBody>
      </p:sp>
      <p:sp>
        <p:nvSpPr>
          <p:cNvPr id="100" name="모서리가 둥근 직사각형 99"/>
          <p:cNvSpPr/>
          <p:nvPr/>
        </p:nvSpPr>
        <p:spPr bwMode="auto">
          <a:xfrm>
            <a:off x="315008" y="2250238"/>
            <a:ext cx="1915875" cy="6343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00000"/>
              </a:lnSpc>
              <a:defRPr/>
            </a:pPr>
            <a:endParaRPr lang="ko-KR" altLang="ko-KR" sz="1500">
              <a:solidFill>
                <a:srgbClr val="000000"/>
              </a:solidFill>
            </a:endParaRPr>
          </a:p>
        </p:txBody>
      </p:sp>
      <p:sp>
        <p:nvSpPr>
          <p:cNvPr id="101" name="TextBox 86"/>
          <p:cNvSpPr txBox="1">
            <a:spLocks noChangeArrowheads="1"/>
          </p:cNvSpPr>
          <p:nvPr/>
        </p:nvSpPr>
        <p:spPr bwMode="auto">
          <a:xfrm>
            <a:off x="434318" y="2377238"/>
            <a:ext cx="17849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2000" spc="-15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</a:t>
            </a:r>
            <a:r>
              <a:rPr lang="ko-KR" altLang="en-US" sz="2000" spc="-15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endParaRPr lang="ko-KR" altLang="en-US" sz="20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9598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02" name="그룹 101"/>
          <p:cNvGrpSpPr/>
          <p:nvPr/>
        </p:nvGrpSpPr>
        <p:grpSpPr>
          <a:xfrm>
            <a:off x="527461" y="3114378"/>
            <a:ext cx="1449218" cy="969657"/>
            <a:chOff x="561153" y="2541796"/>
            <a:chExt cx="3714471" cy="1399967"/>
          </a:xfrm>
        </p:grpSpPr>
        <p:sp>
          <p:nvSpPr>
            <p:cNvPr id="103" name="모서리가 둥근 직사각형 102"/>
            <p:cNvSpPr/>
            <p:nvPr/>
          </p:nvSpPr>
          <p:spPr bwMode="auto">
            <a:xfrm>
              <a:off x="561153" y="2541796"/>
              <a:ext cx="3714471" cy="1399967"/>
            </a:xfrm>
            <a:prstGeom prst="roundRect">
              <a:avLst>
                <a:gd name="adj" fmla="val 9683"/>
              </a:avLst>
            </a:prstGeom>
            <a:gradFill flip="none" rotWithShape="1">
              <a:gsLst>
                <a:gs pos="30000">
                  <a:srgbClr val="F0F3F4"/>
                </a:gs>
                <a:gs pos="40000">
                  <a:srgbClr val="D7DDE1"/>
                </a:gs>
                <a:gs pos="85000">
                  <a:schemeClr val="bg1"/>
                </a:gs>
              </a:gsLst>
              <a:lin ang="5400000" scaled="1"/>
              <a:tileRect/>
            </a:gradFill>
            <a:ln w="3175">
              <a:gradFill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</a:ln>
            <a:effectLst>
              <a:outerShdw blurRad="254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운영신청서</a:t>
              </a:r>
              <a:endParaRPr lang="en-US" altLang="ko-K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제출 및 평가</a:t>
              </a:r>
              <a:endParaRPr lang="ko-KR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04" name="직사각형 30"/>
            <p:cNvSpPr>
              <a:spLocks noChangeArrowheads="1"/>
            </p:cNvSpPr>
            <p:nvPr/>
          </p:nvSpPr>
          <p:spPr bwMode="auto">
            <a:xfrm>
              <a:off x="630238" y="2603500"/>
              <a:ext cx="3530600" cy="666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defRPr/>
              </a:pPr>
              <a:endParaRPr lang="ko-KR" alt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2503623" y="2474597"/>
            <a:ext cx="578161" cy="395150"/>
            <a:chOff x="303008" y="2492896"/>
            <a:chExt cx="1257753" cy="535531"/>
          </a:xfrm>
        </p:grpSpPr>
        <p:sp>
          <p:nvSpPr>
            <p:cNvPr id="106" name="모서리가 둥근 직사각형 105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452765" y="2492896"/>
              <a:ext cx="1107996" cy="5355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108" name="그림 95" descr="IBK-37.png"/>
          <p:cNvPicPr>
            <a:picLocks noChangeAspect="1"/>
          </p:cNvPicPr>
          <p:nvPr/>
        </p:nvPicPr>
        <p:blipFill>
          <a:blip r:embed="rId5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0653" y="2867776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" name="그림 96" descr="IBK-37.png"/>
          <p:cNvPicPr>
            <a:picLocks noChangeAspect="1"/>
          </p:cNvPicPr>
          <p:nvPr/>
        </p:nvPicPr>
        <p:blipFill>
          <a:blip r:embed="rId6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81476" y="2867776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양쪽 모서리가 둥근 사각형 109"/>
          <p:cNvSpPr/>
          <p:nvPr/>
        </p:nvSpPr>
        <p:spPr bwMode="auto">
          <a:xfrm>
            <a:off x="2524200" y="2764588"/>
            <a:ext cx="1896590" cy="1584549"/>
          </a:xfrm>
          <a:prstGeom prst="round2SameRect">
            <a:avLst>
              <a:gd name="adj1" fmla="val 0"/>
              <a:gd name="adj2" fmla="val 2707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11" name="Text Box 50"/>
          <p:cNvSpPr txBox="1">
            <a:spLocks noChangeArrowheads="1"/>
          </p:cNvSpPr>
          <p:nvPr/>
        </p:nvSpPr>
        <p:spPr bwMode="auto">
          <a:xfrm>
            <a:off x="2564026" y="2468618"/>
            <a:ext cx="185257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sz="2000" kern="0" spc="-100" dirty="0">
                <a:solidFill>
                  <a:prstClr val="white"/>
                </a:solidFill>
              </a:rPr>
              <a:t>사기대출 신청자의 주요 특징</a:t>
            </a:r>
          </a:p>
        </p:txBody>
      </p:sp>
      <p:sp>
        <p:nvSpPr>
          <p:cNvPr id="112" name="모서리가 둥근 직사각형 111"/>
          <p:cNvSpPr/>
          <p:nvPr/>
        </p:nvSpPr>
        <p:spPr bwMode="auto">
          <a:xfrm>
            <a:off x="2512341" y="2250238"/>
            <a:ext cx="1915875" cy="6343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00000"/>
              </a:lnSpc>
              <a:defRPr/>
            </a:pPr>
            <a:endParaRPr lang="ko-KR" altLang="ko-KR" sz="1500">
              <a:solidFill>
                <a:srgbClr val="000000"/>
              </a:solidFill>
            </a:endParaRPr>
          </a:p>
        </p:txBody>
      </p:sp>
      <p:sp>
        <p:nvSpPr>
          <p:cNvPr id="113" name="TextBox 86"/>
          <p:cNvSpPr txBox="1">
            <a:spLocks noChangeArrowheads="1"/>
          </p:cNvSpPr>
          <p:nvPr/>
        </p:nvSpPr>
        <p:spPr bwMode="auto">
          <a:xfrm>
            <a:off x="2631651" y="2377238"/>
            <a:ext cx="17849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20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</a:t>
            </a:r>
            <a:r>
              <a:rPr lang="ko-KR" altLang="en-US" sz="20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endParaRPr lang="ko-KR" altLang="en-US" sz="2000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9598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2724794" y="3114378"/>
            <a:ext cx="1449218" cy="969657"/>
            <a:chOff x="561153" y="2541796"/>
            <a:chExt cx="3714471" cy="1399967"/>
          </a:xfrm>
        </p:grpSpPr>
        <p:sp>
          <p:nvSpPr>
            <p:cNvPr id="115" name="모서리가 둥근 직사각형 114"/>
            <p:cNvSpPr/>
            <p:nvPr/>
          </p:nvSpPr>
          <p:spPr bwMode="auto">
            <a:xfrm>
              <a:off x="561153" y="2541796"/>
              <a:ext cx="3714471" cy="1399967"/>
            </a:xfrm>
            <a:prstGeom prst="roundRect">
              <a:avLst>
                <a:gd name="adj" fmla="val 9683"/>
              </a:avLst>
            </a:prstGeom>
            <a:gradFill flip="none" rotWithShape="1">
              <a:gsLst>
                <a:gs pos="30000">
                  <a:srgbClr val="F0F3F4"/>
                </a:gs>
                <a:gs pos="40000">
                  <a:srgbClr val="D7DDE1"/>
                </a:gs>
                <a:gs pos="85000">
                  <a:schemeClr val="bg1"/>
                </a:gs>
              </a:gsLst>
              <a:lin ang="5400000" scaled="1"/>
              <a:tileRect/>
            </a:gradFill>
            <a:ln w="3175">
              <a:gradFill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</a:ln>
            <a:effectLst>
              <a:outerShdw blurRad="254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협약체결</a:t>
              </a:r>
              <a:endParaRPr lang="ko-KR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16" name="직사각형 30"/>
            <p:cNvSpPr>
              <a:spLocks noChangeArrowheads="1"/>
            </p:cNvSpPr>
            <p:nvPr/>
          </p:nvSpPr>
          <p:spPr bwMode="auto">
            <a:xfrm>
              <a:off x="630238" y="2603500"/>
              <a:ext cx="3530600" cy="666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defRPr/>
              </a:pPr>
              <a:endParaRPr lang="ko-KR" alt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4700956" y="2474597"/>
            <a:ext cx="578161" cy="395150"/>
            <a:chOff x="303008" y="2492896"/>
            <a:chExt cx="1257753" cy="535531"/>
          </a:xfrm>
        </p:grpSpPr>
        <p:sp>
          <p:nvSpPr>
            <p:cNvPr id="118" name="모서리가 둥근 직사각형 117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452765" y="2492896"/>
              <a:ext cx="1107996" cy="5355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120" name="그림 95" descr="IBK-37.png"/>
          <p:cNvPicPr>
            <a:picLocks noChangeAspect="1"/>
          </p:cNvPicPr>
          <p:nvPr/>
        </p:nvPicPr>
        <p:blipFill>
          <a:blip r:embed="rId5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07986" y="2867776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그림 96" descr="IBK-37.png"/>
          <p:cNvPicPr>
            <a:picLocks noChangeAspect="1"/>
          </p:cNvPicPr>
          <p:nvPr/>
        </p:nvPicPr>
        <p:blipFill>
          <a:blip r:embed="rId6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8809" y="2867776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" name="양쪽 모서리가 둥근 사각형 121"/>
          <p:cNvSpPr/>
          <p:nvPr/>
        </p:nvSpPr>
        <p:spPr bwMode="auto">
          <a:xfrm>
            <a:off x="4721533" y="2764588"/>
            <a:ext cx="1896590" cy="1584549"/>
          </a:xfrm>
          <a:prstGeom prst="round2SameRect">
            <a:avLst>
              <a:gd name="adj1" fmla="val 0"/>
              <a:gd name="adj2" fmla="val 2707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23" name="Text Box 50"/>
          <p:cNvSpPr txBox="1">
            <a:spLocks noChangeArrowheads="1"/>
          </p:cNvSpPr>
          <p:nvPr/>
        </p:nvSpPr>
        <p:spPr bwMode="auto">
          <a:xfrm>
            <a:off x="4761359" y="2468618"/>
            <a:ext cx="185257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sz="2000" kern="0" spc="-100" dirty="0">
                <a:solidFill>
                  <a:prstClr val="white"/>
                </a:solidFill>
              </a:rPr>
              <a:t>사기대출 신청자의 주요 특징</a:t>
            </a:r>
          </a:p>
        </p:txBody>
      </p:sp>
      <p:sp>
        <p:nvSpPr>
          <p:cNvPr id="124" name="모서리가 둥근 직사각형 123"/>
          <p:cNvSpPr/>
          <p:nvPr/>
        </p:nvSpPr>
        <p:spPr bwMode="auto">
          <a:xfrm>
            <a:off x="4709674" y="2250238"/>
            <a:ext cx="1915875" cy="6343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00000"/>
              </a:lnSpc>
              <a:defRPr/>
            </a:pPr>
            <a:endParaRPr lang="ko-KR" altLang="ko-KR" sz="1500">
              <a:solidFill>
                <a:srgbClr val="000000"/>
              </a:solidFill>
            </a:endParaRPr>
          </a:p>
        </p:txBody>
      </p:sp>
      <p:sp>
        <p:nvSpPr>
          <p:cNvPr id="125" name="TextBox 86"/>
          <p:cNvSpPr txBox="1">
            <a:spLocks noChangeArrowheads="1"/>
          </p:cNvSpPr>
          <p:nvPr/>
        </p:nvSpPr>
        <p:spPr bwMode="auto">
          <a:xfrm>
            <a:off x="4828984" y="2377238"/>
            <a:ext cx="17849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20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</a:t>
            </a:r>
            <a:r>
              <a:rPr lang="ko-KR" altLang="en-US" sz="20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r>
              <a:rPr lang="en-US" altLang="ko-KR" sz="20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~11</a:t>
            </a:r>
            <a:r>
              <a:rPr lang="ko-KR" altLang="en-US" sz="20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endParaRPr lang="ko-KR" altLang="en-US" sz="2000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9598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4922127" y="3114378"/>
            <a:ext cx="1449218" cy="969657"/>
            <a:chOff x="561153" y="2541796"/>
            <a:chExt cx="3714471" cy="1399967"/>
          </a:xfrm>
        </p:grpSpPr>
        <p:sp>
          <p:nvSpPr>
            <p:cNvPr id="127" name="모서리가 둥근 직사각형 126"/>
            <p:cNvSpPr/>
            <p:nvPr/>
          </p:nvSpPr>
          <p:spPr bwMode="auto">
            <a:xfrm>
              <a:off x="561153" y="2541796"/>
              <a:ext cx="3714471" cy="1399967"/>
            </a:xfrm>
            <a:prstGeom prst="roundRect">
              <a:avLst>
                <a:gd name="adj" fmla="val 9683"/>
              </a:avLst>
            </a:prstGeom>
            <a:gradFill flip="none" rotWithShape="1">
              <a:gsLst>
                <a:gs pos="30000">
                  <a:srgbClr val="F0F3F4"/>
                </a:gs>
                <a:gs pos="40000">
                  <a:srgbClr val="D7DDE1"/>
                </a:gs>
                <a:gs pos="85000">
                  <a:schemeClr val="bg1"/>
                </a:gs>
              </a:gsLst>
              <a:lin ang="5400000" scaled="1"/>
              <a:tileRect/>
            </a:gradFill>
            <a:ln w="3175">
              <a:gradFill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</a:ln>
            <a:effectLst>
              <a:outerShdw blurRad="254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교육 운영</a:t>
              </a:r>
              <a:endParaRPr lang="ko-KR" altLang="ko-KR" sz="16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28" name="직사각형 30"/>
            <p:cNvSpPr>
              <a:spLocks noChangeArrowheads="1"/>
            </p:cNvSpPr>
            <p:nvPr/>
          </p:nvSpPr>
          <p:spPr bwMode="auto">
            <a:xfrm>
              <a:off x="630238" y="2603500"/>
              <a:ext cx="3530600" cy="666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defRPr/>
              </a:pPr>
              <a:endParaRPr lang="ko-KR" alt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129" name="그룹 128"/>
          <p:cNvGrpSpPr/>
          <p:nvPr/>
        </p:nvGrpSpPr>
        <p:grpSpPr>
          <a:xfrm>
            <a:off x="6898289" y="2474597"/>
            <a:ext cx="578161" cy="395150"/>
            <a:chOff x="303008" y="2492896"/>
            <a:chExt cx="1257753" cy="535531"/>
          </a:xfrm>
        </p:grpSpPr>
        <p:sp>
          <p:nvSpPr>
            <p:cNvPr id="130" name="모서리가 둥근 직사각형 129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452765" y="2492896"/>
              <a:ext cx="1107996" cy="5355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132" name="그림 95" descr="IBK-37.png"/>
          <p:cNvPicPr>
            <a:picLocks noChangeAspect="1"/>
          </p:cNvPicPr>
          <p:nvPr/>
        </p:nvPicPr>
        <p:blipFill>
          <a:blip r:embed="rId5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05319" y="2867776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" name="그림 96" descr="IBK-37.png"/>
          <p:cNvPicPr>
            <a:picLocks noChangeAspect="1"/>
          </p:cNvPicPr>
          <p:nvPr/>
        </p:nvPicPr>
        <p:blipFill>
          <a:blip r:embed="rId6" cstate="print">
            <a:lum brigh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76142" y="2867776"/>
            <a:ext cx="64596" cy="147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" name="양쪽 모서리가 둥근 사각형 133"/>
          <p:cNvSpPr/>
          <p:nvPr/>
        </p:nvSpPr>
        <p:spPr bwMode="auto">
          <a:xfrm>
            <a:off x="6918866" y="2764588"/>
            <a:ext cx="1896590" cy="1584549"/>
          </a:xfrm>
          <a:prstGeom prst="round2SameRect">
            <a:avLst>
              <a:gd name="adj1" fmla="val 0"/>
              <a:gd name="adj2" fmla="val 2707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35" name="Text Box 50"/>
          <p:cNvSpPr txBox="1">
            <a:spLocks noChangeArrowheads="1"/>
          </p:cNvSpPr>
          <p:nvPr/>
        </p:nvSpPr>
        <p:spPr bwMode="auto">
          <a:xfrm>
            <a:off x="6958692" y="2468618"/>
            <a:ext cx="185257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sz="2000" kern="0" spc="-100" dirty="0">
                <a:solidFill>
                  <a:prstClr val="white"/>
                </a:solidFill>
              </a:rPr>
              <a:t>사기대출 신청자의 주요 특징</a:t>
            </a:r>
          </a:p>
        </p:txBody>
      </p:sp>
      <p:sp>
        <p:nvSpPr>
          <p:cNvPr id="136" name="모서리가 둥근 직사각형 135"/>
          <p:cNvSpPr/>
          <p:nvPr/>
        </p:nvSpPr>
        <p:spPr bwMode="auto">
          <a:xfrm>
            <a:off x="6907007" y="2250238"/>
            <a:ext cx="1915875" cy="634305"/>
          </a:xfrm>
          <a:prstGeom prst="roundRect">
            <a:avLst>
              <a:gd name="adj" fmla="val 9683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254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00000"/>
              </a:lnSpc>
              <a:defRPr/>
            </a:pPr>
            <a:endParaRPr lang="ko-KR" altLang="ko-KR" sz="1500">
              <a:solidFill>
                <a:srgbClr val="000000"/>
              </a:solidFill>
            </a:endParaRPr>
          </a:p>
        </p:txBody>
      </p:sp>
      <p:sp>
        <p:nvSpPr>
          <p:cNvPr id="137" name="TextBox 86"/>
          <p:cNvSpPr txBox="1">
            <a:spLocks noChangeArrowheads="1"/>
          </p:cNvSpPr>
          <p:nvPr/>
        </p:nvSpPr>
        <p:spPr bwMode="auto">
          <a:xfrm>
            <a:off x="7026317" y="2377238"/>
            <a:ext cx="17849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20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11</a:t>
            </a:r>
            <a:r>
              <a:rPr lang="ko-KR" altLang="en-US" sz="2000" spc="-12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598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endParaRPr lang="ko-KR" altLang="en-US" sz="2000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9598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38" name="그룹 137"/>
          <p:cNvGrpSpPr/>
          <p:nvPr/>
        </p:nvGrpSpPr>
        <p:grpSpPr>
          <a:xfrm>
            <a:off x="7119460" y="3114378"/>
            <a:ext cx="1449218" cy="969657"/>
            <a:chOff x="561153" y="2541796"/>
            <a:chExt cx="3714471" cy="1399967"/>
          </a:xfrm>
        </p:grpSpPr>
        <p:sp>
          <p:nvSpPr>
            <p:cNvPr id="139" name="모서리가 둥근 직사각형 138"/>
            <p:cNvSpPr/>
            <p:nvPr/>
          </p:nvSpPr>
          <p:spPr bwMode="auto">
            <a:xfrm>
              <a:off x="561153" y="2541796"/>
              <a:ext cx="3714471" cy="1399967"/>
            </a:xfrm>
            <a:prstGeom prst="roundRect">
              <a:avLst>
                <a:gd name="adj" fmla="val 9683"/>
              </a:avLst>
            </a:prstGeom>
            <a:gradFill flip="none" rotWithShape="1">
              <a:gsLst>
                <a:gs pos="30000">
                  <a:srgbClr val="F0F3F4"/>
                </a:gs>
                <a:gs pos="40000">
                  <a:srgbClr val="D7DDE1"/>
                </a:gs>
                <a:gs pos="85000">
                  <a:schemeClr val="bg1"/>
                </a:gs>
              </a:gsLst>
              <a:lin ang="5400000" scaled="1"/>
              <a:tileRect/>
            </a:gradFill>
            <a:ln w="3175">
              <a:gradFill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</a:ln>
            <a:effectLst>
              <a:outerShdw blurRad="254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완료보고 및</a:t>
              </a:r>
              <a:endParaRPr lang="en-US" altLang="ko-K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정산</a:t>
              </a:r>
              <a:endParaRPr lang="ko-KR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40" name="직사각형 30"/>
            <p:cNvSpPr>
              <a:spLocks noChangeArrowheads="1"/>
            </p:cNvSpPr>
            <p:nvPr/>
          </p:nvSpPr>
          <p:spPr bwMode="auto">
            <a:xfrm>
              <a:off x="630238" y="2603500"/>
              <a:ext cx="3530600" cy="666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defRPr/>
              </a:pPr>
              <a:endParaRPr lang="ko-KR" alt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141" name="그룹 140"/>
          <p:cNvGrpSpPr/>
          <p:nvPr/>
        </p:nvGrpSpPr>
        <p:grpSpPr>
          <a:xfrm>
            <a:off x="303008" y="1556792"/>
            <a:ext cx="1360345" cy="505203"/>
            <a:chOff x="303008" y="2492896"/>
            <a:chExt cx="1360345" cy="505203"/>
          </a:xfrm>
        </p:grpSpPr>
        <p:sp>
          <p:nvSpPr>
            <p:cNvPr id="142" name="모서리가 둥근 직사각형 141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452765" y="2492896"/>
              <a:ext cx="1210588" cy="5052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지원절차</a:t>
              </a:r>
              <a:endPara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2627784" y="4452245"/>
            <a:ext cx="62664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* 운영기관 </a:t>
            </a:r>
            <a:r>
              <a:rPr lang="ko-KR" alt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선정 후</a:t>
            </a:r>
            <a:r>
              <a:rPr lang="en-US" altLang="ko-KR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 </a:t>
            </a:r>
            <a:r>
              <a:rPr lang="ko-KR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교육과정 온라인 </a:t>
            </a:r>
            <a:r>
              <a:rPr lang="ko-KR" alt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공시 </a:t>
            </a:r>
            <a:r>
              <a:rPr lang="en-US" altLang="ko-KR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</a:t>
            </a:r>
            <a:r>
              <a:rPr lang="ko-KR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r>
              <a:rPr lang="en-US" altLang="ko-KR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~) → </a:t>
            </a:r>
            <a:r>
              <a:rPr lang="ko-KR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신청 후 수강</a:t>
            </a:r>
            <a:endParaRPr lang="ko-KR" altLang="en-US" sz="1600" dirty="0"/>
          </a:p>
        </p:txBody>
      </p:sp>
      <p:sp>
        <p:nvSpPr>
          <p:cNvPr id="63" name="TextBox 62"/>
          <p:cNvSpPr txBox="1"/>
          <p:nvPr/>
        </p:nvSpPr>
        <p:spPr>
          <a:xfrm>
            <a:off x="107504" y="788618"/>
            <a:ext cx="1193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2-1-3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1316082" y="794733"/>
            <a:ext cx="0" cy="486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331640" y="813662"/>
            <a:ext cx="4824507" cy="461665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</a:t>
            </a: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맞춤형 아카데미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 rot="21569650">
            <a:off x="56871" y="83011"/>
            <a:ext cx="668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2-1. </a:t>
            </a:r>
            <a:r>
              <a:rPr lang="ko-KR" altLang="en-US" sz="2000" dirty="0" err="1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사회적경제기업</a:t>
            </a:r>
            <a:r>
              <a:rPr lang="ko-KR" altLang="en-US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창업지원</a:t>
            </a:r>
            <a:endParaRPr lang="en-US" altLang="ko-KR" sz="2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199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7504" y="788618"/>
            <a:ext cx="1193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2-1-4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316082" y="794733"/>
            <a:ext cx="0" cy="486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331640" y="813662"/>
            <a:ext cx="4824507" cy="461665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</a:t>
            </a: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 역량강화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sp>
        <p:nvSpPr>
          <p:cNvPr id="15" name="모서리가 둥근 직사각형 14"/>
          <p:cNvSpPr/>
          <p:nvPr/>
        </p:nvSpPr>
        <p:spPr bwMode="auto">
          <a:xfrm rot="18000000">
            <a:off x="303008" y="1937309"/>
            <a:ext cx="123081" cy="123081"/>
          </a:xfrm>
          <a:prstGeom prst="roundRect">
            <a:avLst/>
          </a:prstGeom>
          <a:gradFill flip="none" rotWithShape="1">
            <a:gsLst>
              <a:gs pos="40000">
                <a:srgbClr val="249FFD"/>
              </a:gs>
              <a:gs pos="48000">
                <a:srgbClr val="004C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52765" y="1700808"/>
            <a:ext cx="7000634" cy="5052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사업명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en-US" altLang="ko-KR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2019</a:t>
            </a:r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</a:t>
            </a:r>
            <a:r>
              <a:rPr lang="en-US" altLang="ko-KR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</a:t>
            </a:r>
            <a:r>
              <a:rPr lang="ko-KR" altLang="en-US" sz="2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전문상시상담기관</a:t>
            </a:r>
            <a:r>
              <a: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운영용역 사업</a:t>
            </a:r>
          </a:p>
        </p:txBody>
      </p:sp>
      <p:sp>
        <p:nvSpPr>
          <p:cNvPr id="23" name="모서리가 둥근 직사각형 22"/>
          <p:cNvSpPr/>
          <p:nvPr/>
        </p:nvSpPr>
        <p:spPr bwMode="auto">
          <a:xfrm rot="18000000">
            <a:off x="303008" y="2757494"/>
            <a:ext cx="123081" cy="123081"/>
          </a:xfrm>
          <a:prstGeom prst="roundRect">
            <a:avLst/>
          </a:prstGeom>
          <a:gradFill flip="none" rotWithShape="1">
            <a:gsLst>
              <a:gs pos="40000">
                <a:srgbClr val="249FFD"/>
              </a:gs>
              <a:gs pos="48000">
                <a:srgbClr val="004C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52765" y="2520993"/>
            <a:ext cx="1210588" cy="5052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지원내용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52765" y="2994031"/>
            <a:ext cx="8218917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설립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운영상의 애로사항을 관련 전문가에게 자유롭게 묻는 분야별 </a:t>
            </a:r>
            <a:endParaRPr lang="en-US" altLang="ko-KR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60000"/>
              </a:lnSpc>
            </a:pP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</a:t>
            </a:r>
            <a:r>
              <a:rPr lang="ko-KR" altLang="en-US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전문 상시 상담게시판 운영</a:t>
            </a:r>
            <a:endParaRPr lang="en-US" altLang="ko-KR" spc="-50" dirty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법무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법률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인사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노무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회계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세무 등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분야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온라인 상담으로 해결이 어려운 경우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분야별전문가들의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현장코칭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진행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지원기간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2019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~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2019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11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30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일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 rot="21569650">
            <a:off x="56871" y="83011"/>
            <a:ext cx="668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2-1. </a:t>
            </a:r>
            <a:r>
              <a:rPr lang="ko-KR" altLang="en-US" sz="2000" dirty="0" err="1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사회적경제기업</a:t>
            </a:r>
            <a:r>
              <a:rPr lang="ko-KR" altLang="en-US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창업지원</a:t>
            </a:r>
            <a:endParaRPr lang="en-US" altLang="ko-KR" sz="2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0230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grpSp>
        <p:nvGrpSpPr>
          <p:cNvPr id="16" name="그룹 15"/>
          <p:cNvGrpSpPr/>
          <p:nvPr/>
        </p:nvGrpSpPr>
        <p:grpSpPr>
          <a:xfrm>
            <a:off x="303008" y="1700808"/>
            <a:ext cx="6106837" cy="584775"/>
            <a:chOff x="303008" y="2492896"/>
            <a:chExt cx="6106837" cy="584775"/>
          </a:xfrm>
        </p:grpSpPr>
        <p:sp>
          <p:nvSpPr>
            <p:cNvPr id="18" name="모서리가 둥근 직사각형 17"/>
            <p:cNvSpPr/>
            <p:nvPr/>
          </p:nvSpPr>
          <p:spPr bwMode="auto">
            <a:xfrm rot="18000000">
              <a:off x="303008" y="2729397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52765" y="2492896"/>
              <a:ext cx="595708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지원대상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</a:t>
              </a:r>
              <a:r>
                <a:rPr lang="en-US" altLang="ko-KR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(</a:t>
              </a:r>
              <a:r>
                <a:rPr lang="ko-KR" alt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사회적</a:t>
              </a:r>
              <a:r>
                <a:rPr lang="en-US" altLang="ko-KR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협동조합 설립희망자 및 운영자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303008" y="2628385"/>
            <a:ext cx="8783852" cy="584775"/>
            <a:chOff x="303008" y="3234001"/>
            <a:chExt cx="8783852" cy="584775"/>
          </a:xfrm>
        </p:grpSpPr>
        <p:sp>
          <p:nvSpPr>
            <p:cNvPr id="22" name="모서리가 둥근 직사각형 21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452765" y="3234001"/>
              <a:ext cx="863409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en-US" altLang="ko-KR" sz="2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19</a:t>
              </a:r>
              <a:r>
                <a:rPr lang="ko-KR" altLang="en-US" sz="2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년 지원규모 </a:t>
              </a:r>
              <a:r>
                <a:rPr lang="en-US" altLang="ko-KR" sz="2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예산 </a:t>
              </a:r>
              <a:r>
                <a:rPr lang="en-US" altLang="ko-KR" sz="2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134</a:t>
              </a:r>
              <a:r>
                <a:rPr lang="ko-KR" altLang="en-US" sz="2000" spc="-5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백만원</a:t>
              </a:r>
              <a:r>
                <a:rPr lang="en-US" altLang="ko-KR" sz="2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/ </a:t>
              </a:r>
              <a:r>
                <a:rPr lang="ko-KR" altLang="en-US" sz="2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지원 총량 </a:t>
              </a:r>
              <a:r>
                <a:rPr lang="en-US" altLang="ko-KR" sz="2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온라인 상담은 별도 제한 없음</a:t>
              </a:r>
              <a:endParaRPr lang="ko-KR" altLang="en-US" sz="2000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03008" y="3556569"/>
            <a:ext cx="9363788" cy="2392711"/>
            <a:chOff x="303008" y="4207697"/>
            <a:chExt cx="9363788" cy="2392711"/>
          </a:xfrm>
        </p:grpSpPr>
        <p:grpSp>
          <p:nvGrpSpPr>
            <p:cNvPr id="27" name="그룹 26"/>
            <p:cNvGrpSpPr/>
            <p:nvPr/>
          </p:nvGrpSpPr>
          <p:grpSpPr>
            <a:xfrm>
              <a:off x="303008" y="4207697"/>
              <a:ext cx="4675355" cy="505203"/>
              <a:chOff x="303008" y="3207367"/>
              <a:chExt cx="4675355" cy="505203"/>
            </a:xfrm>
          </p:grpSpPr>
          <p:sp>
            <p:nvSpPr>
              <p:cNvPr id="29" name="모서리가 둥근 직사각형 28"/>
              <p:cNvSpPr/>
              <p:nvPr/>
            </p:nvSpPr>
            <p:spPr bwMode="auto">
              <a:xfrm rot="18000000">
                <a:off x="303008" y="3470502"/>
                <a:ext cx="123081" cy="123081"/>
              </a:xfrm>
              <a:prstGeom prst="roundRect">
                <a:avLst/>
              </a:prstGeom>
              <a:gradFill flip="none" rotWithShape="1">
                <a:gsLst>
                  <a:gs pos="40000">
                    <a:srgbClr val="249FFD"/>
                  </a:gs>
                  <a:gs pos="48000">
                    <a:srgbClr val="004C9D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452765" y="3207367"/>
                <a:ext cx="4525598" cy="505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60000"/>
                  </a:lnSpc>
                  <a:defRPr/>
                </a:pPr>
                <a:r>
                  <a:rPr lang="ko-KR" altLang="en-US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사업시행주체 </a:t>
                </a:r>
                <a:r>
                  <a:rPr lang="en-US" altLang="ko-KR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: </a:t>
                </a:r>
                <a:r>
                  <a:rPr lang="ko-KR" altLang="en-US" sz="2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한국사회적기업진흥원</a:t>
                </a:r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23" name="직사각형 22"/>
            <p:cNvSpPr/>
            <p:nvPr/>
          </p:nvSpPr>
          <p:spPr>
            <a:xfrm>
              <a:off x="452765" y="4727687"/>
              <a:ext cx="4881465" cy="9787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lnSpc>
                  <a:spcPct val="160000"/>
                </a:lnSpc>
                <a:buFontTx/>
                <a:buChar char="-"/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차 상담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16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개 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권역별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통합지원기관</a:t>
              </a:r>
              <a:endPara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marL="285750" indent="-285750">
                <a:lnSpc>
                  <a:spcPct val="160000"/>
                </a:lnSpc>
                <a:buFontTx/>
                <a:buChar char="-"/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차 상담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: 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전문 상시 상담기관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3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개 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분야 </a:t>
              </a:r>
              <a:r>
                <a:rPr lang="ko-KR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→</a:t>
              </a:r>
              <a:endPara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5094796" y="5178480"/>
              <a:ext cx="4572000" cy="142192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ᆞ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법무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/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법률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유한책임회사 더함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lnSpc>
                  <a:spcPct val="160000"/>
                </a:lnSpc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ᆞ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인사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/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노무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노무법인 의연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lnSpc>
                  <a:spcPct val="160000"/>
                </a:lnSpc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ᆞ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회계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/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세무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협동조합 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공작소</a:t>
              </a:r>
              <a:endParaRPr lang="ko-KR" altLang="en-US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07504" y="788618"/>
            <a:ext cx="1193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2-1-4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1316082" y="794733"/>
            <a:ext cx="0" cy="486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31640" y="813662"/>
            <a:ext cx="4824507" cy="461665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</a:t>
            </a: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 역량강화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 rot="21569650">
            <a:off x="56871" y="83011"/>
            <a:ext cx="668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2-1. </a:t>
            </a:r>
            <a:r>
              <a:rPr lang="ko-KR" altLang="en-US" sz="2000" dirty="0" err="1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사회적경제기업</a:t>
            </a:r>
            <a:r>
              <a:rPr lang="ko-KR" altLang="en-US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창업지원</a:t>
            </a:r>
            <a:endParaRPr lang="en-US" altLang="ko-KR" sz="2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898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9144000" cy="612227"/>
          </a:xfrm>
          <a:prstGeom prst="rect">
            <a:avLst/>
          </a:prstGeom>
          <a:solidFill>
            <a:srgbClr val="009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8304" y="-1"/>
            <a:ext cx="1471168" cy="629539"/>
          </a:xfrm>
          <a:prstGeom prst="rect">
            <a:avLst/>
          </a:prstGeom>
        </p:spPr>
      </p:pic>
      <p:grpSp>
        <p:nvGrpSpPr>
          <p:cNvPr id="65" name="그룹 64"/>
          <p:cNvGrpSpPr/>
          <p:nvPr/>
        </p:nvGrpSpPr>
        <p:grpSpPr>
          <a:xfrm>
            <a:off x="303008" y="5627709"/>
            <a:ext cx="7769151" cy="505203"/>
            <a:chOff x="303008" y="3234001"/>
            <a:chExt cx="7769151" cy="505203"/>
          </a:xfrm>
        </p:grpSpPr>
        <p:sp>
          <p:nvSpPr>
            <p:cNvPr id="79" name="모서리가 둥근 직사각형 78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452765" y="3234001"/>
              <a:ext cx="7619394" cy="5052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세부 문의처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한국사회적기업진흥원</a:t>
              </a:r>
              <a:r>
                <a: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설립지원팀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(031-697-7735)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303008" y="1628800"/>
            <a:ext cx="8868811" cy="1077218"/>
            <a:chOff x="303008" y="3207367"/>
            <a:chExt cx="8868811" cy="1077218"/>
          </a:xfrm>
        </p:grpSpPr>
        <p:sp>
          <p:nvSpPr>
            <p:cNvPr id="66" name="모서리가 둥근 직사각형 65"/>
            <p:cNvSpPr/>
            <p:nvPr/>
          </p:nvSpPr>
          <p:spPr bwMode="auto">
            <a:xfrm rot="18000000">
              <a:off x="303008" y="3470502"/>
              <a:ext cx="123081" cy="123081"/>
            </a:xfrm>
            <a:prstGeom prst="roundRect">
              <a:avLst/>
            </a:prstGeom>
            <a:gradFill flip="none" rotWithShape="1">
              <a:gsLst>
                <a:gs pos="40000">
                  <a:srgbClr val="249FFD"/>
                </a:gs>
                <a:gs pos="48000">
                  <a:srgbClr val="004C9D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452765" y="3207367"/>
              <a:ext cx="8719054" cy="107721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60000"/>
                </a:lnSpc>
                <a:defRPr/>
              </a:pP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신청방법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협동조합 </a:t>
              </a:r>
              <a:r>
                <a:rPr lang="ko-KR" altLang="en-US" sz="20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홍보포털</a:t>
              </a:r>
              <a:r>
                <a:rPr lang="en-US" altLang="ko-KR" sz="20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(http://coop.go.kr</a:t>
              </a:r>
              <a:r>
                <a:rPr lang="en-US" altLang="ko-KR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 &lt; </a:t>
              </a:r>
              <a:r>
                <a:rPr lang="ko-KR" altLang="en-US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소통마당 </a:t>
              </a:r>
              <a:r>
                <a:rPr lang="en-US" altLang="ko-KR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&lt; </a:t>
              </a:r>
              <a:r>
                <a:rPr lang="ko-KR" altLang="en-US" sz="20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상시상담</a:t>
              </a:r>
              <a:r>
                <a:rPr lang="ko-KR" altLang="en-US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0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게시판에</a:t>
              </a:r>
              <a:endParaRPr lang="en-US" altLang="ko-KR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lnSpc>
                  <a:spcPct val="160000"/>
                </a:lnSpc>
                <a:defRPr/>
              </a:pP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        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문의사항 등록 후 질의</a:t>
              </a:r>
              <a:endPara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03008" y="2852936"/>
            <a:ext cx="8520898" cy="2408025"/>
            <a:chOff x="303008" y="3590764"/>
            <a:chExt cx="8520898" cy="2408025"/>
          </a:xfrm>
        </p:grpSpPr>
        <p:grpSp>
          <p:nvGrpSpPr>
            <p:cNvPr id="2" name="그룹 1"/>
            <p:cNvGrpSpPr/>
            <p:nvPr/>
          </p:nvGrpSpPr>
          <p:grpSpPr>
            <a:xfrm>
              <a:off x="303008" y="3590764"/>
              <a:ext cx="8519356" cy="1491035"/>
              <a:chOff x="303008" y="2654660"/>
              <a:chExt cx="8519356" cy="1491035"/>
            </a:xfrm>
          </p:grpSpPr>
          <p:grpSp>
            <p:nvGrpSpPr>
              <p:cNvPr id="141" name="그룹 140"/>
              <p:cNvGrpSpPr/>
              <p:nvPr/>
            </p:nvGrpSpPr>
            <p:grpSpPr>
              <a:xfrm>
                <a:off x="303008" y="2654660"/>
                <a:ext cx="1360345" cy="505203"/>
                <a:chOff x="303008" y="2492896"/>
                <a:chExt cx="1360345" cy="505203"/>
              </a:xfrm>
            </p:grpSpPr>
            <p:sp>
              <p:nvSpPr>
                <p:cNvPr id="142" name="모서리가 둥근 직사각형 141"/>
                <p:cNvSpPr/>
                <p:nvPr/>
              </p:nvSpPr>
              <p:spPr bwMode="auto">
                <a:xfrm rot="18000000">
                  <a:off x="303008" y="2747153"/>
                  <a:ext cx="123081" cy="123081"/>
                </a:xfrm>
                <a:prstGeom prst="roundRect">
                  <a:avLst/>
                </a:prstGeom>
                <a:gradFill flip="none" rotWithShape="1">
                  <a:gsLst>
                    <a:gs pos="40000">
                      <a:srgbClr val="249FFD"/>
                    </a:gs>
                    <a:gs pos="48000">
                      <a:srgbClr val="004C9D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직사각형 142"/>
                <p:cNvSpPr/>
                <p:nvPr/>
              </p:nvSpPr>
              <p:spPr>
                <a:xfrm>
                  <a:off x="452765" y="2492896"/>
                  <a:ext cx="1210588" cy="50520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60000"/>
                    </a:lnSpc>
                    <a:defRPr/>
                  </a:pPr>
                  <a:r>
                    <a:rPr lang="ko-KR" altLang="en-US" sz="20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지원절차</a:t>
                  </a:r>
                  <a:endParaRPr lang="ko-KR" altLang="en-US" sz="2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  <p:sp>
            <p:nvSpPr>
              <p:cNvPr id="63" name="직사각형 62"/>
              <p:cNvSpPr/>
              <p:nvPr/>
            </p:nvSpPr>
            <p:spPr>
              <a:xfrm>
                <a:off x="452765" y="3148050"/>
                <a:ext cx="8369599" cy="9976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altLang="ko-KR" sz="2000" spc="-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- </a:t>
                </a:r>
                <a:r>
                  <a:rPr lang="ko-KR" altLang="en-US" sz="2000" spc="-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홈페이지에서 </a:t>
                </a:r>
                <a:r>
                  <a:rPr lang="ko-KR" altLang="en-US" sz="20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문의사항 접수</a:t>
                </a:r>
                <a:r>
                  <a:rPr lang="en-US" altLang="ko-KR" sz="20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, </a:t>
                </a:r>
                <a:r>
                  <a:rPr lang="ko-KR" altLang="en-US" sz="200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권역별</a:t>
                </a:r>
                <a:r>
                  <a:rPr lang="ko-KR" altLang="en-US" sz="20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 통합지원 기관의 </a:t>
                </a:r>
                <a:r>
                  <a:rPr lang="en-US" altLang="ko-KR" sz="20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1</a:t>
                </a:r>
                <a:r>
                  <a:rPr lang="ko-KR" altLang="en-US" sz="20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차 상담 진행 후 </a:t>
                </a:r>
                <a:endParaRPr lang="en-US" altLang="ko-KR" sz="2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altLang="ko-KR" sz="2000" spc="-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   2</a:t>
                </a:r>
                <a:r>
                  <a:rPr lang="ko-KR" altLang="en-US" sz="20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차 </a:t>
                </a:r>
                <a:r>
                  <a:rPr lang="ko-KR" altLang="en-US" sz="2000" spc="-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온라인 상담 실시</a:t>
                </a:r>
                <a:endParaRPr lang="en-US" altLang="ko-KR" sz="2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5" name="직사각형 4"/>
            <p:cNvSpPr/>
            <p:nvPr/>
          </p:nvSpPr>
          <p:spPr>
            <a:xfrm>
              <a:off x="635440" y="5001144"/>
              <a:ext cx="8188466" cy="9976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단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문의 수준이 기초적이거나 유형화된 내용일 경우 </a:t>
              </a:r>
              <a:r>
                <a:rPr lang="ko-KR" altLang="en-US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권역별</a:t>
              </a:r>
              <a:r>
                <a: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통합지원기관의 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1</a:t>
              </a:r>
              <a:r>
                <a: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차 상담으로 </a:t>
              </a:r>
              <a:r>
                <a:rPr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종료</a:t>
              </a:r>
              <a:r>
                <a:rPr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07504" y="788618"/>
            <a:ext cx="1193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2-1-4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1316082" y="794733"/>
            <a:ext cx="0" cy="486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31640" y="813662"/>
            <a:ext cx="4824507" cy="461665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협동조합 </a:t>
            </a: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 역량강화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 rot="21569650">
            <a:off x="56871" y="83011"/>
            <a:ext cx="668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2-1. </a:t>
            </a:r>
            <a:r>
              <a:rPr lang="ko-KR" altLang="en-US" sz="2000" dirty="0" err="1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사회적경제기업</a:t>
            </a:r>
            <a:r>
              <a:rPr lang="ko-KR" altLang="en-US" sz="20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창업지원</a:t>
            </a:r>
            <a:endParaRPr lang="en-US" altLang="ko-KR" sz="2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63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2538</TotalTime>
  <Words>668</Words>
  <Application>Microsoft Office PowerPoint</Application>
  <PresentationFormat>화면 슬라이드 쇼(4:3)</PresentationFormat>
  <Paragraphs>143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굴림</vt:lpstr>
      <vt:lpstr>Arial</vt:lpstr>
      <vt:lpstr>맑은 고딕</vt:lpstr>
      <vt:lpstr>HY헤드라인M</vt:lpstr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Company>LG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youjin park</dc:creator>
  <cp:lastModifiedBy>Mosf</cp:lastModifiedBy>
  <cp:revision>206</cp:revision>
  <dcterms:created xsi:type="dcterms:W3CDTF">2016-05-07T04:05:36Z</dcterms:created>
  <dcterms:modified xsi:type="dcterms:W3CDTF">2019-04-18T08:48:17Z</dcterms:modified>
</cp:coreProperties>
</file>