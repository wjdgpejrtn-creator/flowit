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1" r:id="rId2"/>
    <p:sldId id="259" r:id="rId3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84" y="-49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A29D5E-E240-4D52-A2B8-A4B0EB464AF9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15635-2635-41CA-B96E-93DAAAAC83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16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513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61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4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55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52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877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66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725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50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21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10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0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0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38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001EE-77B0-4077-B504-58A2B5FA331C}" type="datetimeFigureOut">
              <a:rPr lang="ko-KR" altLang="en-US" smtClean="0"/>
              <a:t>2019-12-15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9DCA3-2904-4A34-8E95-70DAE85D7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24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dc.go.kr/" TargetMode="External"/><Relationship Id="rId2" Type="http://schemas.openxmlformats.org/officeDocument/2006/relationships/hyperlink" Target="https://is.cdc.go.kr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8464" y="116632"/>
            <a:ext cx="8420100" cy="648070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법정감염병</a:t>
            </a:r>
            <a:r>
              <a:rPr lang="ko-KR" alt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신고 안내</a:t>
            </a:r>
            <a:endParaRPr lang="ko-KR" altLang="en-US" sz="2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200472" y="764704"/>
            <a:ext cx="9505056" cy="331236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tx1"/>
                </a:solidFill>
              </a:rPr>
              <a:t>◈  「</a:t>
            </a:r>
            <a:r>
              <a:rPr lang="ko-KR" altLang="en-US" sz="1600" b="1" dirty="0" err="1" smtClean="0">
                <a:solidFill>
                  <a:schemeClr val="tx1"/>
                </a:solidFill>
              </a:rPr>
              <a:t>감염병의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 예방 및 관리에 관한 법률」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(2020.1.1. 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시행 예정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❏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제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5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조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의료인 등의 책무와 권리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)</a:t>
            </a:r>
            <a:r>
              <a:rPr lang="en-US" altLang="ko-KR" sz="1400" dirty="0" smtClean="0">
                <a:solidFill>
                  <a:schemeClr val="tx1"/>
                </a:solidFill>
              </a:rPr>
              <a:t>: </a:t>
            </a:r>
            <a:r>
              <a:rPr lang="ko-KR" altLang="en-US" sz="1400" dirty="0" smtClean="0">
                <a:solidFill>
                  <a:schemeClr val="tx1"/>
                </a:solidFill>
              </a:rPr>
              <a:t>의료인</a:t>
            </a:r>
            <a:r>
              <a:rPr lang="en-US" altLang="ko-KR" sz="1400" dirty="0">
                <a:solidFill>
                  <a:schemeClr val="tx1"/>
                </a:solidFill>
              </a:rPr>
              <a:t> · </a:t>
            </a:r>
            <a:r>
              <a:rPr lang="ko-KR" altLang="en-US" sz="1400" dirty="0" smtClean="0">
                <a:solidFill>
                  <a:schemeClr val="tx1"/>
                </a:solidFill>
              </a:rPr>
              <a:t>의료기관의 </a:t>
            </a:r>
            <a:r>
              <a:rPr lang="ko-KR" altLang="en-US" sz="1400" dirty="0" smtClean="0">
                <a:solidFill>
                  <a:schemeClr val="tx1"/>
                </a:solidFill>
              </a:rPr>
              <a:t>장은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감염병</a:t>
            </a:r>
            <a:r>
              <a:rPr lang="ko-KR" altLang="en-US" sz="1400" dirty="0" smtClean="0">
                <a:solidFill>
                  <a:schemeClr val="tx1"/>
                </a:solidFill>
              </a:rPr>
              <a:t> 환자의 진단</a:t>
            </a:r>
            <a:r>
              <a:rPr lang="en-US" altLang="ko-KR" sz="1400" dirty="0" smtClean="0">
                <a:solidFill>
                  <a:schemeClr val="tx1"/>
                </a:solidFill>
              </a:rPr>
              <a:t>·</a:t>
            </a:r>
            <a:r>
              <a:rPr lang="ko-KR" altLang="en-US" sz="1400" dirty="0" smtClean="0">
                <a:solidFill>
                  <a:schemeClr val="tx1"/>
                </a:solidFill>
              </a:rPr>
              <a:t>관리</a:t>
            </a:r>
            <a:r>
              <a:rPr lang="en-US" altLang="ko-KR" sz="1400" dirty="0" smtClean="0">
                <a:solidFill>
                  <a:schemeClr val="tx1"/>
                </a:solidFill>
              </a:rPr>
              <a:t>·</a:t>
            </a:r>
            <a:r>
              <a:rPr lang="ko-KR" altLang="en-US" sz="1400" dirty="0" smtClean="0">
                <a:solidFill>
                  <a:schemeClr val="tx1"/>
                </a:solidFill>
              </a:rPr>
              <a:t>치료 등에 최선을 다해야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   </a:t>
            </a:r>
            <a:r>
              <a:rPr lang="ko-KR" altLang="en-US" sz="1400" dirty="0" smtClean="0">
                <a:solidFill>
                  <a:schemeClr val="tx1"/>
                </a:solidFill>
              </a:rPr>
              <a:t>하며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보건복지부장관 또는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지자체의</a:t>
            </a:r>
            <a:r>
              <a:rPr lang="ko-KR" altLang="en-US" sz="1400" dirty="0" smtClean="0">
                <a:solidFill>
                  <a:schemeClr val="tx1"/>
                </a:solidFill>
              </a:rPr>
              <a:t> 행정명령에 적극 협조하여야 한다</a:t>
            </a:r>
            <a:r>
              <a:rPr lang="en-US" altLang="ko-KR" sz="1400" dirty="0" smtClean="0">
                <a:solidFill>
                  <a:schemeClr val="tx1"/>
                </a:solidFill>
              </a:rPr>
              <a:t>. </a:t>
            </a:r>
            <a:r>
              <a:rPr lang="ko-KR" altLang="en-US" sz="1400" dirty="0" smtClean="0">
                <a:solidFill>
                  <a:schemeClr val="tx1"/>
                </a:solidFill>
              </a:rPr>
              <a:t>또한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감염병의</a:t>
            </a:r>
            <a:r>
              <a:rPr lang="ko-KR" altLang="en-US" sz="1400" dirty="0" smtClean="0">
                <a:solidFill>
                  <a:schemeClr val="tx1"/>
                </a:solidFill>
              </a:rPr>
              <a:t> 발생 감시와 예방</a:t>
            </a:r>
            <a:r>
              <a:rPr lang="en-US" altLang="ko-KR" sz="1400" dirty="0" smtClean="0">
                <a:solidFill>
                  <a:schemeClr val="tx1"/>
                </a:solidFill>
              </a:rPr>
              <a:t>·</a:t>
            </a:r>
            <a:r>
              <a:rPr lang="ko-KR" altLang="en-US" sz="1400" dirty="0" smtClean="0">
                <a:solidFill>
                  <a:schemeClr val="tx1"/>
                </a:solidFill>
              </a:rPr>
              <a:t>관리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  </a:t>
            </a:r>
            <a:r>
              <a:rPr lang="ko-KR" altLang="en-US" sz="1400" dirty="0" smtClean="0">
                <a:solidFill>
                  <a:schemeClr val="tx1"/>
                </a:solidFill>
              </a:rPr>
              <a:t> 및 역학조사 업무에 적극 협조하여야 한다</a:t>
            </a:r>
            <a:r>
              <a:rPr lang="en-US" altLang="ko-KR" sz="1400" dirty="0" smtClean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❏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제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11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조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의사 등의 신고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): </a:t>
            </a:r>
            <a:r>
              <a:rPr lang="ko-KR" altLang="en-US" sz="1400" dirty="0" smtClean="0">
                <a:solidFill>
                  <a:schemeClr val="tx1"/>
                </a:solidFill>
              </a:rPr>
              <a:t>의사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치과의사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한의사는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감염병환자등을</a:t>
            </a:r>
            <a:r>
              <a:rPr lang="ko-KR" altLang="en-US" sz="1400" dirty="0" smtClean="0">
                <a:solidFill>
                  <a:schemeClr val="tx1"/>
                </a:solidFill>
              </a:rPr>
              <a:t> 진단하거나 사체를 검안한 경우 또한 </a:t>
            </a:r>
            <a:r>
              <a:rPr lang="ko-KR" altLang="en-US" sz="1400" dirty="0" smtClean="0">
                <a:solidFill>
                  <a:schemeClr val="tx1"/>
                </a:solidFill>
              </a:rPr>
              <a:t>해당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감염병으로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사망한 경우 소속 의료기관의 장에게 보고하여야 </a:t>
            </a:r>
            <a:r>
              <a:rPr lang="ko-KR" altLang="en-US" sz="1400" dirty="0" smtClean="0">
                <a:solidFill>
                  <a:schemeClr val="tx1"/>
                </a:solidFill>
              </a:rPr>
              <a:t>하며</a:t>
            </a:r>
            <a:r>
              <a:rPr lang="en-US" altLang="ko-KR" sz="1400" dirty="0" smtClean="0">
                <a:solidFill>
                  <a:schemeClr val="tx1"/>
                </a:solidFill>
              </a:rPr>
              <a:t>,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의료기관의 장은 보건복지부장관 또는 </a:t>
            </a:r>
            <a:r>
              <a:rPr lang="ko-KR" altLang="en-US" sz="1400" dirty="0" smtClean="0">
                <a:solidFill>
                  <a:schemeClr val="tx1"/>
                </a:solidFill>
              </a:rPr>
              <a:t>관할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보건소장에게 신고하여야 한다</a:t>
            </a:r>
            <a:r>
              <a:rPr lang="en-US" altLang="ko-KR" sz="1400" dirty="0" smtClean="0">
                <a:solidFill>
                  <a:schemeClr val="tx1"/>
                </a:solidFill>
              </a:rPr>
              <a:t>. </a:t>
            </a:r>
            <a:r>
              <a:rPr lang="ko-KR" altLang="en-US" sz="1400" dirty="0" smtClean="0">
                <a:solidFill>
                  <a:schemeClr val="tx1"/>
                </a:solidFill>
              </a:rPr>
              <a:t>또한 해당 환자와 동거인에게 감염방지 방법 등을 지도하여야 한다</a:t>
            </a:r>
            <a:r>
              <a:rPr lang="en-US" altLang="ko-KR" sz="1400" dirty="0" smtClean="0">
                <a:solidFill>
                  <a:schemeClr val="tx1"/>
                </a:solidFill>
              </a:rPr>
              <a:t>.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❏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제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79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조의</a:t>
            </a:r>
            <a:r>
              <a:rPr lang="en-US" altLang="ko-KR" sz="1400" b="1" dirty="0">
                <a:solidFill>
                  <a:schemeClr val="tx1"/>
                </a:solidFill>
              </a:rPr>
              <a:t>3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벌칙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):</a:t>
            </a: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11</a:t>
            </a:r>
            <a:r>
              <a:rPr lang="ko-KR" altLang="en-US" sz="1400" dirty="0">
                <a:solidFill>
                  <a:schemeClr val="tx1"/>
                </a:solidFill>
              </a:rPr>
              <a:t>조에 따른 보고</a:t>
            </a:r>
            <a:r>
              <a:rPr lang="en-US" altLang="ko-KR" sz="1400" dirty="0">
                <a:solidFill>
                  <a:schemeClr val="tx1"/>
                </a:solidFill>
              </a:rPr>
              <a:t>·</a:t>
            </a:r>
            <a:r>
              <a:rPr lang="ko-KR" altLang="en-US" sz="1400" dirty="0">
                <a:solidFill>
                  <a:schemeClr val="tx1"/>
                </a:solidFill>
              </a:rPr>
              <a:t>신고 의무를 위반하거나 거짓으로 보고</a:t>
            </a:r>
            <a:r>
              <a:rPr lang="en-US" altLang="ko-KR" sz="1400" dirty="0">
                <a:solidFill>
                  <a:schemeClr val="tx1"/>
                </a:solidFill>
              </a:rPr>
              <a:t>·</a:t>
            </a:r>
            <a:r>
              <a:rPr lang="ko-KR" altLang="en-US" sz="1400" dirty="0">
                <a:solidFill>
                  <a:schemeClr val="tx1"/>
                </a:solidFill>
              </a:rPr>
              <a:t>신고한 의사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치과의사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한의사</a:t>
            </a:r>
            <a:r>
              <a:rPr lang="en-US" altLang="ko-KR" sz="1400" dirty="0" smtClean="0">
                <a:solidFill>
                  <a:schemeClr val="tx1"/>
                </a:solidFill>
              </a:rPr>
              <a:t>,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  </a:t>
            </a:r>
            <a:r>
              <a:rPr lang="ko-KR" altLang="en-US" sz="1400" dirty="0" smtClean="0">
                <a:solidFill>
                  <a:schemeClr val="tx1"/>
                </a:solidFill>
              </a:rPr>
              <a:t>군의관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의료기관의 장 또는 </a:t>
            </a:r>
            <a:r>
              <a:rPr lang="ko-KR" altLang="en-US" sz="1400" dirty="0" err="1">
                <a:solidFill>
                  <a:schemeClr val="tx1"/>
                </a:solidFill>
              </a:rPr>
              <a:t>감염병병원체</a:t>
            </a:r>
            <a:r>
              <a:rPr lang="ko-KR" altLang="en-US" sz="1400" dirty="0">
                <a:solidFill>
                  <a:schemeClr val="tx1"/>
                </a:solidFill>
              </a:rPr>
              <a:t> 확인기관의 장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또한 </a:t>
            </a:r>
            <a:r>
              <a:rPr lang="ko-KR" altLang="en-US" sz="1400" dirty="0" smtClean="0">
                <a:solidFill>
                  <a:schemeClr val="tx1"/>
                </a:solidFill>
              </a:rPr>
              <a:t>이 행위를 </a:t>
            </a:r>
            <a:r>
              <a:rPr lang="ko-KR" altLang="en-US" sz="1400" dirty="0">
                <a:solidFill>
                  <a:schemeClr val="tx1"/>
                </a:solidFill>
              </a:rPr>
              <a:t>방해한 </a:t>
            </a:r>
            <a:r>
              <a:rPr lang="ko-KR" altLang="en-US" sz="1400" dirty="0" smtClean="0">
                <a:solidFill>
                  <a:schemeClr val="tx1"/>
                </a:solidFill>
              </a:rPr>
              <a:t>자는 다음의 벌금에 처한다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    ➀ 제</a:t>
            </a:r>
            <a:r>
              <a:rPr lang="en-US" altLang="ko-KR" sz="1400" dirty="0" smtClean="0">
                <a:solidFill>
                  <a:schemeClr val="tx1"/>
                </a:solidFill>
              </a:rPr>
              <a:t>1</a:t>
            </a:r>
            <a:r>
              <a:rPr lang="en-US" altLang="ko-KR" sz="1400" dirty="0" smtClean="0">
                <a:solidFill>
                  <a:schemeClr val="tx1"/>
                </a:solidFill>
              </a:rPr>
              <a:t>·</a:t>
            </a:r>
            <a:r>
              <a:rPr lang="en-US" altLang="ko-KR" sz="1400" dirty="0" smtClean="0">
                <a:solidFill>
                  <a:schemeClr val="tx1"/>
                </a:solidFill>
              </a:rPr>
              <a:t>2</a:t>
            </a:r>
            <a:r>
              <a:rPr lang="ko-KR" altLang="en-US" sz="1400" dirty="0" smtClean="0">
                <a:solidFill>
                  <a:schemeClr val="tx1"/>
                </a:solidFill>
              </a:rPr>
              <a:t>급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감염병</a:t>
            </a:r>
            <a:r>
              <a:rPr lang="en-US" altLang="ko-KR" sz="1400" dirty="0" smtClean="0">
                <a:solidFill>
                  <a:schemeClr val="tx1"/>
                </a:solidFill>
              </a:rPr>
              <a:t>: 500</a:t>
            </a:r>
            <a:r>
              <a:rPr lang="ko-KR" altLang="en-US" sz="1400" dirty="0" smtClean="0">
                <a:solidFill>
                  <a:schemeClr val="tx1"/>
                </a:solidFill>
              </a:rPr>
              <a:t>만원 이하의 벌금              </a:t>
            </a:r>
            <a:r>
              <a:rPr lang="ko-KR" altLang="en-US" sz="1400" dirty="0" smtClean="0">
                <a:solidFill>
                  <a:schemeClr val="tx1"/>
                </a:solidFill>
              </a:rPr>
              <a:t>➁ 제</a:t>
            </a:r>
            <a:r>
              <a:rPr lang="en-US" altLang="ko-KR" sz="1400" dirty="0" smtClean="0">
                <a:solidFill>
                  <a:schemeClr val="tx1"/>
                </a:solidFill>
              </a:rPr>
              <a:t>3·4</a:t>
            </a:r>
            <a:r>
              <a:rPr lang="ko-KR" altLang="en-US" sz="1400" dirty="0" smtClean="0">
                <a:solidFill>
                  <a:schemeClr val="tx1"/>
                </a:solidFill>
              </a:rPr>
              <a:t>급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감염병</a:t>
            </a:r>
            <a:r>
              <a:rPr lang="en-US" altLang="ko-KR" sz="1400" dirty="0" smtClean="0">
                <a:solidFill>
                  <a:schemeClr val="tx1"/>
                </a:solidFill>
              </a:rPr>
              <a:t>: 300</a:t>
            </a:r>
            <a:r>
              <a:rPr lang="ko-KR" altLang="en-US" sz="1400" dirty="0" smtClean="0">
                <a:solidFill>
                  <a:schemeClr val="tx1"/>
                </a:solidFill>
              </a:rPr>
              <a:t>만원 이하의 벌금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177588"/>
              </p:ext>
            </p:extLst>
          </p:nvPr>
        </p:nvGraphicFramePr>
        <p:xfrm>
          <a:off x="200472" y="4221088"/>
          <a:ext cx="9505056" cy="220723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8152"/>
                <a:gridCol w="4680520"/>
                <a:gridCol w="1599928"/>
                <a:gridCol w="1856456"/>
              </a:tblGrid>
              <a:tr h="42601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신고 </a:t>
                      </a:r>
                      <a:r>
                        <a:rPr lang="ko-KR" altLang="en-US" sz="14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대상</a:t>
                      </a:r>
                      <a:endParaRPr lang="ko-KR" altLang="en-US" sz="1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신고시기</a:t>
                      </a:r>
                      <a:r>
                        <a:rPr lang="en-US" altLang="ko-KR" sz="14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신고 방법</a:t>
                      </a:r>
                      <a:endParaRPr lang="ko-KR" altLang="en-US" sz="1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28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급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(17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종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⊙</a:t>
                      </a:r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감염병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</a:rPr>
                        <a:t>의사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</a:rPr>
                        <a:t>환자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</a:rPr>
                        <a:t>병원체보유자를 진단</a:t>
                      </a:r>
                      <a:endParaRPr lang="en-US" altLang="ko-KR" sz="16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⊙ </a:t>
                      </a:r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감염병환자등의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 사체를 검안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⊙ 해당하는 </a:t>
                      </a:r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감염병으로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사망한 경우</a:t>
                      </a:r>
                      <a:endParaRPr lang="en-US" altLang="ko-KR" sz="1400" dirty="0" smtClean="0"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즉시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유선</a:t>
                      </a:r>
                      <a:r>
                        <a:rPr lang="ko-KR" altLang="en-US" sz="14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⇒ </a:t>
                      </a:r>
                      <a:r>
                        <a:rPr lang="ko-KR" altLang="en-US" sz="14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</a:t>
                      </a:r>
                      <a:r>
                        <a:rPr lang="en-US" altLang="ko-KR" sz="14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팩스 신고</a:t>
                      </a:r>
                      <a:endParaRPr lang="ko-KR" altLang="en-US" sz="14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급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(20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종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24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시간 이내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웹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팩스 신고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28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급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(26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종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2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급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(23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종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지정된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표본감시기관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일 이내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3000" y="6453336"/>
            <a:ext cx="963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HY중고딕" pitchFamily="18" charset="-127"/>
                <a:ea typeface="HY중고딕" pitchFamily="18" charset="-127"/>
              </a:rPr>
              <a:t>** </a:t>
            </a:r>
            <a:r>
              <a:rPr lang="ko-KR" altLang="en-US" sz="1400" dirty="0" smtClean="0">
                <a:latin typeface="HY중고딕" pitchFamily="18" charset="-127"/>
                <a:ea typeface="HY중고딕" pitchFamily="18" charset="-127"/>
              </a:rPr>
              <a:t>평일</a:t>
            </a:r>
            <a:r>
              <a:rPr lang="en-US" altLang="ko-KR" sz="1400" dirty="0" smtClean="0">
                <a:latin typeface="HY중고딕" pitchFamily="18" charset="-127"/>
                <a:ea typeface="HY중고딕" pitchFamily="18" charset="-127"/>
              </a:rPr>
              <a:t>, </a:t>
            </a:r>
            <a:r>
              <a:rPr lang="ko-KR" altLang="en-US" sz="1400" dirty="0" smtClean="0">
                <a:latin typeface="HY중고딕" pitchFamily="18" charset="-127"/>
                <a:ea typeface="HY중고딕" pitchFamily="18" charset="-127"/>
              </a:rPr>
              <a:t>공휴일</a:t>
            </a:r>
            <a:r>
              <a:rPr lang="en-US" altLang="ko-KR" sz="1400" dirty="0" smtClean="0">
                <a:latin typeface="HY중고딕" pitchFamily="18" charset="-127"/>
                <a:ea typeface="HY중고딕" pitchFamily="18" charset="-127"/>
              </a:rPr>
              <a:t>, </a:t>
            </a:r>
            <a:r>
              <a:rPr lang="ko-KR" altLang="en-US" sz="1400" dirty="0" smtClean="0">
                <a:latin typeface="HY중고딕" pitchFamily="18" charset="-127"/>
                <a:ea typeface="HY중고딕" pitchFamily="18" charset="-127"/>
              </a:rPr>
              <a:t>주말을 </a:t>
            </a:r>
            <a:r>
              <a:rPr lang="ko-KR" altLang="en-US" sz="1400" dirty="0" smtClean="0">
                <a:latin typeface="HY중고딕" pitchFamily="18" charset="-127"/>
                <a:ea typeface="HY중고딕" pitchFamily="18" charset="-127"/>
              </a:rPr>
              <a:t>포함하여 진단일과 신고일이 </a:t>
            </a:r>
            <a:r>
              <a:rPr lang="en-US" altLang="ko-KR" sz="1400" dirty="0" smtClean="0">
                <a:latin typeface="HY중고딕" pitchFamily="18" charset="-127"/>
                <a:ea typeface="HY중고딕" pitchFamily="18" charset="-127"/>
              </a:rPr>
              <a:t>2</a:t>
            </a:r>
            <a:r>
              <a:rPr lang="ko-KR" altLang="en-US" sz="1400" dirty="0" smtClean="0">
                <a:latin typeface="HY중고딕" pitchFamily="18" charset="-127"/>
                <a:ea typeface="HY중고딕" pitchFamily="18" charset="-127"/>
              </a:rPr>
              <a:t>일 이상 </a:t>
            </a:r>
            <a:r>
              <a:rPr lang="ko-KR" altLang="en-US" sz="1400" dirty="0" err="1" smtClean="0">
                <a:latin typeface="HY중고딕" pitchFamily="18" charset="-127"/>
                <a:ea typeface="HY중고딕" pitchFamily="18" charset="-127"/>
              </a:rPr>
              <a:t>차이나면</a:t>
            </a:r>
            <a:r>
              <a:rPr lang="ko-KR" altLang="en-US" sz="1400" dirty="0" smtClean="0">
                <a:latin typeface="HY중고딕" pitchFamily="18" charset="-127"/>
                <a:ea typeface="HY중고딕" pitchFamily="18" charset="-127"/>
              </a:rPr>
              <a:t> 지연신고임 ★★★</a:t>
            </a:r>
            <a:endParaRPr lang="en-US" altLang="ko-KR" sz="1400" dirty="0">
              <a:latin typeface="HY중고딕" pitchFamily="18" charset="-127"/>
              <a:ea typeface="HY중고딕" pitchFamily="18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329264" y="-99392"/>
            <a:ext cx="2520280" cy="432046"/>
            <a:chOff x="7329264" y="-99392"/>
            <a:chExt cx="2520280" cy="432046"/>
          </a:xfrm>
        </p:grpSpPr>
        <p:sp>
          <p:nvSpPr>
            <p:cNvPr id="8" name="제목 1"/>
            <p:cNvSpPr txBox="1">
              <a:spLocks/>
            </p:cNvSpPr>
            <p:nvPr/>
          </p:nvSpPr>
          <p:spPr>
            <a:xfrm>
              <a:off x="7329264" y="-99392"/>
              <a:ext cx="2520280" cy="43204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ko-KR" altLang="en-US" sz="1400" b="1" dirty="0" smtClean="0">
                  <a:solidFill>
                    <a:schemeClr val="bg1">
                      <a:lumMod val="65000"/>
                    </a:schemeClr>
                  </a:solidFill>
                </a:rPr>
                <a:t>대전광역시 동구보건소</a:t>
              </a:r>
              <a:endParaRPr lang="ko-KR" altLang="en-US" sz="14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1026" name="Picture 2" descr="C:\Users\user\Desktop\감염병\서식\대전 동구 로고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9304" y="44625"/>
              <a:ext cx="180000" cy="178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제목 1"/>
          <p:cNvSpPr txBox="1">
            <a:spLocks/>
          </p:cNvSpPr>
          <p:nvPr/>
        </p:nvSpPr>
        <p:spPr>
          <a:xfrm>
            <a:off x="56456" y="-99392"/>
            <a:ext cx="2520280" cy="432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200" b="1" dirty="0" smtClean="0">
                <a:solidFill>
                  <a:schemeClr val="bg1">
                    <a:lumMod val="65000"/>
                  </a:schemeClr>
                </a:solidFill>
              </a:rPr>
              <a:t>2019</a:t>
            </a:r>
            <a:r>
              <a:rPr lang="ko-KR" altLang="en-US" sz="1200" b="1" dirty="0" smtClean="0">
                <a:solidFill>
                  <a:schemeClr val="bg1">
                    <a:lumMod val="65000"/>
                  </a:schemeClr>
                </a:solidFill>
              </a:rPr>
              <a:t>년 </a:t>
            </a:r>
            <a:r>
              <a:rPr lang="en-US" altLang="ko-KR" sz="1200" b="1" dirty="0" smtClean="0">
                <a:solidFill>
                  <a:schemeClr val="bg1">
                    <a:lumMod val="65000"/>
                  </a:schemeClr>
                </a:solidFill>
              </a:rPr>
              <a:t>12</a:t>
            </a:r>
            <a:r>
              <a:rPr lang="ko-KR" altLang="en-US" sz="1200" b="1" dirty="0" smtClean="0">
                <a:solidFill>
                  <a:schemeClr val="bg1">
                    <a:lumMod val="65000"/>
                  </a:schemeClr>
                </a:solidFill>
              </a:rPr>
              <a:t>월</a:t>
            </a:r>
            <a:endParaRPr lang="ko-KR" altLang="en-US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79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72480" y="908720"/>
            <a:ext cx="9361040" cy="3960440"/>
            <a:chOff x="272480" y="980728"/>
            <a:chExt cx="9361040" cy="3960440"/>
          </a:xfrm>
        </p:grpSpPr>
        <p:sp>
          <p:nvSpPr>
            <p:cNvPr id="3" name="직사각형 2"/>
            <p:cNvSpPr/>
            <p:nvPr/>
          </p:nvSpPr>
          <p:spPr>
            <a:xfrm>
              <a:off x="272480" y="980728"/>
              <a:ext cx="1008112" cy="39604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dirty="0" smtClean="0"/>
                <a:t>웹</a:t>
              </a:r>
              <a:endParaRPr lang="en-US" altLang="ko-KR" dirty="0" smtClean="0"/>
            </a:p>
            <a:p>
              <a:pPr algn="ctr">
                <a:lnSpc>
                  <a:spcPct val="150000"/>
                </a:lnSpc>
              </a:pPr>
              <a:r>
                <a:rPr lang="ko-KR" altLang="en-US" dirty="0" smtClean="0"/>
                <a:t>신고</a:t>
              </a:r>
              <a:endParaRPr lang="ko-KR" altLang="en-US" dirty="0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1280592" y="980728"/>
              <a:ext cx="8352928" cy="3960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b="1" dirty="0">
                  <a:solidFill>
                    <a:schemeClr val="tx1"/>
                  </a:solidFill>
                </a:rPr>
                <a:t>▣ </a:t>
              </a:r>
              <a:r>
                <a:rPr lang="ko-KR" altLang="en-US" b="1" dirty="0" smtClean="0">
                  <a:solidFill>
                    <a:schemeClr val="tx1"/>
                  </a:solidFill>
                </a:rPr>
                <a:t>질병보건통합관리시스템</a:t>
              </a:r>
              <a:r>
                <a:rPr lang="ko-KR" altLang="en-US" b="1" dirty="0">
                  <a:solidFill>
                    <a:schemeClr val="tx1"/>
                  </a:solidFill>
                </a:rPr>
                <a:t> </a:t>
              </a:r>
              <a:r>
                <a:rPr lang="en-US" altLang="ko-KR" b="1" dirty="0">
                  <a:solidFill>
                    <a:schemeClr val="tx1"/>
                  </a:solidFill>
                </a:rPr>
                <a:t>(</a:t>
              </a:r>
              <a:r>
                <a:rPr lang="en-US" altLang="ko-KR" b="1" dirty="0">
                  <a:solidFill>
                    <a:schemeClr val="tx1"/>
                  </a:solidFill>
                  <a:hlinkClick r:id="rId2"/>
                </a:rPr>
                <a:t>https://is.cdc.go.kr</a:t>
              </a:r>
              <a:r>
                <a:rPr lang="en-US" altLang="ko-KR" b="1" dirty="0" smtClean="0">
                  <a:solidFill>
                    <a:schemeClr val="tx1"/>
                  </a:solidFill>
                </a:rPr>
                <a:t>)</a:t>
              </a:r>
              <a:r>
                <a:rPr lang="ko-KR" altLang="en-US" b="1" dirty="0" smtClean="0">
                  <a:solidFill>
                    <a:schemeClr val="tx1"/>
                  </a:solidFill>
                </a:rPr>
                <a:t> 권한 받기</a:t>
              </a:r>
              <a:endParaRPr lang="en-US" altLang="ko-KR" b="1" dirty="0" smtClean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/>
                  </a:solidFill>
                </a:rPr>
                <a:t> 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⇒ 회원가입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공인인증서 등록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메뉴열기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권한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부가정보관리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err="1" smtClean="0">
                  <a:solidFill>
                    <a:schemeClr val="tx1"/>
                  </a:solidFill>
                </a:rPr>
                <a:t>감염병관리통합정보</a:t>
              </a:r>
              <a:endParaRPr lang="en-US" altLang="ko-KR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    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지원의 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‘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환자감시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전수감시 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USER’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승인요청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옆의 전화번호로 전화하여 승인 요청</a:t>
              </a:r>
              <a:endParaRPr lang="en-US" altLang="ko-KR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b="1" dirty="0">
                  <a:solidFill>
                    <a:schemeClr val="tx1"/>
                  </a:solidFill>
                </a:rPr>
                <a:t>▣ </a:t>
              </a:r>
              <a:r>
                <a:rPr lang="ko-KR" altLang="en-US" b="1" dirty="0" smtClean="0">
                  <a:solidFill>
                    <a:schemeClr val="tx1"/>
                  </a:solidFill>
                </a:rPr>
                <a:t>신고하기</a:t>
              </a:r>
              <a:endParaRPr lang="en-US" altLang="ko-KR" b="1" dirty="0" smtClean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 ⇒ </a:t>
              </a:r>
              <a:r>
                <a:rPr lang="ko-KR" altLang="en-US" sz="1600" dirty="0">
                  <a:solidFill>
                    <a:schemeClr val="tx1"/>
                  </a:solidFill>
                </a:rPr>
                <a:t>로그인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메뉴열기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err="1" smtClean="0">
                  <a:solidFill>
                    <a:schemeClr val="tx1"/>
                  </a:solidFill>
                </a:rPr>
                <a:t>감염병관리통합정보지원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환자감시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err="1" smtClean="0">
                  <a:solidFill>
                    <a:schemeClr val="tx1"/>
                  </a:solidFill>
                </a:rPr>
                <a:t>감염병웹신고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1600" dirty="0" err="1" smtClean="0">
                  <a:solidFill>
                    <a:schemeClr val="tx1"/>
                  </a:solidFill>
                </a:rPr>
                <a:t>병의원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)&gt;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   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신고내역 관리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‘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신고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’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버튼 클릭하여 서식 작성 및 신고</a:t>
              </a:r>
              <a:endParaRPr lang="en-US" altLang="ko-KR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b="1" dirty="0">
                  <a:solidFill>
                    <a:schemeClr val="tx1"/>
                  </a:solidFill>
                </a:rPr>
                <a:t>▣ </a:t>
              </a:r>
              <a:r>
                <a:rPr lang="en-US" altLang="ko-KR" b="1" dirty="0" smtClean="0">
                  <a:solidFill>
                    <a:schemeClr val="tx1"/>
                  </a:solidFill>
                </a:rPr>
                <a:t>‘</a:t>
              </a:r>
              <a:r>
                <a:rPr lang="ko-KR" altLang="en-US" b="1" dirty="0" err="1" smtClean="0">
                  <a:solidFill>
                    <a:schemeClr val="tx1"/>
                  </a:solidFill>
                </a:rPr>
                <a:t>검사진행중</a:t>
              </a:r>
              <a:r>
                <a:rPr lang="en-US" altLang="ko-KR" b="1" dirty="0" smtClean="0">
                  <a:solidFill>
                    <a:schemeClr val="tx1"/>
                  </a:solidFill>
                </a:rPr>
                <a:t>’</a:t>
              </a:r>
              <a:r>
                <a:rPr lang="ko-KR" altLang="en-US" b="1" dirty="0" smtClean="0">
                  <a:solidFill>
                    <a:schemeClr val="tx1"/>
                  </a:solidFill>
                </a:rPr>
                <a:t>으로 신고한 경우</a:t>
              </a:r>
              <a:endParaRPr lang="en-US" altLang="ko-KR" b="1" dirty="0" smtClean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 ⇒ </a:t>
              </a:r>
              <a:r>
                <a:rPr lang="ko-KR" altLang="en-US" sz="1600" dirty="0">
                  <a:solidFill>
                    <a:schemeClr val="tx1"/>
                  </a:solidFill>
                </a:rPr>
                <a:t>로그인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메뉴열기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err="1" smtClean="0">
                  <a:solidFill>
                    <a:schemeClr val="tx1"/>
                  </a:solidFill>
                </a:rPr>
                <a:t>감염병관리통합정보지원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환자감시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err="1" smtClean="0">
                  <a:solidFill>
                    <a:schemeClr val="tx1"/>
                  </a:solidFill>
                </a:rPr>
                <a:t>감염병웹신고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1600" dirty="0" err="1" smtClean="0">
                  <a:solidFill>
                    <a:schemeClr val="tx1"/>
                  </a:solidFill>
                </a:rPr>
                <a:t>병의원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)&gt;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   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수정요청 관리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검사결과 입력하여 보고     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ex)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검사결과 음성 또는 결과치 입력</a:t>
              </a:r>
              <a:endParaRPr lang="en-US" altLang="ko-KR" sz="16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640632" y="404664"/>
            <a:ext cx="7632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HY중고딕" pitchFamily="18" charset="-127"/>
                <a:ea typeface="HY중고딕" pitchFamily="18" charset="-127"/>
              </a:rPr>
              <a:t>※ </a:t>
            </a:r>
            <a:r>
              <a:rPr lang="ko-KR" altLang="en-US" sz="1400" dirty="0" smtClean="0">
                <a:latin typeface="HY중고딕" pitchFamily="18" charset="-127"/>
                <a:ea typeface="HY중고딕" pitchFamily="18" charset="-127"/>
              </a:rPr>
              <a:t>팩스는 오류로 인한 지연신고 가능성이 있어 </a:t>
            </a:r>
            <a:r>
              <a:rPr lang="ko-KR" altLang="en-US" sz="1400" dirty="0" err="1" smtClean="0">
                <a:latin typeface="HY중고딕" pitchFamily="18" charset="-127"/>
                <a:ea typeface="HY중고딕" pitchFamily="18" charset="-127"/>
              </a:rPr>
              <a:t>웹신고</a:t>
            </a:r>
            <a:r>
              <a:rPr lang="ko-KR" altLang="en-US" sz="1400" dirty="0" smtClean="0">
                <a:latin typeface="HY중고딕" pitchFamily="18" charset="-127"/>
                <a:ea typeface="HY중고딕" pitchFamily="18" charset="-127"/>
              </a:rPr>
              <a:t> 권장함</a:t>
            </a:r>
            <a:endParaRPr lang="ko-KR" altLang="en-US" sz="1400" dirty="0">
              <a:latin typeface="HY중고딕" pitchFamily="18" charset="-127"/>
              <a:ea typeface="HY중고딕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72480" y="5013176"/>
            <a:ext cx="9361040" cy="1368152"/>
            <a:chOff x="272480" y="5301208"/>
            <a:chExt cx="9361040" cy="1368152"/>
          </a:xfrm>
        </p:grpSpPr>
        <p:sp>
          <p:nvSpPr>
            <p:cNvPr id="8" name="직사각형 7"/>
            <p:cNvSpPr/>
            <p:nvPr/>
          </p:nvSpPr>
          <p:spPr>
            <a:xfrm>
              <a:off x="272480" y="5301208"/>
              <a:ext cx="1033140" cy="13681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dirty="0" smtClean="0"/>
                <a:t>팩스</a:t>
              </a:r>
              <a:endParaRPr lang="en-US" altLang="ko-KR" dirty="0" smtClean="0"/>
            </a:p>
            <a:p>
              <a:pPr algn="ctr">
                <a:lnSpc>
                  <a:spcPct val="150000"/>
                </a:lnSpc>
              </a:pPr>
              <a:r>
                <a:rPr lang="ko-KR" altLang="en-US" dirty="0" smtClean="0"/>
                <a:t>신고</a:t>
              </a:r>
              <a:endParaRPr lang="ko-KR" altLang="en-US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280592" y="5301208"/>
              <a:ext cx="8352928" cy="13681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tx1"/>
                  </a:solidFill>
                </a:rPr>
                <a:t>▣ 신고서식 작성하여 팩스로 전송</a:t>
              </a:r>
              <a:r>
                <a:rPr lang="en-US" altLang="ko-KR" dirty="0">
                  <a:solidFill>
                    <a:schemeClr val="tx1"/>
                  </a:solidFill>
                </a:rPr>
                <a:t>(</a:t>
              </a:r>
              <a:r>
                <a:rPr lang="ko-KR" altLang="en-US" dirty="0">
                  <a:solidFill>
                    <a:schemeClr val="tx1"/>
                  </a:solidFill>
                </a:rPr>
                <a:t>대전광역시 동구보건소 ☎ </a:t>
              </a:r>
              <a:r>
                <a:rPr lang="en-US" altLang="ko-KR" dirty="0">
                  <a:solidFill>
                    <a:schemeClr val="tx1"/>
                  </a:solidFill>
                </a:rPr>
                <a:t>042-224-6170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600" dirty="0" smtClean="0">
                  <a:solidFill>
                    <a:schemeClr val="tx1"/>
                  </a:solidFill>
                </a:rPr>
                <a:t> ⇒ 질병관리본부 홈페이지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(</a:t>
              </a:r>
              <a:r>
                <a:rPr lang="en-US" altLang="ko-KR" sz="1600" dirty="0" smtClean="0">
                  <a:solidFill>
                    <a:schemeClr val="tx1"/>
                  </a:solidFill>
                  <a:hlinkClick r:id="rId3"/>
                </a:rPr>
                <a:t>http://www.cdc.go.kr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)&gt; </a:t>
              </a:r>
              <a:r>
                <a:rPr lang="ko-KR" altLang="en-US" sz="1600" dirty="0" err="1" smtClean="0">
                  <a:solidFill>
                    <a:schemeClr val="tx1"/>
                  </a:solidFill>
                </a:rPr>
                <a:t>알림자료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법령지침서식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    ‘</a:t>
              </a:r>
              <a:r>
                <a:rPr lang="ko-KR" altLang="en-US" sz="1600" dirty="0" err="1" smtClean="0">
                  <a:solidFill>
                    <a:schemeClr val="tx1"/>
                  </a:solidFill>
                </a:rPr>
                <a:t>감염병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’ </a:t>
              </a:r>
              <a:r>
                <a:rPr lang="ko-KR" altLang="en-US" sz="1600" dirty="0" smtClean="0">
                  <a:solidFill>
                    <a:schemeClr val="tx1"/>
                  </a:solidFill>
                </a:rPr>
                <a:t>검색하여 서식 찾기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7329264" y="-99392"/>
            <a:ext cx="2520280" cy="432046"/>
            <a:chOff x="7329264" y="-99392"/>
            <a:chExt cx="2520280" cy="432046"/>
          </a:xfrm>
        </p:grpSpPr>
        <p:sp>
          <p:nvSpPr>
            <p:cNvPr id="15" name="제목 1"/>
            <p:cNvSpPr txBox="1">
              <a:spLocks/>
            </p:cNvSpPr>
            <p:nvPr/>
          </p:nvSpPr>
          <p:spPr>
            <a:xfrm>
              <a:off x="7329264" y="-99392"/>
              <a:ext cx="2520280" cy="43204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ko-KR" altLang="en-US" sz="1400" b="1" dirty="0" smtClean="0">
                  <a:solidFill>
                    <a:schemeClr val="bg1">
                      <a:lumMod val="65000"/>
                    </a:schemeClr>
                  </a:solidFill>
                </a:rPr>
                <a:t>대전광역시 동구보건소</a:t>
              </a:r>
              <a:endParaRPr lang="ko-KR" altLang="en-US" sz="14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16" name="Picture 2" descr="C:\Users\user\Desktop\감염병\서식\대전 동구 로고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9304" y="44625"/>
              <a:ext cx="180000" cy="178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제목 1"/>
          <p:cNvSpPr txBox="1">
            <a:spLocks/>
          </p:cNvSpPr>
          <p:nvPr/>
        </p:nvSpPr>
        <p:spPr>
          <a:xfrm>
            <a:off x="56456" y="-99392"/>
            <a:ext cx="2520280" cy="432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200" b="1" dirty="0" smtClean="0">
                <a:solidFill>
                  <a:schemeClr val="bg1">
                    <a:lumMod val="65000"/>
                  </a:schemeClr>
                </a:solidFill>
              </a:rPr>
              <a:t>2019</a:t>
            </a:r>
            <a:r>
              <a:rPr lang="ko-KR" altLang="en-US" sz="1200" b="1" dirty="0" smtClean="0">
                <a:solidFill>
                  <a:schemeClr val="bg1">
                    <a:lumMod val="65000"/>
                  </a:schemeClr>
                </a:solidFill>
              </a:rPr>
              <a:t>년 </a:t>
            </a:r>
            <a:r>
              <a:rPr lang="en-US" altLang="ko-KR" sz="1200" b="1" dirty="0" smtClean="0">
                <a:solidFill>
                  <a:schemeClr val="bg1">
                    <a:lumMod val="65000"/>
                  </a:schemeClr>
                </a:solidFill>
              </a:rPr>
              <a:t>12</a:t>
            </a:r>
            <a:r>
              <a:rPr lang="ko-KR" altLang="en-US" sz="1200" b="1" dirty="0" smtClean="0">
                <a:solidFill>
                  <a:schemeClr val="bg1">
                    <a:lumMod val="65000"/>
                  </a:schemeClr>
                </a:solidFill>
              </a:rPr>
              <a:t>월</a:t>
            </a:r>
            <a:endParaRPr lang="ko-KR" altLang="en-US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제목 1"/>
          <p:cNvSpPr txBox="1">
            <a:spLocks/>
          </p:cNvSpPr>
          <p:nvPr/>
        </p:nvSpPr>
        <p:spPr>
          <a:xfrm>
            <a:off x="128464" y="116632"/>
            <a:ext cx="8420100" cy="648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신고 방법</a:t>
            </a:r>
            <a:endParaRPr lang="ko-KR" altLang="en-US" sz="2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5008" y="6381328"/>
            <a:ext cx="9634536" cy="36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400" dirty="0" smtClean="0">
                <a:latin typeface="HY중고딕" pitchFamily="18" charset="-127"/>
                <a:ea typeface="HY중고딕" pitchFamily="18" charset="-127"/>
              </a:rPr>
              <a:t>※ </a:t>
            </a:r>
            <a:r>
              <a:rPr lang="ko-KR" altLang="en-US" sz="1400" dirty="0">
                <a:latin typeface="HY중고딕" pitchFamily="18" charset="-127"/>
                <a:ea typeface="HY중고딕" pitchFamily="18" charset="-127"/>
              </a:rPr>
              <a:t>타 의료기관 신고 여부와 관계없이 해당 의료기관에서 해당 </a:t>
            </a:r>
            <a:r>
              <a:rPr lang="ko-KR" altLang="en-US" sz="1400" dirty="0" err="1">
                <a:latin typeface="HY중고딕" pitchFamily="18" charset="-127"/>
                <a:ea typeface="HY중고딕" pitchFamily="18" charset="-127"/>
              </a:rPr>
              <a:t>감염병을</a:t>
            </a:r>
            <a:r>
              <a:rPr lang="ko-KR" altLang="en-US" sz="1400" dirty="0">
                <a:latin typeface="HY중고딕" pitchFamily="18" charset="-127"/>
                <a:ea typeface="HY중고딕" pitchFamily="18" charset="-127"/>
              </a:rPr>
              <a:t> 진단한 경우 신고 </a:t>
            </a:r>
            <a:r>
              <a:rPr lang="ko-KR" altLang="en-US" sz="1400" dirty="0" smtClean="0">
                <a:latin typeface="HY중고딕" pitchFamily="18" charset="-127"/>
                <a:ea typeface="HY중고딕" pitchFamily="18" charset="-127"/>
              </a:rPr>
              <a:t>대상임</a:t>
            </a:r>
            <a:endParaRPr lang="en-US" altLang="ko-KR" sz="1400" dirty="0">
              <a:latin typeface="HY중고딕" pitchFamily="18" charset="-127"/>
              <a:ea typeface="HY중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229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441</Words>
  <Application>Microsoft Office PowerPoint</Application>
  <PresentationFormat>A4 용지(210x297mm)</PresentationFormat>
  <Paragraphs>53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법정감염병 신고 안내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법정감염병 신고방법 및 절차 안내</dc:title>
  <dc:creator>user</dc:creator>
  <cp:lastModifiedBy>user</cp:lastModifiedBy>
  <cp:revision>82</cp:revision>
  <dcterms:created xsi:type="dcterms:W3CDTF">2019-12-11T08:06:15Z</dcterms:created>
  <dcterms:modified xsi:type="dcterms:W3CDTF">2019-12-15T05:22:58Z</dcterms:modified>
</cp:coreProperties>
</file>