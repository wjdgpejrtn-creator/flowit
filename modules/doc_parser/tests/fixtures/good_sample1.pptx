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4" r:id="rId1"/>
  </p:sldMasterIdLst>
  <p:notesMasterIdLst>
    <p:notesMasterId r:id="rId21"/>
  </p:notesMasterIdLst>
  <p:handoutMasterIdLst>
    <p:handoutMasterId r:id="rId22"/>
  </p:handoutMasterIdLst>
  <p:sldIdLst>
    <p:sldId id="256" r:id="rId2"/>
    <p:sldId id="301" r:id="rId3"/>
    <p:sldId id="336" r:id="rId4"/>
    <p:sldId id="424" r:id="rId5"/>
    <p:sldId id="425" r:id="rId6"/>
    <p:sldId id="427" r:id="rId7"/>
    <p:sldId id="376" r:id="rId8"/>
    <p:sldId id="426" r:id="rId9"/>
    <p:sldId id="428" r:id="rId10"/>
    <p:sldId id="429" r:id="rId11"/>
    <p:sldId id="430" r:id="rId12"/>
    <p:sldId id="431" r:id="rId13"/>
    <p:sldId id="432" r:id="rId14"/>
    <p:sldId id="433" r:id="rId15"/>
    <p:sldId id="434" r:id="rId16"/>
    <p:sldId id="435" r:id="rId17"/>
    <p:sldId id="437" r:id="rId18"/>
    <p:sldId id="436" r:id="rId19"/>
    <p:sldId id="300" r:id="rId20"/>
  </p:sldIdLst>
  <p:sldSz cx="9144000" cy="6858000" type="screen4x3"/>
  <p:notesSz cx="6797675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0033CC"/>
    <a:srgbClr val="E6FFE6"/>
    <a:srgbClr val="87B0E1"/>
    <a:srgbClr val="465723"/>
    <a:srgbClr val="990000"/>
    <a:srgbClr val="292929"/>
    <a:srgbClr val="000099"/>
    <a:srgbClr val="4D8AD3"/>
    <a:srgbClr val="AFD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64" autoAdjust="0"/>
    <p:restoredTop sz="86974" autoAdjust="0"/>
  </p:normalViewPr>
  <p:slideViewPr>
    <p:cSldViewPr>
      <p:cViewPr>
        <p:scale>
          <a:sx n="100" d="100"/>
          <a:sy n="100" d="100"/>
        </p:scale>
        <p:origin x="-1956" y="-4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A7516-694D-499C-AEBF-C252F3426ADD}" type="datetimeFigureOut">
              <a:rPr lang="ko-KR" altLang="en-US" smtClean="0"/>
              <a:t>2015-07-22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50A4A-E093-4AE3-99F7-0CE717EAD1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4894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965" tIns="45482" rIns="90965" bIns="45482" numCol="1" anchor="t" anchorCtr="0" compatLnSpc="1">
            <a:prstTxWarp prst="textNoShape">
              <a:avLst/>
            </a:prstTxWarp>
          </a:bodyPr>
          <a:lstStyle>
            <a:lvl1pPr defTabSz="909638" eaLnBrk="0" hangingPunct="0">
              <a:defRPr sz="1200"/>
            </a:lvl1pPr>
          </a:lstStyle>
          <a:p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48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965" tIns="45482" rIns="90965" bIns="45482" numCol="1" anchor="t" anchorCtr="0" compatLnSpc="1">
            <a:prstTxWarp prst="textNoShape">
              <a:avLst/>
            </a:prstTxWarp>
          </a:bodyPr>
          <a:lstStyle>
            <a:lvl1pPr algn="r" defTabSz="909638" eaLnBrk="0" hangingPunct="0">
              <a:defRPr sz="1200"/>
            </a:lvl1pPr>
          </a:lstStyle>
          <a:p>
            <a:fld id="{64EF811C-BE18-4E77-A9C0-AA77B066959B}" type="datetimeFigureOut">
              <a:rPr lang="ko-KR" altLang="en-US"/>
              <a:pPr/>
              <a:t>2015-07-22</a:t>
            </a:fld>
            <a:endParaRPr lang="en-US" altLang="ko-KR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41363"/>
            <a:ext cx="493553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965" tIns="45482" rIns="90965" bIns="454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48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965" tIns="45482" rIns="90965" bIns="45482" numCol="1" anchor="b" anchorCtr="0" compatLnSpc="1">
            <a:prstTxWarp prst="textNoShape">
              <a:avLst/>
            </a:prstTxWarp>
          </a:bodyPr>
          <a:lstStyle>
            <a:lvl1pPr defTabSz="909638" eaLnBrk="0" hangingPunct="0">
              <a:defRPr sz="1200"/>
            </a:lvl1pPr>
          </a:lstStyle>
          <a:p>
            <a:endParaRPr lang="en-US" altLang="ko-KR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378950"/>
            <a:ext cx="29448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965" tIns="45482" rIns="90965" bIns="45482" numCol="1" anchor="b" anchorCtr="0" compatLnSpc="1">
            <a:prstTxWarp prst="textNoShape">
              <a:avLst/>
            </a:prstTxWarp>
          </a:bodyPr>
          <a:lstStyle>
            <a:lvl1pPr algn="r" defTabSz="909638" eaLnBrk="0" hangingPunct="0">
              <a:defRPr sz="1200"/>
            </a:lvl1pPr>
          </a:lstStyle>
          <a:p>
            <a:fld id="{2EB8BF18-AB47-4452-83CE-9E88E74FC40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00610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ko-KR" b="0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ko-KR" altLang="en-US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10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11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12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13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14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15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16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17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특실검색시스템의 작업화면은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개의 창으로 구성되고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초기설정에서 그 배치는 그림과 같습니다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ko-KR" altLang="en-US" sz="1200" kern="1200" dirty="0" smtClean="0"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8BF18-AB47-4452-83CE-9E88E74FC408}" type="slidenum">
              <a:rPr lang="ko-KR" altLang="en-US" smtClean="0"/>
              <a:pPr/>
              <a:t>18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ko-KR" altLang="en-US" b="0" dirty="0" smtClean="0"/>
          </a:p>
        </p:txBody>
      </p:sp>
      <p:sp>
        <p:nvSpPr>
          <p:cNvPr id="26628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CE4179-A12F-4ECA-807F-2E9839F20925}" type="slidenum">
              <a:rPr lang="ko-KR" altLang="en-US"/>
              <a:pPr/>
              <a:t>19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그림 8" descr="마스터 copy.jpg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auto">
          <a:xfrm>
            <a:off x="457200" y="1017588"/>
            <a:ext cx="8229600" cy="5411787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pic>
        <p:nvPicPr>
          <p:cNvPr id="1038" name="Picture 14" descr="KIPO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243888" y="115888"/>
            <a:ext cx="603250" cy="74295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4" r:id="rId2"/>
    <p:sldLayoutId id="2147483713" r:id="rId3"/>
    <p:sldLayoutId id="2147483712" r:id="rId4"/>
    <p:sldLayoutId id="2147483711" r:id="rId5"/>
    <p:sldLayoutId id="2147483710" r:id="rId6"/>
    <p:sldLayoutId id="2147483709" r:id="rId7"/>
    <p:sldLayoutId id="2147483708" r:id="rId8"/>
    <p:sldLayoutId id="2147483707" r:id="rId9"/>
    <p:sldLayoutId id="2147483706" r:id="rId10"/>
    <p:sldLayoutId id="2147483705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그림 3" descr="메인 copy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323528" y="1700808"/>
            <a:ext cx="8496944" cy="187220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/>
            <a:r>
              <a:rPr lang="ko-KR" altLang="en-US" sz="4400" b="1" dirty="0" smtClean="0">
                <a:solidFill>
                  <a:schemeClr val="accent1"/>
                </a:solidFill>
              </a:rPr>
              <a:t>청구범위의 기재방법</a:t>
            </a:r>
            <a:endParaRPr lang="en-US" altLang="ko-KR" sz="4400" b="1" dirty="0" smtClean="0">
              <a:solidFill>
                <a:schemeClr val="accent1"/>
              </a:solidFill>
            </a:endParaRPr>
          </a:p>
          <a:p>
            <a:pPr algn="ctr" latinLnBrk="0"/>
            <a:r>
              <a:rPr lang="en-US" altLang="ko-KR" sz="4400" b="1" dirty="0" smtClean="0">
                <a:solidFill>
                  <a:schemeClr val="accent1"/>
                </a:solidFill>
              </a:rPr>
              <a:t>(</a:t>
            </a:r>
            <a:r>
              <a:rPr lang="ko-KR" altLang="en-US" sz="4400" b="1" dirty="0" smtClean="0">
                <a:solidFill>
                  <a:schemeClr val="accent1"/>
                </a:solidFill>
              </a:rPr>
              <a:t>형식적 요</a:t>
            </a:r>
            <a:r>
              <a:rPr lang="ko-KR" altLang="en-US" sz="4400" b="1" dirty="0">
                <a:solidFill>
                  <a:schemeClr val="accent1"/>
                </a:solidFill>
              </a:rPr>
              <a:t>건</a:t>
            </a:r>
            <a:r>
              <a:rPr lang="en-US" altLang="ko-KR" sz="4400" b="1" dirty="0">
                <a:solidFill>
                  <a:schemeClr val="accent1"/>
                </a:solidFill>
              </a:rPr>
              <a:t>)</a:t>
            </a:r>
            <a:endParaRPr lang="ko-KR" altLang="en-US" sz="4400" b="1" dirty="0">
              <a:solidFill>
                <a:schemeClr val="accent1"/>
              </a:solidFill>
            </a:endParaRPr>
          </a:p>
        </p:txBody>
      </p:sp>
      <p:sp>
        <p:nvSpPr>
          <p:cNvPr id="9" name="TextBox 24"/>
          <p:cNvSpPr txBox="1">
            <a:spLocks noChangeArrowheads="1"/>
          </p:cNvSpPr>
          <p:nvPr/>
        </p:nvSpPr>
        <p:spPr bwMode="auto">
          <a:xfrm>
            <a:off x="3059832" y="4725144"/>
            <a:ext cx="3024336" cy="1200329"/>
          </a:xfrm>
          <a:prstGeom prst="rect">
            <a:avLst/>
          </a:prstGeom>
          <a:solidFill>
            <a:schemeClr val="bg1">
              <a:alpha val="47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400" b="1" dirty="0" smtClean="0">
                <a:solidFill>
                  <a:schemeClr val="bg1">
                    <a:lumMod val="50000"/>
                  </a:schemeClr>
                </a:solidFill>
                <a:latin typeface="HY헤드라인M" pitchFamily="18" charset="-127"/>
                <a:ea typeface="HY헤드라인M" pitchFamily="18" charset="-127"/>
                <a:cs typeface="Tahoma" pitchFamily="34" charset="0"/>
              </a:rPr>
              <a:t>2015.07.23.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2400" b="1" dirty="0" smtClean="0">
              <a:solidFill>
                <a:schemeClr val="bg1">
                  <a:lumMod val="50000"/>
                </a:schemeClr>
              </a:solidFill>
              <a:latin typeface="HY헤드라인M" pitchFamily="18" charset="-127"/>
              <a:ea typeface="HY헤드라인M" pitchFamily="18" charset="-127"/>
              <a:cs typeface="Tahoma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400" b="1" dirty="0" smtClean="0">
                <a:solidFill>
                  <a:schemeClr val="bg1">
                    <a:lumMod val="50000"/>
                  </a:schemeClr>
                </a:solidFill>
                <a:latin typeface="HY헤드라인M" pitchFamily="18" charset="-127"/>
                <a:ea typeface="HY헤드라인M" pitchFamily="18" charset="-127"/>
                <a:cs typeface="Tahoma" pitchFamily="34" charset="0"/>
              </a:rPr>
              <a:t>특허청  신 동 혁</a:t>
            </a:r>
            <a:endParaRPr lang="en-US" altLang="ko-KR" sz="2800" b="1" dirty="0">
              <a:latin typeface="HY헤드라인M" pitchFamily="18" charset="-127"/>
              <a:ea typeface="HY헤드라인M" pitchFamily="18" charset="-127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837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atinLnBrk="0"/>
            <a:r>
              <a:rPr kumimoji="0" lang="ko-KR" altLang="en-US" sz="2400" b="1" dirty="0" smtClean="0">
                <a:solidFill>
                  <a:schemeClr val="tx1"/>
                </a:solidFill>
                <a:latin typeface="Tahoma" pitchFamily="34" charset="0"/>
                <a:cs typeface="Tahoma" pitchFamily="34" charset="0"/>
                <a:sym typeface="Wingdings" pitchFamily="2" charset="2"/>
              </a:rPr>
              <a:t>목차</a:t>
            </a:r>
            <a:endParaRPr kumimoji="0" lang="ko-KR" altLang="en-US" b="1" dirty="0">
              <a:solidFill>
                <a:schemeClr val="tx1"/>
              </a:solidFill>
              <a:latin typeface="Tahoma" pitchFamily="34" charset="0"/>
              <a:cs typeface="Tahoma" pitchFamily="34" charset="0"/>
              <a:sym typeface="Wingdings" pitchFamily="2" charset="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9" name="AutoShape 24"/>
          <p:cNvSpPr>
            <a:spLocks noChangeArrowheads="1"/>
          </p:cNvSpPr>
          <p:nvPr/>
        </p:nvSpPr>
        <p:spPr bwMode="auto">
          <a:xfrm>
            <a:off x="899592" y="1052736"/>
            <a:ext cx="7416824" cy="5328592"/>
          </a:xfrm>
          <a:prstGeom prst="roundRect">
            <a:avLst>
              <a:gd name="adj" fmla="val 3815"/>
            </a:avLst>
          </a:prstGeom>
          <a:solidFill>
            <a:schemeClr val="bg1"/>
          </a:solidFill>
          <a:ln w="25400">
            <a:solidFill>
              <a:srgbClr val="003366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anchor="t" anchorCtr="0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ko-KR" sz="2000" dirty="0" smtClean="0">
                <a:latin typeface="+mn-ea"/>
                <a:ea typeface="+mn-ea"/>
              </a:rPr>
              <a:t>1. </a:t>
            </a:r>
            <a:r>
              <a:rPr lang="ko-KR" altLang="en-US" sz="2000" dirty="0" smtClean="0">
                <a:latin typeface="+mn-ea"/>
                <a:ea typeface="+mn-ea"/>
              </a:rPr>
              <a:t>관련 법조문</a:t>
            </a:r>
            <a:r>
              <a:rPr lang="en-US" altLang="ko-KR" sz="2000" dirty="0" smtClean="0">
                <a:latin typeface="+mn-ea"/>
                <a:ea typeface="+mn-ea"/>
              </a:rPr>
              <a:t>(</a:t>
            </a:r>
            <a:r>
              <a:rPr lang="ko-KR" altLang="en-US" sz="2000" dirty="0" smtClean="0">
                <a:latin typeface="+mn-ea"/>
                <a:ea typeface="+mn-ea"/>
              </a:rPr>
              <a:t>특허법 제</a:t>
            </a:r>
            <a:r>
              <a:rPr lang="en-US" altLang="ko-KR" sz="2000" dirty="0" smtClean="0">
                <a:latin typeface="+mn-ea"/>
                <a:ea typeface="+mn-ea"/>
              </a:rPr>
              <a:t>42</a:t>
            </a:r>
            <a:r>
              <a:rPr lang="ko-KR" altLang="en-US" sz="2000" dirty="0" smtClean="0">
                <a:latin typeface="+mn-ea"/>
                <a:ea typeface="+mn-ea"/>
              </a:rPr>
              <a:t>조제</a:t>
            </a:r>
            <a:r>
              <a:rPr lang="en-US" altLang="ko-KR" sz="2000" dirty="0" smtClean="0">
                <a:latin typeface="+mn-ea"/>
                <a:ea typeface="+mn-ea"/>
              </a:rPr>
              <a:t>8</a:t>
            </a:r>
            <a:r>
              <a:rPr lang="ko-KR" altLang="en-US" sz="2000" dirty="0" smtClean="0">
                <a:latin typeface="+mn-ea"/>
                <a:ea typeface="+mn-ea"/>
              </a:rPr>
              <a:t>항</a:t>
            </a:r>
            <a:r>
              <a:rPr lang="en-US" altLang="ko-KR" sz="2000" dirty="0" smtClean="0">
                <a:latin typeface="+mn-ea"/>
                <a:ea typeface="+mn-ea"/>
              </a:rPr>
              <a:t>, </a:t>
            </a:r>
            <a:r>
              <a:rPr lang="ko-KR" altLang="en-US" sz="2000" dirty="0" smtClean="0">
                <a:latin typeface="+mn-ea"/>
                <a:ea typeface="+mn-ea"/>
              </a:rPr>
              <a:t>특허법시행령 제</a:t>
            </a:r>
            <a:r>
              <a:rPr lang="en-US" altLang="ko-KR" sz="2000" dirty="0" smtClean="0">
                <a:latin typeface="+mn-ea"/>
                <a:ea typeface="+mn-ea"/>
              </a:rPr>
              <a:t>5</a:t>
            </a:r>
            <a:r>
              <a:rPr lang="ko-KR" altLang="en-US" sz="2000" dirty="0" smtClean="0">
                <a:latin typeface="+mn-ea"/>
                <a:ea typeface="+mn-ea"/>
              </a:rPr>
              <a:t>조</a:t>
            </a:r>
            <a:r>
              <a:rPr lang="en-US" altLang="ko-KR" sz="2000" dirty="0" smtClean="0">
                <a:latin typeface="+mn-ea"/>
                <a:ea typeface="+mn-ea"/>
              </a:rPr>
              <a:t>)</a:t>
            </a:r>
          </a:p>
          <a:p>
            <a:pPr>
              <a:lnSpc>
                <a:spcPct val="170000"/>
              </a:lnSpc>
            </a:pPr>
            <a:r>
              <a:rPr lang="en-US" altLang="ko-KR" sz="2000" dirty="0" smtClean="0">
                <a:latin typeface="+mn-ea"/>
                <a:ea typeface="+mn-ea"/>
              </a:rPr>
              <a:t>2. </a:t>
            </a:r>
            <a:r>
              <a:rPr lang="ko-KR" altLang="en-US" sz="2000" dirty="0" smtClean="0">
                <a:latin typeface="+mn-ea"/>
                <a:ea typeface="+mn-ea"/>
              </a:rPr>
              <a:t>특허법시행령 제</a:t>
            </a:r>
            <a:r>
              <a:rPr lang="en-US" altLang="ko-KR" sz="2000" dirty="0" smtClean="0">
                <a:latin typeface="+mn-ea"/>
                <a:ea typeface="+mn-ea"/>
              </a:rPr>
              <a:t>5</a:t>
            </a:r>
            <a:r>
              <a:rPr lang="ko-KR" altLang="en-US" sz="2000" dirty="0" smtClean="0">
                <a:latin typeface="+mn-ea"/>
                <a:ea typeface="+mn-ea"/>
              </a:rPr>
              <a:t>조제</a:t>
            </a:r>
            <a:r>
              <a:rPr lang="en-US" altLang="ko-KR" sz="2000" dirty="0" smtClean="0">
                <a:latin typeface="+mn-ea"/>
                <a:ea typeface="+mn-ea"/>
              </a:rPr>
              <a:t>1</a:t>
            </a:r>
            <a:r>
              <a:rPr lang="ko-KR" altLang="en-US" sz="2000" dirty="0" smtClean="0">
                <a:latin typeface="+mn-ea"/>
                <a:ea typeface="+mn-ea"/>
              </a:rPr>
              <a:t>항</a:t>
            </a:r>
            <a:endParaRPr lang="en-US" altLang="ko-KR" sz="2000" dirty="0" smtClean="0">
              <a:latin typeface="+mn-ea"/>
              <a:ea typeface="+mn-ea"/>
            </a:endParaRPr>
          </a:p>
          <a:p>
            <a:pPr>
              <a:lnSpc>
                <a:spcPct val="170000"/>
              </a:lnSpc>
            </a:pPr>
            <a:r>
              <a:rPr lang="en-US" altLang="ko-KR" sz="2000" dirty="0" smtClean="0">
                <a:latin typeface="+mn-ea"/>
                <a:ea typeface="+mn-ea"/>
              </a:rPr>
              <a:t>3. </a:t>
            </a:r>
            <a:r>
              <a:rPr lang="ko-KR" altLang="en-US" sz="2000" dirty="0" smtClean="0">
                <a:latin typeface="+mn-ea"/>
                <a:ea typeface="+mn-ea"/>
              </a:rPr>
              <a:t>특허법시행령 제</a:t>
            </a:r>
            <a:r>
              <a:rPr lang="en-US" altLang="ko-KR" sz="2000" dirty="0" smtClean="0">
                <a:latin typeface="+mn-ea"/>
                <a:ea typeface="+mn-ea"/>
              </a:rPr>
              <a:t>5</a:t>
            </a:r>
            <a:r>
              <a:rPr lang="ko-KR" altLang="en-US" sz="2000" dirty="0" smtClean="0">
                <a:latin typeface="+mn-ea"/>
                <a:ea typeface="+mn-ea"/>
              </a:rPr>
              <a:t>조제</a:t>
            </a:r>
            <a:r>
              <a:rPr lang="en-US" altLang="ko-KR" sz="2000" dirty="0" smtClean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ko-KR" altLang="en-US" sz="2000" dirty="0" smtClean="0">
                <a:latin typeface="+mn-ea"/>
                <a:ea typeface="+mn-ea"/>
              </a:rPr>
              <a:t>항</a:t>
            </a:r>
            <a:endParaRPr lang="en-US" altLang="ko-KR" sz="2000" dirty="0" smtClean="0">
              <a:latin typeface="+mn-ea"/>
              <a:ea typeface="+mn-ea"/>
            </a:endParaRPr>
          </a:p>
          <a:p>
            <a:pPr>
              <a:lnSpc>
                <a:spcPct val="170000"/>
              </a:lnSpc>
            </a:pPr>
            <a:r>
              <a:rPr lang="en-US" altLang="ko-KR" sz="2000" dirty="0" smtClean="0">
                <a:latin typeface="+mn-ea"/>
                <a:ea typeface="+mn-ea"/>
              </a:rPr>
              <a:t>4. </a:t>
            </a:r>
            <a:r>
              <a:rPr lang="ko-KR" altLang="en-US" sz="2000" dirty="0" smtClean="0">
                <a:latin typeface="+mn-ea"/>
                <a:ea typeface="+mn-ea"/>
              </a:rPr>
              <a:t>특허법시행령 제</a:t>
            </a:r>
            <a:r>
              <a:rPr lang="en-US" altLang="ko-KR" sz="2000" dirty="0" smtClean="0">
                <a:latin typeface="+mn-ea"/>
                <a:ea typeface="+mn-ea"/>
              </a:rPr>
              <a:t>5</a:t>
            </a:r>
            <a:r>
              <a:rPr lang="ko-KR" altLang="en-US" sz="2000" dirty="0" smtClean="0">
                <a:latin typeface="+mn-ea"/>
                <a:ea typeface="+mn-ea"/>
              </a:rPr>
              <a:t>조제</a:t>
            </a:r>
            <a:r>
              <a:rPr lang="en-US" altLang="ko-KR" sz="2000" dirty="0">
                <a:solidFill>
                  <a:srgbClr val="FF0000"/>
                </a:solidFill>
                <a:latin typeface="+mn-ea"/>
                <a:ea typeface="+mn-ea"/>
              </a:rPr>
              <a:t>4</a:t>
            </a:r>
            <a:r>
              <a:rPr lang="ko-KR" altLang="en-US" sz="2000" dirty="0" smtClean="0">
                <a:latin typeface="+mn-ea"/>
                <a:ea typeface="+mn-ea"/>
              </a:rPr>
              <a:t>항</a:t>
            </a:r>
            <a:endParaRPr lang="en-US" altLang="ko-KR" sz="2000" dirty="0" smtClean="0">
              <a:latin typeface="+mn-ea"/>
              <a:ea typeface="+mn-ea"/>
            </a:endParaRPr>
          </a:p>
          <a:p>
            <a:pPr>
              <a:lnSpc>
                <a:spcPct val="170000"/>
              </a:lnSpc>
            </a:pPr>
            <a:r>
              <a:rPr lang="en-US" altLang="ko-KR" sz="2000" dirty="0" smtClean="0">
                <a:latin typeface="+mn-ea"/>
                <a:ea typeface="+mn-ea"/>
              </a:rPr>
              <a:t>5. </a:t>
            </a:r>
            <a:r>
              <a:rPr lang="ko-KR" altLang="en-US" sz="2000" dirty="0" smtClean="0">
                <a:latin typeface="+mn-ea"/>
                <a:ea typeface="+mn-ea"/>
              </a:rPr>
              <a:t>특허법시행령 제</a:t>
            </a:r>
            <a:r>
              <a:rPr lang="en-US" altLang="ko-KR" sz="2000" dirty="0" smtClean="0">
                <a:latin typeface="+mn-ea"/>
                <a:ea typeface="+mn-ea"/>
              </a:rPr>
              <a:t>5</a:t>
            </a:r>
            <a:r>
              <a:rPr lang="ko-KR" altLang="en-US" sz="2000" dirty="0" smtClean="0">
                <a:latin typeface="+mn-ea"/>
                <a:ea typeface="+mn-ea"/>
              </a:rPr>
              <a:t>조제</a:t>
            </a:r>
            <a:r>
              <a:rPr lang="en-US" altLang="ko-KR" sz="2000" dirty="0">
                <a:latin typeface="+mn-ea"/>
                <a:ea typeface="+mn-ea"/>
              </a:rPr>
              <a:t>5</a:t>
            </a:r>
            <a:r>
              <a:rPr lang="ko-KR" altLang="en-US" sz="2000" dirty="0" smtClean="0">
                <a:latin typeface="+mn-ea"/>
                <a:ea typeface="+mn-ea"/>
              </a:rPr>
              <a:t>항</a:t>
            </a:r>
            <a:endParaRPr lang="en-US" altLang="ko-KR" sz="2000" dirty="0" smtClean="0">
              <a:latin typeface="+mn-ea"/>
              <a:ea typeface="+mn-ea"/>
            </a:endParaRPr>
          </a:p>
          <a:p>
            <a:pPr>
              <a:lnSpc>
                <a:spcPct val="170000"/>
              </a:lnSpc>
            </a:pPr>
            <a:r>
              <a:rPr lang="en-US" altLang="ko-KR" sz="2000" dirty="0" smtClean="0">
                <a:latin typeface="+mn-ea"/>
                <a:ea typeface="+mn-ea"/>
              </a:rPr>
              <a:t>6. </a:t>
            </a:r>
            <a:r>
              <a:rPr lang="ko-KR" altLang="en-US" sz="2000" dirty="0" smtClean="0">
                <a:latin typeface="+mn-ea"/>
                <a:ea typeface="+mn-ea"/>
              </a:rPr>
              <a:t>특허법시행령 제</a:t>
            </a:r>
            <a:r>
              <a:rPr lang="en-US" altLang="ko-KR" sz="2000" dirty="0" smtClean="0">
                <a:latin typeface="+mn-ea"/>
                <a:ea typeface="+mn-ea"/>
              </a:rPr>
              <a:t>5</a:t>
            </a:r>
            <a:r>
              <a:rPr lang="ko-KR" altLang="en-US" sz="2000" dirty="0" smtClean="0">
                <a:latin typeface="+mn-ea"/>
                <a:ea typeface="+mn-ea"/>
              </a:rPr>
              <a:t>조제</a:t>
            </a:r>
            <a:r>
              <a:rPr lang="en-US" altLang="ko-KR" sz="2000" dirty="0">
                <a:latin typeface="+mn-ea"/>
                <a:ea typeface="+mn-ea"/>
              </a:rPr>
              <a:t>6</a:t>
            </a:r>
            <a:r>
              <a:rPr lang="ko-KR" altLang="en-US" sz="2000" dirty="0" smtClean="0">
                <a:latin typeface="+mn-ea"/>
                <a:ea typeface="+mn-ea"/>
              </a:rPr>
              <a:t>항</a:t>
            </a:r>
            <a:endParaRPr lang="en-US" altLang="ko-KR" sz="2000" dirty="0" smtClean="0">
              <a:latin typeface="+mn-ea"/>
              <a:ea typeface="+mn-ea"/>
            </a:endParaRPr>
          </a:p>
          <a:p>
            <a:pPr>
              <a:lnSpc>
                <a:spcPct val="170000"/>
              </a:lnSpc>
            </a:pPr>
            <a:r>
              <a:rPr lang="en-US" altLang="ko-KR" sz="2000" dirty="0" smtClean="0">
                <a:latin typeface="+mn-ea"/>
                <a:ea typeface="+mn-ea"/>
              </a:rPr>
              <a:t>7. </a:t>
            </a:r>
            <a:r>
              <a:rPr lang="ko-KR" altLang="en-US" sz="2000" dirty="0" smtClean="0">
                <a:latin typeface="+mn-ea"/>
                <a:ea typeface="+mn-ea"/>
              </a:rPr>
              <a:t>특허법시행령 제</a:t>
            </a:r>
            <a:r>
              <a:rPr lang="en-US" altLang="ko-KR" sz="2000" dirty="0" smtClean="0">
                <a:latin typeface="+mn-ea"/>
                <a:ea typeface="+mn-ea"/>
              </a:rPr>
              <a:t>5</a:t>
            </a:r>
            <a:r>
              <a:rPr lang="ko-KR" altLang="en-US" sz="2000" dirty="0" smtClean="0">
                <a:latin typeface="+mn-ea"/>
                <a:ea typeface="+mn-ea"/>
              </a:rPr>
              <a:t>조제</a:t>
            </a:r>
            <a:r>
              <a:rPr lang="en-US" altLang="ko-KR" sz="2000" dirty="0" smtClean="0">
                <a:latin typeface="+mn-ea"/>
                <a:ea typeface="+mn-ea"/>
              </a:rPr>
              <a:t>7</a:t>
            </a:r>
            <a:r>
              <a:rPr lang="ko-KR" altLang="en-US" sz="2000" dirty="0" smtClean="0">
                <a:latin typeface="+mn-ea"/>
                <a:ea typeface="+mn-ea"/>
              </a:rPr>
              <a:t>항</a:t>
            </a:r>
            <a:endParaRPr lang="en-US" altLang="ko-KR" sz="2000" dirty="0" smtClean="0">
              <a:latin typeface="+mn-ea"/>
              <a:ea typeface="+mn-ea"/>
            </a:endParaRPr>
          </a:p>
          <a:p>
            <a:pPr>
              <a:lnSpc>
                <a:spcPct val="170000"/>
              </a:lnSpc>
            </a:pPr>
            <a:r>
              <a:rPr lang="en-US" altLang="ko-KR" sz="2000" dirty="0" smtClean="0">
                <a:latin typeface="+mn-ea"/>
                <a:ea typeface="+mn-ea"/>
              </a:rPr>
              <a:t>8. </a:t>
            </a:r>
            <a:r>
              <a:rPr lang="ko-KR" altLang="en-US" sz="2000" dirty="0" smtClean="0">
                <a:latin typeface="+mn-ea"/>
                <a:ea typeface="+mn-ea"/>
              </a:rPr>
              <a:t>특허법시행령 제</a:t>
            </a:r>
            <a:r>
              <a:rPr lang="en-US" altLang="ko-KR" sz="2000" dirty="0" smtClean="0">
                <a:latin typeface="+mn-ea"/>
                <a:ea typeface="+mn-ea"/>
              </a:rPr>
              <a:t>5</a:t>
            </a:r>
            <a:r>
              <a:rPr lang="ko-KR" altLang="en-US" sz="2000" dirty="0" smtClean="0">
                <a:latin typeface="+mn-ea"/>
                <a:ea typeface="+mn-ea"/>
              </a:rPr>
              <a:t>조제</a:t>
            </a:r>
            <a:r>
              <a:rPr lang="en-US" altLang="ko-KR" sz="2000" dirty="0" smtClean="0">
                <a:latin typeface="+mn-ea"/>
                <a:ea typeface="+mn-ea"/>
              </a:rPr>
              <a:t>8</a:t>
            </a:r>
            <a:r>
              <a:rPr lang="ko-KR" altLang="en-US" sz="2000" dirty="0" smtClean="0">
                <a:latin typeface="+mn-ea"/>
                <a:ea typeface="+mn-ea"/>
              </a:rPr>
              <a:t>항</a:t>
            </a:r>
            <a:endParaRPr lang="en-US" altLang="ko-KR" sz="2000" dirty="0" smtClean="0">
              <a:latin typeface="+mn-ea"/>
              <a:ea typeface="+mn-ea"/>
            </a:endParaRPr>
          </a:p>
          <a:p>
            <a:pPr>
              <a:lnSpc>
                <a:spcPct val="170000"/>
              </a:lnSpc>
            </a:pPr>
            <a:r>
              <a:rPr lang="en-US" altLang="ko-KR" sz="2000" dirty="0" smtClean="0">
                <a:latin typeface="+mn-ea"/>
                <a:ea typeface="+mn-ea"/>
              </a:rPr>
              <a:t>9. </a:t>
            </a:r>
            <a:r>
              <a:rPr lang="ko-KR" altLang="en-US" sz="2000" dirty="0" smtClean="0">
                <a:latin typeface="+mn-ea"/>
                <a:ea typeface="+mn-ea"/>
              </a:rPr>
              <a:t>실습</a:t>
            </a:r>
            <a:endParaRPr lang="en-US" altLang="ko-KR" sz="2000" dirty="0" smtClean="0">
              <a:latin typeface="+mn-ea"/>
              <a:ea typeface="+mn-ea"/>
            </a:endParaRPr>
          </a:p>
          <a:p>
            <a:pPr>
              <a:lnSpc>
                <a:spcPct val="170000"/>
              </a:lnSpc>
            </a:pPr>
            <a:r>
              <a:rPr lang="en-US" altLang="ko-KR" sz="2000" dirty="0" smtClean="0">
                <a:latin typeface="+mn-ea"/>
                <a:ea typeface="+mn-ea"/>
              </a:rPr>
              <a:t>10. </a:t>
            </a:r>
            <a:r>
              <a:rPr lang="ko-KR" altLang="en-US" sz="2000" dirty="0" smtClean="0">
                <a:latin typeface="+mn-ea"/>
                <a:ea typeface="+mn-ea"/>
              </a:rPr>
              <a:t>생각해 봅시다</a:t>
            </a:r>
            <a:endParaRPr lang="en-US" altLang="ko-KR" sz="2000" dirty="0" smtClean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48734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1.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관련 법조문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2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85789" y="1086436"/>
            <a:ext cx="8018659" cy="147846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ko-KR" altLang="en-US" sz="2000" dirty="0" smtClean="0">
                <a:solidFill>
                  <a:schemeClr val="tx1"/>
                </a:solidFill>
              </a:rPr>
              <a:t>특허법 제</a:t>
            </a:r>
            <a:r>
              <a:rPr lang="en-US" altLang="ko-KR" sz="2000" dirty="0">
                <a:solidFill>
                  <a:schemeClr val="tx1"/>
                </a:solidFill>
              </a:rPr>
              <a:t>42</a:t>
            </a:r>
            <a:r>
              <a:rPr lang="ko-KR" altLang="en-US" sz="2000" dirty="0">
                <a:solidFill>
                  <a:schemeClr val="tx1"/>
                </a:solidFill>
              </a:rPr>
              <a:t>조</a:t>
            </a:r>
            <a:r>
              <a:rPr lang="en-US" altLang="ko-KR" sz="2000" dirty="0">
                <a:solidFill>
                  <a:schemeClr val="tx1"/>
                </a:solidFill>
              </a:rPr>
              <a:t>(</a:t>
            </a:r>
            <a:r>
              <a:rPr lang="ko-KR" altLang="en-US" sz="2000" dirty="0">
                <a:solidFill>
                  <a:schemeClr val="tx1"/>
                </a:solidFill>
              </a:rPr>
              <a:t>특허출원 </a:t>
            </a:r>
            <a:r>
              <a:rPr lang="en-US" altLang="ko-KR" sz="2000" dirty="0">
                <a:solidFill>
                  <a:schemeClr val="tx1"/>
                </a:solidFill>
              </a:rPr>
              <a:t>&lt;</a:t>
            </a:r>
            <a:r>
              <a:rPr lang="ko-KR" altLang="en-US" sz="2000" dirty="0">
                <a:solidFill>
                  <a:schemeClr val="tx1"/>
                </a:solidFill>
              </a:rPr>
              <a:t>개정 </a:t>
            </a:r>
            <a:r>
              <a:rPr lang="en-US" altLang="ko-KR" sz="2000" dirty="0">
                <a:solidFill>
                  <a:schemeClr val="tx1"/>
                </a:solidFill>
              </a:rPr>
              <a:t>2014.6.11&gt;)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② </a:t>
            </a:r>
            <a:r>
              <a:rPr lang="ko-KR" altLang="en-US" dirty="0">
                <a:solidFill>
                  <a:schemeClr val="tx1"/>
                </a:solidFill>
              </a:rPr>
              <a:t>제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항에 따른 </a:t>
            </a:r>
            <a:r>
              <a:rPr lang="ko-KR" altLang="en-US" dirty="0" err="1">
                <a:solidFill>
                  <a:schemeClr val="tx1"/>
                </a:solidFill>
              </a:rPr>
              <a:t>특허출원서에는</a:t>
            </a:r>
            <a:r>
              <a:rPr lang="ko-KR" altLang="en-US" dirty="0">
                <a:solidFill>
                  <a:schemeClr val="tx1"/>
                </a:solidFill>
              </a:rPr>
              <a:t> 발명의 설명</a:t>
            </a:r>
            <a:r>
              <a:rPr lang="en-US" altLang="ko-KR" dirty="0">
                <a:solidFill>
                  <a:schemeClr val="tx1"/>
                </a:solidFill>
              </a:rPr>
              <a:t>·</a:t>
            </a:r>
            <a:r>
              <a:rPr lang="ko-KR" altLang="en-US" dirty="0">
                <a:solidFill>
                  <a:schemeClr val="tx1"/>
                </a:solidFill>
              </a:rPr>
              <a:t>청구범위를 적은 명세서와 필요한 도면 및 </a:t>
            </a:r>
            <a:r>
              <a:rPr lang="ko-KR" altLang="en-US" dirty="0" err="1">
                <a:solidFill>
                  <a:schemeClr val="tx1"/>
                </a:solidFill>
              </a:rPr>
              <a:t>요약서를</a:t>
            </a:r>
            <a:r>
              <a:rPr lang="ko-KR" altLang="en-US" dirty="0">
                <a:solidFill>
                  <a:schemeClr val="tx1"/>
                </a:solidFill>
              </a:rPr>
              <a:t> 첨부하여야 한다</a:t>
            </a:r>
            <a:r>
              <a:rPr lang="en-US" altLang="ko-KR" dirty="0">
                <a:solidFill>
                  <a:schemeClr val="tx1"/>
                </a:solidFill>
              </a:rPr>
              <a:t>.&lt;</a:t>
            </a:r>
            <a:r>
              <a:rPr lang="ko-KR" altLang="en-US" dirty="0">
                <a:solidFill>
                  <a:schemeClr val="tx1"/>
                </a:solidFill>
              </a:rPr>
              <a:t>개정 </a:t>
            </a:r>
            <a:r>
              <a:rPr lang="en-US" altLang="ko-KR" dirty="0">
                <a:solidFill>
                  <a:schemeClr val="tx1"/>
                </a:solidFill>
              </a:rPr>
              <a:t>2014.6.11&gt;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⑧ </a:t>
            </a:r>
            <a:r>
              <a:rPr lang="ko-KR" altLang="en-US" dirty="0">
                <a:solidFill>
                  <a:schemeClr val="tx1"/>
                </a:solidFill>
              </a:rPr>
              <a:t>제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항에 따른 청구범위의 기재방법에 관하여 필요한 사항은 대통령령으로 정한다</a:t>
            </a:r>
            <a:r>
              <a:rPr lang="en-US" altLang="ko-KR" dirty="0">
                <a:solidFill>
                  <a:schemeClr val="tx1"/>
                </a:solidFill>
              </a:rPr>
              <a:t>.&lt;</a:t>
            </a:r>
            <a:r>
              <a:rPr lang="ko-KR" altLang="en-US" dirty="0">
                <a:solidFill>
                  <a:schemeClr val="tx1"/>
                </a:solidFill>
              </a:rPr>
              <a:t>개정 </a:t>
            </a:r>
            <a:r>
              <a:rPr lang="en-US" altLang="ko-KR" dirty="0">
                <a:solidFill>
                  <a:schemeClr val="tx1"/>
                </a:solidFill>
              </a:rPr>
              <a:t>2014.6.11</a:t>
            </a:r>
            <a:r>
              <a:rPr lang="en-US" altLang="ko-KR" dirty="0" smtClean="0">
                <a:solidFill>
                  <a:schemeClr val="tx1"/>
                </a:solidFill>
              </a:rPr>
              <a:t>&gt;</a:t>
            </a:r>
            <a:endParaRPr lang="ko-KR" altLang="en-US" dirty="0">
              <a:solidFill>
                <a:schemeClr val="tx1"/>
              </a:solidFill>
              <a:effectLst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85789" y="4005064"/>
            <a:ext cx="8018659" cy="2304255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ko-KR" altLang="en-US" sz="2000" dirty="0" smtClean="0">
                <a:solidFill>
                  <a:schemeClr val="tx1"/>
                </a:solidFill>
              </a:rPr>
              <a:t>특허법시행령 제</a:t>
            </a:r>
            <a:r>
              <a:rPr lang="en-US" altLang="ko-KR" sz="2000" dirty="0">
                <a:solidFill>
                  <a:schemeClr val="tx1"/>
                </a:solidFill>
              </a:rPr>
              <a:t>5</a:t>
            </a:r>
            <a:r>
              <a:rPr lang="ko-KR" altLang="en-US" sz="2000" dirty="0">
                <a:solidFill>
                  <a:schemeClr val="tx1"/>
                </a:solidFill>
              </a:rPr>
              <a:t>조</a:t>
            </a:r>
            <a:r>
              <a:rPr lang="en-US" altLang="ko-KR" sz="2000" dirty="0">
                <a:solidFill>
                  <a:schemeClr val="tx1"/>
                </a:solidFill>
              </a:rPr>
              <a:t>(</a:t>
            </a:r>
            <a:r>
              <a:rPr lang="ko-KR" altLang="en-US" sz="2000" dirty="0">
                <a:solidFill>
                  <a:schemeClr val="tx1"/>
                </a:solidFill>
              </a:rPr>
              <a:t>청구범위의 기재방법</a:t>
            </a:r>
            <a:r>
              <a:rPr lang="en-US" altLang="ko-KR" sz="2000" dirty="0">
                <a:solidFill>
                  <a:schemeClr val="tx1"/>
                </a:solidFill>
              </a:rPr>
              <a:t>&lt;</a:t>
            </a:r>
            <a:r>
              <a:rPr lang="ko-KR" altLang="en-US" sz="2000" dirty="0">
                <a:solidFill>
                  <a:schemeClr val="tx1"/>
                </a:solidFill>
              </a:rPr>
              <a:t>개정 </a:t>
            </a:r>
            <a:r>
              <a:rPr lang="en-US" altLang="ko-KR" sz="2000" dirty="0">
                <a:solidFill>
                  <a:schemeClr val="tx1"/>
                </a:solidFill>
              </a:rPr>
              <a:t>2014.12.30&gt;) 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endParaRPr lang="en-US" altLang="ko-KR" sz="800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① </a:t>
            </a:r>
            <a:r>
              <a:rPr lang="ko-KR" altLang="en-US" dirty="0">
                <a:solidFill>
                  <a:schemeClr val="tx1"/>
                </a:solidFill>
              </a:rPr>
              <a:t>법 제</a:t>
            </a:r>
            <a:r>
              <a:rPr lang="en-US" altLang="ko-KR" dirty="0">
                <a:solidFill>
                  <a:schemeClr val="tx1"/>
                </a:solidFill>
              </a:rPr>
              <a:t>42</a:t>
            </a:r>
            <a:r>
              <a:rPr lang="ko-KR" altLang="en-US" dirty="0">
                <a:solidFill>
                  <a:schemeClr val="tx1"/>
                </a:solidFill>
              </a:rPr>
              <a:t>조제</a:t>
            </a:r>
            <a:r>
              <a:rPr lang="en-US" altLang="ko-KR" dirty="0">
                <a:solidFill>
                  <a:schemeClr val="tx1"/>
                </a:solidFill>
              </a:rPr>
              <a:t>8</a:t>
            </a:r>
            <a:r>
              <a:rPr lang="ko-KR" altLang="en-US" dirty="0">
                <a:solidFill>
                  <a:schemeClr val="tx1"/>
                </a:solidFill>
              </a:rPr>
              <a:t>항에 따른 청구범위의 </a:t>
            </a:r>
            <a:r>
              <a:rPr lang="ko-KR" altLang="en-US" dirty="0" err="1">
                <a:solidFill>
                  <a:schemeClr val="tx1"/>
                </a:solidFill>
              </a:rPr>
              <a:t>청구항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이하 </a:t>
            </a:r>
            <a:r>
              <a:rPr lang="en-US" altLang="ko-KR" dirty="0">
                <a:solidFill>
                  <a:schemeClr val="tx1"/>
                </a:solidFill>
              </a:rPr>
              <a:t>"</a:t>
            </a:r>
            <a:r>
              <a:rPr lang="ko-KR" altLang="en-US" dirty="0" err="1">
                <a:solidFill>
                  <a:schemeClr val="tx1"/>
                </a:solidFill>
              </a:rPr>
              <a:t>청구항</a:t>
            </a:r>
            <a:r>
              <a:rPr lang="en-US" altLang="ko-KR" dirty="0">
                <a:solidFill>
                  <a:schemeClr val="tx1"/>
                </a:solidFill>
              </a:rPr>
              <a:t>"</a:t>
            </a:r>
            <a:r>
              <a:rPr lang="ko-KR" altLang="en-US" dirty="0">
                <a:solidFill>
                  <a:schemeClr val="tx1"/>
                </a:solidFill>
              </a:rPr>
              <a:t>이라 한다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을 기재할 때에는 </a:t>
            </a:r>
            <a:r>
              <a:rPr lang="ko-KR" altLang="en-US" dirty="0" err="1">
                <a:solidFill>
                  <a:schemeClr val="tx1"/>
                </a:solidFill>
              </a:rPr>
              <a:t>독립청구항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이하 </a:t>
            </a:r>
            <a:r>
              <a:rPr lang="en-US" altLang="ko-KR" dirty="0">
                <a:solidFill>
                  <a:schemeClr val="tx1"/>
                </a:solidFill>
              </a:rPr>
              <a:t>"</a:t>
            </a:r>
            <a:r>
              <a:rPr lang="ko-KR" altLang="en-US" dirty="0" err="1">
                <a:solidFill>
                  <a:schemeClr val="tx1"/>
                </a:solidFill>
              </a:rPr>
              <a:t>독립항</a:t>
            </a:r>
            <a:r>
              <a:rPr lang="en-US" altLang="ko-KR" dirty="0">
                <a:solidFill>
                  <a:schemeClr val="tx1"/>
                </a:solidFill>
              </a:rPr>
              <a:t>"</a:t>
            </a:r>
            <a:r>
              <a:rPr lang="ko-KR" altLang="en-US" dirty="0">
                <a:solidFill>
                  <a:schemeClr val="tx1"/>
                </a:solidFill>
              </a:rPr>
              <a:t>이라 한다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을 기재하여야 하며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그 </a:t>
            </a:r>
            <a:r>
              <a:rPr lang="ko-KR" altLang="en-US" dirty="0" err="1">
                <a:solidFill>
                  <a:schemeClr val="tx1"/>
                </a:solidFill>
              </a:rPr>
              <a:t>독립항을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한정하거나 부가하여</a:t>
            </a:r>
            <a:r>
              <a:rPr lang="ko-KR" altLang="en-US" dirty="0">
                <a:solidFill>
                  <a:schemeClr val="tx1"/>
                </a:solidFill>
              </a:rPr>
              <a:t> 구체화하는 </a:t>
            </a:r>
            <a:r>
              <a:rPr lang="ko-KR" altLang="en-US" dirty="0" err="1">
                <a:solidFill>
                  <a:schemeClr val="tx1"/>
                </a:solidFill>
              </a:rPr>
              <a:t>종속청구항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이하 </a:t>
            </a:r>
            <a:r>
              <a:rPr lang="en-US" altLang="ko-KR" dirty="0">
                <a:solidFill>
                  <a:schemeClr val="tx1"/>
                </a:solidFill>
              </a:rPr>
              <a:t>"</a:t>
            </a:r>
            <a:r>
              <a:rPr lang="ko-KR" altLang="en-US" dirty="0" err="1">
                <a:solidFill>
                  <a:schemeClr val="tx1"/>
                </a:solidFill>
              </a:rPr>
              <a:t>종속항</a:t>
            </a:r>
            <a:r>
              <a:rPr lang="en-US" altLang="ko-KR" dirty="0">
                <a:solidFill>
                  <a:schemeClr val="tx1"/>
                </a:solidFill>
              </a:rPr>
              <a:t>"</a:t>
            </a:r>
            <a:r>
              <a:rPr lang="ko-KR" altLang="en-US" dirty="0">
                <a:solidFill>
                  <a:schemeClr val="tx1"/>
                </a:solidFill>
              </a:rPr>
              <a:t>이라 한다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을 </a:t>
            </a:r>
            <a:r>
              <a:rPr lang="ko-KR" altLang="en-US" b="1" dirty="0">
                <a:solidFill>
                  <a:schemeClr val="tx1"/>
                </a:solidFill>
              </a:rPr>
              <a:t>기재할 수 있다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r>
              <a:rPr lang="ko-KR" altLang="en-US" dirty="0">
                <a:solidFill>
                  <a:schemeClr val="tx1"/>
                </a:solidFill>
              </a:rPr>
              <a:t>이 경우 필요한 때에는 그 </a:t>
            </a:r>
            <a:r>
              <a:rPr lang="ko-KR" altLang="en-US" dirty="0" err="1">
                <a:solidFill>
                  <a:schemeClr val="tx1"/>
                </a:solidFill>
              </a:rPr>
              <a:t>종속항을</a:t>
            </a:r>
            <a:r>
              <a:rPr lang="ko-KR" altLang="en-US" dirty="0">
                <a:solidFill>
                  <a:schemeClr val="tx1"/>
                </a:solidFill>
              </a:rPr>
              <a:t> 한정하거나 부가하여 구체화하는 다른 </a:t>
            </a:r>
            <a:r>
              <a:rPr lang="ko-KR" altLang="en-US" dirty="0" err="1">
                <a:solidFill>
                  <a:schemeClr val="tx1"/>
                </a:solidFill>
              </a:rPr>
              <a:t>종속항을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기재할 수 있다</a:t>
            </a:r>
            <a:r>
              <a:rPr lang="en-US" altLang="ko-KR" dirty="0">
                <a:solidFill>
                  <a:schemeClr val="tx1"/>
                </a:solidFill>
              </a:rPr>
              <a:t>.&lt;</a:t>
            </a:r>
            <a:r>
              <a:rPr lang="ko-KR" altLang="en-US" dirty="0">
                <a:solidFill>
                  <a:schemeClr val="tx1"/>
                </a:solidFill>
              </a:rPr>
              <a:t>개정 </a:t>
            </a:r>
            <a:r>
              <a:rPr lang="en-US" altLang="ko-KR" dirty="0">
                <a:solidFill>
                  <a:schemeClr val="tx1"/>
                </a:solidFill>
              </a:rPr>
              <a:t>2006.9.28, 2007.6.28, 2014.12.30&gt; 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85789" y="2905790"/>
            <a:ext cx="8018659" cy="88325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ko-KR" altLang="en-US" sz="2000" b="1" dirty="0" smtClean="0">
                <a:solidFill>
                  <a:schemeClr val="tx1"/>
                </a:solidFill>
              </a:rPr>
              <a:t>우리나라 특허법에서 채택한 </a:t>
            </a:r>
            <a:r>
              <a:rPr lang="en-US" altLang="ko-KR" sz="2000" b="1" dirty="0" smtClean="0">
                <a:solidFill>
                  <a:schemeClr val="tx1"/>
                </a:solidFill>
              </a:rPr>
              <a:t>‘</a:t>
            </a:r>
            <a:r>
              <a:rPr lang="ko-KR" altLang="en-US" sz="2000" b="1" dirty="0" err="1" smtClean="0">
                <a:solidFill>
                  <a:schemeClr val="tx1"/>
                </a:solidFill>
              </a:rPr>
              <a:t>다항제</a:t>
            </a:r>
            <a:r>
              <a:rPr lang="en-US" altLang="ko-KR" sz="2000" b="1" dirty="0" smtClean="0">
                <a:solidFill>
                  <a:schemeClr val="tx1"/>
                </a:solidFill>
              </a:rPr>
              <a:t>’</a:t>
            </a:r>
            <a:r>
              <a:rPr lang="ko-KR" altLang="en-US" sz="2000" b="1" dirty="0" smtClean="0">
                <a:solidFill>
                  <a:schemeClr val="tx1"/>
                </a:solidFill>
              </a:rPr>
              <a:t>에 따른 </a:t>
            </a:r>
            <a:r>
              <a:rPr lang="ko-KR" altLang="en-US" sz="2000" b="1" dirty="0" smtClean="0">
                <a:solidFill>
                  <a:schemeClr val="accent2"/>
                </a:solidFill>
              </a:rPr>
              <a:t>청구범위의 기재방법</a:t>
            </a:r>
            <a:r>
              <a:rPr lang="ko-KR" altLang="en-US" sz="2000" b="1" dirty="0" smtClean="0">
                <a:solidFill>
                  <a:schemeClr val="tx1"/>
                </a:solidFill>
              </a:rPr>
              <a:t>을 </a:t>
            </a:r>
            <a:r>
              <a:rPr lang="ko-KR" altLang="en-US" sz="2000" b="1" dirty="0">
                <a:solidFill>
                  <a:schemeClr val="tx1"/>
                </a:solidFill>
              </a:rPr>
              <a:t>특허법시행령 제</a:t>
            </a:r>
            <a:r>
              <a:rPr lang="en-US" altLang="ko-KR" sz="2000" b="1" dirty="0">
                <a:solidFill>
                  <a:schemeClr val="tx1"/>
                </a:solidFill>
              </a:rPr>
              <a:t>5</a:t>
            </a:r>
            <a:r>
              <a:rPr lang="ko-KR" altLang="en-US" sz="2000" b="1" dirty="0">
                <a:solidFill>
                  <a:schemeClr val="tx1"/>
                </a:solidFill>
              </a:rPr>
              <a:t>조에서 </a:t>
            </a:r>
            <a:r>
              <a:rPr lang="ko-KR" altLang="en-US" sz="2000" b="1" dirty="0" smtClean="0">
                <a:solidFill>
                  <a:schemeClr val="tx1"/>
                </a:solidFill>
              </a:rPr>
              <a:t>명확하게 규정하고 있음</a:t>
            </a:r>
            <a:endParaRPr lang="ko-KR" altLang="en-US" sz="2000" b="1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37972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1.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관련 법조문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85789" y="1124744"/>
            <a:ext cx="8018659" cy="518457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ko-KR" altLang="en-US" sz="2000" dirty="0" smtClean="0">
                <a:solidFill>
                  <a:schemeClr val="tx1"/>
                </a:solidFill>
              </a:rPr>
              <a:t>특허법시행령 제</a:t>
            </a:r>
            <a:r>
              <a:rPr lang="en-US" altLang="ko-KR" sz="2000" dirty="0">
                <a:solidFill>
                  <a:schemeClr val="tx1"/>
                </a:solidFill>
              </a:rPr>
              <a:t>5</a:t>
            </a:r>
            <a:r>
              <a:rPr lang="ko-KR" altLang="en-US" sz="2000" dirty="0">
                <a:solidFill>
                  <a:schemeClr val="tx1"/>
                </a:solidFill>
              </a:rPr>
              <a:t>조</a:t>
            </a:r>
            <a:r>
              <a:rPr lang="en-US" altLang="ko-KR" sz="2000" dirty="0">
                <a:solidFill>
                  <a:schemeClr val="tx1"/>
                </a:solidFill>
              </a:rPr>
              <a:t>(</a:t>
            </a:r>
            <a:r>
              <a:rPr lang="ko-KR" altLang="en-US" sz="2000" dirty="0">
                <a:solidFill>
                  <a:schemeClr val="tx1"/>
                </a:solidFill>
              </a:rPr>
              <a:t>청구범위의 기재방법</a:t>
            </a:r>
            <a:r>
              <a:rPr lang="en-US" altLang="ko-KR" sz="2000" dirty="0">
                <a:solidFill>
                  <a:schemeClr val="tx1"/>
                </a:solidFill>
              </a:rPr>
              <a:t>&lt;</a:t>
            </a:r>
            <a:r>
              <a:rPr lang="ko-KR" altLang="en-US" sz="2000" dirty="0">
                <a:solidFill>
                  <a:schemeClr val="tx1"/>
                </a:solidFill>
              </a:rPr>
              <a:t>개정 </a:t>
            </a:r>
            <a:r>
              <a:rPr lang="en-US" altLang="ko-KR" sz="2000" dirty="0">
                <a:solidFill>
                  <a:schemeClr val="tx1"/>
                </a:solidFill>
              </a:rPr>
              <a:t>2014.12.30&gt;) </a:t>
            </a:r>
            <a:r>
              <a:rPr lang="ko-KR" altLang="en-US" sz="2000" dirty="0" smtClean="0">
                <a:solidFill>
                  <a:schemeClr val="tx1"/>
                </a:solidFill>
              </a:rPr>
              <a:t>계속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endParaRPr lang="en-US" altLang="ko-KR" sz="800" dirty="0" smtClean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② </a:t>
            </a:r>
            <a:r>
              <a:rPr lang="ko-KR" altLang="en-US" dirty="0" err="1">
                <a:solidFill>
                  <a:schemeClr val="tx1"/>
                </a:solidFill>
              </a:rPr>
              <a:t>청구항은</a:t>
            </a:r>
            <a:r>
              <a:rPr lang="ko-KR" altLang="en-US" dirty="0">
                <a:solidFill>
                  <a:schemeClr val="tx1"/>
                </a:solidFill>
              </a:rPr>
              <a:t> 발명의 성질에 따라 적정한 수로 기재하여야 한다</a:t>
            </a:r>
            <a:r>
              <a:rPr lang="en-US" altLang="ko-KR" dirty="0">
                <a:solidFill>
                  <a:schemeClr val="tx1"/>
                </a:solidFill>
              </a:rPr>
              <a:t>.&lt;</a:t>
            </a:r>
            <a:r>
              <a:rPr lang="ko-KR" altLang="en-US" dirty="0">
                <a:solidFill>
                  <a:schemeClr val="tx1"/>
                </a:solidFill>
              </a:rPr>
              <a:t>개정 </a:t>
            </a:r>
            <a:r>
              <a:rPr lang="en-US" altLang="ko-KR" dirty="0">
                <a:solidFill>
                  <a:schemeClr val="tx1"/>
                </a:solidFill>
              </a:rPr>
              <a:t>2003.6.13&gt;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③ </a:t>
            </a:r>
            <a:r>
              <a:rPr lang="ko-KR" altLang="en-US" dirty="0">
                <a:solidFill>
                  <a:schemeClr val="tx1"/>
                </a:solidFill>
              </a:rPr>
              <a:t>삭제</a:t>
            </a:r>
            <a:r>
              <a:rPr lang="en-US" altLang="ko-KR" dirty="0">
                <a:solidFill>
                  <a:schemeClr val="tx1"/>
                </a:solidFill>
              </a:rPr>
              <a:t>&lt;1999.6.30&gt; 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④ </a:t>
            </a:r>
            <a:r>
              <a:rPr lang="ko-KR" altLang="en-US" dirty="0">
                <a:solidFill>
                  <a:schemeClr val="tx1"/>
                </a:solidFill>
              </a:rPr>
              <a:t>다른 </a:t>
            </a:r>
            <a:r>
              <a:rPr lang="ko-KR" altLang="en-US" dirty="0" err="1">
                <a:solidFill>
                  <a:schemeClr val="tx1"/>
                </a:solidFill>
              </a:rPr>
              <a:t>청구항을</a:t>
            </a:r>
            <a:r>
              <a:rPr lang="ko-KR" altLang="en-US" dirty="0">
                <a:solidFill>
                  <a:schemeClr val="tx1"/>
                </a:solidFill>
              </a:rPr>
              <a:t> 인용하는 </a:t>
            </a:r>
            <a:r>
              <a:rPr lang="ko-KR" altLang="en-US" dirty="0" err="1">
                <a:solidFill>
                  <a:schemeClr val="tx1"/>
                </a:solidFill>
              </a:rPr>
              <a:t>청구항은</a:t>
            </a:r>
            <a:r>
              <a:rPr lang="ko-KR" altLang="en-US" dirty="0">
                <a:solidFill>
                  <a:schemeClr val="tx1"/>
                </a:solidFill>
              </a:rPr>
              <a:t> 인용되는 항의 번호를 적어야 한다</a:t>
            </a:r>
            <a:r>
              <a:rPr lang="en-US" altLang="ko-KR" dirty="0">
                <a:solidFill>
                  <a:schemeClr val="tx1"/>
                </a:solidFill>
              </a:rPr>
              <a:t>.&lt;</a:t>
            </a:r>
            <a:r>
              <a:rPr lang="ko-KR" altLang="en-US" dirty="0">
                <a:solidFill>
                  <a:schemeClr val="tx1"/>
                </a:solidFill>
              </a:rPr>
              <a:t>개정 </a:t>
            </a:r>
            <a:r>
              <a:rPr lang="en-US" altLang="ko-KR" dirty="0">
                <a:solidFill>
                  <a:schemeClr val="tx1"/>
                </a:solidFill>
              </a:rPr>
              <a:t>2013.6.28</a:t>
            </a:r>
            <a:r>
              <a:rPr lang="en-US" altLang="ko-KR" dirty="0" smtClean="0">
                <a:solidFill>
                  <a:schemeClr val="tx1"/>
                </a:solidFill>
              </a:rPr>
              <a:t>&gt;</a:t>
            </a:r>
          </a:p>
          <a:p>
            <a:r>
              <a:rPr lang="en-US" altLang="ko-KR" dirty="0" smtClean="0">
                <a:solidFill>
                  <a:schemeClr val="tx1"/>
                </a:solidFill>
              </a:rPr>
              <a:t>⑤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>
                <a:solidFill>
                  <a:schemeClr val="tx1"/>
                </a:solidFill>
              </a:rPr>
              <a:t>이상의 항을 인용하는 </a:t>
            </a:r>
            <a:r>
              <a:rPr lang="ko-KR" altLang="en-US" dirty="0" err="1">
                <a:solidFill>
                  <a:schemeClr val="tx1"/>
                </a:solidFill>
              </a:rPr>
              <a:t>청구항은</a:t>
            </a:r>
            <a:r>
              <a:rPr lang="ko-KR" altLang="en-US" dirty="0">
                <a:solidFill>
                  <a:schemeClr val="tx1"/>
                </a:solidFill>
              </a:rPr>
              <a:t> 인용되는 항의 번호를 택일적으로 기재하여야 한다</a:t>
            </a:r>
            <a:r>
              <a:rPr lang="en-US" altLang="ko-KR" dirty="0">
                <a:solidFill>
                  <a:schemeClr val="tx1"/>
                </a:solidFill>
              </a:rPr>
              <a:t>.&lt;</a:t>
            </a:r>
            <a:r>
              <a:rPr lang="ko-KR" altLang="en-US" dirty="0">
                <a:solidFill>
                  <a:schemeClr val="tx1"/>
                </a:solidFill>
              </a:rPr>
              <a:t>개정 </a:t>
            </a:r>
            <a:r>
              <a:rPr lang="en-US" altLang="ko-KR" dirty="0">
                <a:solidFill>
                  <a:schemeClr val="tx1"/>
                </a:solidFill>
              </a:rPr>
              <a:t>2003.6.13&gt; 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⑥ 2 </a:t>
            </a:r>
            <a:r>
              <a:rPr lang="ko-KR" altLang="en-US" dirty="0">
                <a:solidFill>
                  <a:schemeClr val="tx1"/>
                </a:solidFill>
              </a:rPr>
              <a:t>이상의 항을 인용한 </a:t>
            </a:r>
            <a:r>
              <a:rPr lang="ko-KR" altLang="en-US" dirty="0" err="1">
                <a:solidFill>
                  <a:schemeClr val="tx1"/>
                </a:solidFill>
              </a:rPr>
              <a:t>청구항에서</a:t>
            </a:r>
            <a:r>
              <a:rPr lang="ko-KR" altLang="en-US" dirty="0">
                <a:solidFill>
                  <a:schemeClr val="tx1"/>
                </a:solidFill>
              </a:rPr>
              <a:t> 그 청구항의 인용된 항은 다시 </a:t>
            </a:r>
            <a:r>
              <a:rPr lang="en-US" altLang="ko-KR" dirty="0">
                <a:solidFill>
                  <a:schemeClr val="tx1"/>
                </a:solidFill>
              </a:rPr>
              <a:t>2 </a:t>
            </a:r>
            <a:r>
              <a:rPr lang="ko-KR" altLang="en-US" dirty="0">
                <a:solidFill>
                  <a:schemeClr val="tx1"/>
                </a:solidFill>
              </a:rPr>
              <a:t>이상의 항을 인용하는 방식을 사용하여서는 아니 된다</a:t>
            </a:r>
            <a:r>
              <a:rPr lang="en-US" altLang="ko-KR" dirty="0">
                <a:solidFill>
                  <a:schemeClr val="tx1"/>
                </a:solidFill>
              </a:rPr>
              <a:t>. 2 </a:t>
            </a:r>
            <a:r>
              <a:rPr lang="ko-KR" altLang="en-US" dirty="0">
                <a:solidFill>
                  <a:schemeClr val="tx1"/>
                </a:solidFill>
              </a:rPr>
              <a:t>이상의 항을 인용한 </a:t>
            </a:r>
            <a:r>
              <a:rPr lang="ko-KR" altLang="en-US" dirty="0" err="1">
                <a:solidFill>
                  <a:schemeClr val="tx1"/>
                </a:solidFill>
              </a:rPr>
              <a:t>청구항에서</a:t>
            </a:r>
            <a:r>
              <a:rPr lang="ko-KR" altLang="en-US" dirty="0">
                <a:solidFill>
                  <a:schemeClr val="tx1"/>
                </a:solidFill>
              </a:rPr>
              <a:t> 그 청구항의 인용된 항이 다시 하나의 항을 인용한 후에 그 하나의 항이 결과적으로 </a:t>
            </a:r>
            <a:r>
              <a:rPr lang="en-US" altLang="ko-KR" dirty="0">
                <a:solidFill>
                  <a:schemeClr val="tx1"/>
                </a:solidFill>
              </a:rPr>
              <a:t>2 </a:t>
            </a:r>
            <a:r>
              <a:rPr lang="ko-KR" altLang="en-US" dirty="0">
                <a:solidFill>
                  <a:schemeClr val="tx1"/>
                </a:solidFill>
              </a:rPr>
              <a:t>이상의 항을 인용하는 방식에 대하여도 또한 같다</a:t>
            </a:r>
            <a:r>
              <a:rPr lang="en-US" altLang="ko-KR" dirty="0">
                <a:solidFill>
                  <a:schemeClr val="tx1"/>
                </a:solidFill>
              </a:rPr>
              <a:t>.&lt;</a:t>
            </a:r>
            <a:r>
              <a:rPr lang="ko-KR" altLang="en-US" dirty="0">
                <a:solidFill>
                  <a:schemeClr val="tx1"/>
                </a:solidFill>
              </a:rPr>
              <a:t>개정 </a:t>
            </a:r>
            <a:r>
              <a:rPr lang="en-US" altLang="ko-KR" dirty="0">
                <a:solidFill>
                  <a:schemeClr val="tx1"/>
                </a:solidFill>
              </a:rPr>
              <a:t>2006.9.28&gt; 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⑦ </a:t>
            </a:r>
            <a:r>
              <a:rPr lang="ko-KR" altLang="en-US" dirty="0">
                <a:solidFill>
                  <a:schemeClr val="tx1"/>
                </a:solidFill>
              </a:rPr>
              <a:t>인용되는 </a:t>
            </a:r>
            <a:r>
              <a:rPr lang="ko-KR" altLang="en-US" dirty="0" err="1">
                <a:solidFill>
                  <a:schemeClr val="tx1"/>
                </a:solidFill>
              </a:rPr>
              <a:t>청구항은</a:t>
            </a:r>
            <a:r>
              <a:rPr lang="ko-KR" altLang="en-US" dirty="0">
                <a:solidFill>
                  <a:schemeClr val="tx1"/>
                </a:solidFill>
              </a:rPr>
              <a:t> 인용하는 </a:t>
            </a:r>
            <a:r>
              <a:rPr lang="ko-KR" altLang="en-US" dirty="0" err="1">
                <a:solidFill>
                  <a:schemeClr val="tx1"/>
                </a:solidFill>
              </a:rPr>
              <a:t>청구항보다</a:t>
            </a:r>
            <a:r>
              <a:rPr lang="ko-KR" altLang="en-US" dirty="0">
                <a:solidFill>
                  <a:schemeClr val="tx1"/>
                </a:solidFill>
              </a:rPr>
              <a:t> 먼저 기재하여야 한다</a:t>
            </a:r>
            <a:r>
              <a:rPr lang="en-US" altLang="ko-KR" dirty="0">
                <a:solidFill>
                  <a:schemeClr val="tx1"/>
                </a:solidFill>
              </a:rPr>
              <a:t>.&lt;</a:t>
            </a:r>
            <a:r>
              <a:rPr lang="ko-KR" altLang="en-US" dirty="0">
                <a:solidFill>
                  <a:schemeClr val="tx1"/>
                </a:solidFill>
              </a:rPr>
              <a:t>개정 </a:t>
            </a:r>
            <a:r>
              <a:rPr lang="en-US" altLang="ko-KR" dirty="0">
                <a:solidFill>
                  <a:schemeClr val="tx1"/>
                </a:solidFill>
              </a:rPr>
              <a:t>2003.6.13&gt; 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⑧ </a:t>
            </a:r>
            <a:r>
              <a:rPr lang="ko-KR" altLang="en-US" dirty="0">
                <a:solidFill>
                  <a:schemeClr val="tx1"/>
                </a:solidFill>
              </a:rPr>
              <a:t>각 </a:t>
            </a:r>
            <a:r>
              <a:rPr lang="ko-KR" altLang="en-US" dirty="0" err="1">
                <a:solidFill>
                  <a:schemeClr val="tx1"/>
                </a:solidFill>
              </a:rPr>
              <a:t>청구항은</a:t>
            </a:r>
            <a:r>
              <a:rPr lang="ko-KR" altLang="en-US" dirty="0">
                <a:solidFill>
                  <a:schemeClr val="tx1"/>
                </a:solidFill>
              </a:rPr>
              <a:t> 항마다 행을 바꾸어 기재하고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그 기재하는 순서에 따라 아라비아숫자로 일련번호를 붙여야 한다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endParaRPr lang="en-US" altLang="ko-KR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915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2.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특허법시행령 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조제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항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4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83568" y="1196752"/>
            <a:ext cx="7848873" cy="511256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/>
            <a:r>
              <a:rPr lang="ko-KR" altLang="en-US" sz="2000" dirty="0">
                <a:solidFill>
                  <a:prstClr val="black"/>
                </a:solidFill>
              </a:rPr>
              <a:t>특허법시행령 제</a:t>
            </a:r>
            <a:r>
              <a:rPr lang="en-US" altLang="ko-KR" sz="2000" dirty="0">
                <a:solidFill>
                  <a:prstClr val="black"/>
                </a:solidFill>
              </a:rPr>
              <a:t>5</a:t>
            </a:r>
            <a:r>
              <a:rPr lang="ko-KR" altLang="en-US" sz="2000" dirty="0">
                <a:solidFill>
                  <a:prstClr val="black"/>
                </a:solidFill>
              </a:rPr>
              <a:t>조</a:t>
            </a:r>
            <a:r>
              <a:rPr lang="en-US" altLang="ko-KR" sz="2000" dirty="0">
                <a:solidFill>
                  <a:prstClr val="black"/>
                </a:solidFill>
              </a:rPr>
              <a:t>(</a:t>
            </a:r>
            <a:r>
              <a:rPr lang="ko-KR" altLang="en-US" sz="2000" dirty="0">
                <a:solidFill>
                  <a:prstClr val="black"/>
                </a:solidFill>
              </a:rPr>
              <a:t>청구범위의 기재방법</a:t>
            </a:r>
            <a:r>
              <a:rPr lang="en-US" altLang="ko-KR" sz="2000" dirty="0">
                <a:solidFill>
                  <a:prstClr val="black"/>
                </a:solidFill>
              </a:rPr>
              <a:t>&lt;</a:t>
            </a:r>
            <a:r>
              <a:rPr lang="ko-KR" altLang="en-US" sz="2000" dirty="0">
                <a:solidFill>
                  <a:prstClr val="black"/>
                </a:solidFill>
              </a:rPr>
              <a:t>개정 </a:t>
            </a:r>
            <a:r>
              <a:rPr lang="en-US" altLang="ko-KR" sz="2000" dirty="0">
                <a:solidFill>
                  <a:prstClr val="black"/>
                </a:solidFill>
              </a:rPr>
              <a:t>2014.12.30&gt;) </a:t>
            </a:r>
          </a:p>
          <a:p>
            <a:pPr lvl="0"/>
            <a:r>
              <a:rPr lang="en-US" altLang="ko-KR" dirty="0">
                <a:solidFill>
                  <a:prstClr val="black"/>
                </a:solidFill>
              </a:rPr>
              <a:t>① </a:t>
            </a:r>
            <a:r>
              <a:rPr lang="ko-KR" altLang="en-US" dirty="0">
                <a:solidFill>
                  <a:prstClr val="black"/>
                </a:solidFill>
              </a:rPr>
              <a:t>법 제</a:t>
            </a:r>
            <a:r>
              <a:rPr lang="en-US" altLang="ko-KR" dirty="0">
                <a:solidFill>
                  <a:prstClr val="black"/>
                </a:solidFill>
              </a:rPr>
              <a:t>42</a:t>
            </a:r>
            <a:r>
              <a:rPr lang="ko-KR" altLang="en-US" dirty="0">
                <a:solidFill>
                  <a:prstClr val="black"/>
                </a:solidFill>
              </a:rPr>
              <a:t>조제</a:t>
            </a:r>
            <a:r>
              <a:rPr lang="en-US" altLang="ko-KR" dirty="0">
                <a:solidFill>
                  <a:prstClr val="black"/>
                </a:solidFill>
              </a:rPr>
              <a:t>8</a:t>
            </a:r>
            <a:r>
              <a:rPr lang="ko-KR" altLang="en-US" dirty="0">
                <a:solidFill>
                  <a:prstClr val="black"/>
                </a:solidFill>
              </a:rPr>
              <a:t>항에 따른 청구범위의 </a:t>
            </a:r>
            <a:r>
              <a:rPr lang="ko-KR" altLang="en-US" dirty="0" err="1">
                <a:solidFill>
                  <a:prstClr val="black"/>
                </a:solidFill>
              </a:rPr>
              <a:t>청구항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ko-KR" altLang="en-US" dirty="0">
                <a:solidFill>
                  <a:prstClr val="black"/>
                </a:solidFill>
              </a:rPr>
              <a:t>이하 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 err="1">
                <a:solidFill>
                  <a:prstClr val="black"/>
                </a:solidFill>
              </a:rPr>
              <a:t>청구항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>
                <a:solidFill>
                  <a:prstClr val="black"/>
                </a:solidFill>
              </a:rPr>
              <a:t>이라 한다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  <a:r>
              <a:rPr lang="ko-KR" altLang="en-US" dirty="0">
                <a:solidFill>
                  <a:prstClr val="black"/>
                </a:solidFill>
              </a:rPr>
              <a:t>을 기재할 때에는 </a:t>
            </a:r>
            <a:r>
              <a:rPr lang="ko-KR" altLang="en-US" dirty="0" err="1">
                <a:solidFill>
                  <a:prstClr val="black"/>
                </a:solidFill>
              </a:rPr>
              <a:t>독립청구항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ko-KR" altLang="en-US" dirty="0">
                <a:solidFill>
                  <a:prstClr val="black"/>
                </a:solidFill>
              </a:rPr>
              <a:t>이하 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 err="1">
                <a:solidFill>
                  <a:prstClr val="black"/>
                </a:solidFill>
              </a:rPr>
              <a:t>독립항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>
                <a:solidFill>
                  <a:prstClr val="black"/>
                </a:solidFill>
              </a:rPr>
              <a:t>이라 한다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  <a:r>
              <a:rPr lang="ko-KR" altLang="en-US" dirty="0">
                <a:solidFill>
                  <a:prstClr val="black"/>
                </a:solidFill>
              </a:rPr>
              <a:t>을 </a:t>
            </a:r>
            <a:r>
              <a:rPr lang="ko-KR" altLang="en-US" b="1" dirty="0">
                <a:solidFill>
                  <a:prstClr val="black"/>
                </a:solidFill>
              </a:rPr>
              <a:t>기재하여야 하며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그 </a:t>
            </a:r>
            <a:r>
              <a:rPr lang="ko-KR" altLang="en-US" dirty="0" err="1">
                <a:solidFill>
                  <a:prstClr val="black"/>
                </a:solidFill>
              </a:rPr>
              <a:t>독립항을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schemeClr val="accent1"/>
                </a:solidFill>
              </a:rPr>
              <a:t>한정하거나 부가하여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prstClr val="black"/>
                </a:solidFill>
              </a:rPr>
              <a:t>구체화하는 </a:t>
            </a:r>
            <a:r>
              <a:rPr lang="ko-KR" altLang="en-US" dirty="0" err="1">
                <a:solidFill>
                  <a:prstClr val="black"/>
                </a:solidFill>
              </a:rPr>
              <a:t>종속청구항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ko-KR" altLang="en-US" dirty="0">
                <a:solidFill>
                  <a:prstClr val="black"/>
                </a:solidFill>
              </a:rPr>
              <a:t>이하 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 err="1">
                <a:solidFill>
                  <a:prstClr val="black"/>
                </a:solidFill>
              </a:rPr>
              <a:t>종속항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>
                <a:solidFill>
                  <a:prstClr val="black"/>
                </a:solidFill>
              </a:rPr>
              <a:t>이라 한다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  <a:r>
              <a:rPr lang="ko-KR" altLang="en-US" dirty="0">
                <a:solidFill>
                  <a:prstClr val="black"/>
                </a:solidFill>
              </a:rPr>
              <a:t>을 </a:t>
            </a:r>
            <a:r>
              <a:rPr lang="ko-KR" altLang="en-US" b="1" dirty="0">
                <a:solidFill>
                  <a:prstClr val="black"/>
                </a:solidFill>
              </a:rPr>
              <a:t>기재할 수 있다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  <a:r>
              <a:rPr lang="ko-KR" altLang="en-US" dirty="0">
                <a:solidFill>
                  <a:prstClr val="black"/>
                </a:solidFill>
              </a:rPr>
              <a:t>이 경우 필요한 때에는 그 </a:t>
            </a:r>
            <a:r>
              <a:rPr lang="ko-KR" altLang="en-US" dirty="0" err="1">
                <a:solidFill>
                  <a:prstClr val="black"/>
                </a:solidFill>
              </a:rPr>
              <a:t>종속항을</a:t>
            </a:r>
            <a:r>
              <a:rPr lang="ko-KR" altLang="en-US" dirty="0">
                <a:solidFill>
                  <a:prstClr val="black"/>
                </a:solidFill>
              </a:rPr>
              <a:t> 한정하거나 부가하여 구체화하는 다른 </a:t>
            </a:r>
            <a:r>
              <a:rPr lang="ko-KR" altLang="en-US" dirty="0" err="1">
                <a:solidFill>
                  <a:prstClr val="black"/>
                </a:solidFill>
              </a:rPr>
              <a:t>종속항을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prstClr val="black"/>
                </a:solidFill>
              </a:rPr>
              <a:t>기재할 수 있다</a:t>
            </a:r>
            <a:r>
              <a:rPr lang="en-US" altLang="ko-KR" dirty="0">
                <a:solidFill>
                  <a:prstClr val="black"/>
                </a:solidFill>
              </a:rPr>
              <a:t>.&lt;</a:t>
            </a:r>
            <a:r>
              <a:rPr lang="ko-KR" altLang="en-US" dirty="0">
                <a:solidFill>
                  <a:prstClr val="black"/>
                </a:solidFill>
              </a:rPr>
              <a:t>개정 </a:t>
            </a:r>
            <a:r>
              <a:rPr lang="en-US" altLang="ko-KR" dirty="0">
                <a:solidFill>
                  <a:prstClr val="black"/>
                </a:solidFill>
              </a:rPr>
              <a:t>2006.9.28, 2007.6.28, 2014.12.30&gt; </a:t>
            </a: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endParaRPr lang="en-US" altLang="ko-KR" sz="1600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err="1">
                <a:solidFill>
                  <a:prstClr val="black"/>
                </a:solidFill>
                <a:latin typeface="+mn-ea"/>
              </a:rPr>
              <a:t>독립항은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무의미한 강제규정</a:t>
            </a:r>
            <a:r>
              <a:rPr lang="en-US" altLang="ko-KR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prstClr val="black"/>
                </a:solidFill>
                <a:latin typeface="+mn-ea"/>
              </a:rPr>
              <a:t>종속항은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임의사항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. </a:t>
            </a:r>
            <a:endParaRPr lang="en-US" altLang="ko-KR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→ 즉</a:t>
            </a:r>
            <a:r>
              <a:rPr lang="en-US" altLang="ko-KR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극단적으로 모든 </a:t>
            </a:r>
            <a:r>
              <a:rPr lang="ko-KR" altLang="en-US" dirty="0" err="1">
                <a:solidFill>
                  <a:prstClr val="black"/>
                </a:solidFill>
                <a:latin typeface="+mn-ea"/>
              </a:rPr>
              <a:t>청구항을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dirty="0" err="1">
                <a:solidFill>
                  <a:prstClr val="black"/>
                </a:solidFill>
                <a:latin typeface="+mn-ea"/>
              </a:rPr>
              <a:t>독립항으로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 기재해도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됨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→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종속항의 형식으로 기재하지 않았다고 거절이유를 통지하면 안됨</a:t>
            </a:r>
            <a:endParaRPr lang="en-US" altLang="ko-KR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160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2.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특허법시행령 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조제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항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5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83568" y="1196752"/>
            <a:ext cx="7848873" cy="5112568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/>
            <a:r>
              <a:rPr lang="ko-KR" altLang="en-US" sz="2000" dirty="0">
                <a:solidFill>
                  <a:prstClr val="black"/>
                </a:solidFill>
              </a:rPr>
              <a:t>특허법시행령 제</a:t>
            </a:r>
            <a:r>
              <a:rPr lang="en-US" altLang="ko-KR" sz="2000" dirty="0">
                <a:solidFill>
                  <a:prstClr val="black"/>
                </a:solidFill>
              </a:rPr>
              <a:t>5</a:t>
            </a:r>
            <a:r>
              <a:rPr lang="ko-KR" altLang="en-US" sz="2000" dirty="0">
                <a:solidFill>
                  <a:prstClr val="black"/>
                </a:solidFill>
              </a:rPr>
              <a:t>조</a:t>
            </a:r>
            <a:r>
              <a:rPr lang="en-US" altLang="ko-KR" sz="2000" dirty="0">
                <a:solidFill>
                  <a:prstClr val="black"/>
                </a:solidFill>
              </a:rPr>
              <a:t>(</a:t>
            </a:r>
            <a:r>
              <a:rPr lang="ko-KR" altLang="en-US" sz="2000" dirty="0">
                <a:solidFill>
                  <a:prstClr val="black"/>
                </a:solidFill>
              </a:rPr>
              <a:t>청구범위의 기재방법</a:t>
            </a:r>
            <a:r>
              <a:rPr lang="en-US" altLang="ko-KR" sz="2000" dirty="0">
                <a:solidFill>
                  <a:prstClr val="black"/>
                </a:solidFill>
              </a:rPr>
              <a:t>&lt;</a:t>
            </a:r>
            <a:r>
              <a:rPr lang="ko-KR" altLang="en-US" sz="2000" dirty="0">
                <a:solidFill>
                  <a:prstClr val="black"/>
                </a:solidFill>
              </a:rPr>
              <a:t>개정 </a:t>
            </a:r>
            <a:r>
              <a:rPr lang="en-US" altLang="ko-KR" sz="2000" dirty="0">
                <a:solidFill>
                  <a:prstClr val="black"/>
                </a:solidFill>
              </a:rPr>
              <a:t>2014.12.30&gt;) </a:t>
            </a:r>
          </a:p>
          <a:p>
            <a:pPr lvl="0"/>
            <a:r>
              <a:rPr lang="en-US" altLang="ko-KR" dirty="0" smtClean="0">
                <a:solidFill>
                  <a:prstClr val="black"/>
                </a:solidFill>
              </a:rPr>
              <a:t>① </a:t>
            </a:r>
            <a:r>
              <a:rPr lang="ko-KR" altLang="en-US" dirty="0">
                <a:solidFill>
                  <a:prstClr val="black"/>
                </a:solidFill>
              </a:rPr>
              <a:t>법 제</a:t>
            </a:r>
            <a:r>
              <a:rPr lang="en-US" altLang="ko-KR" dirty="0">
                <a:solidFill>
                  <a:prstClr val="black"/>
                </a:solidFill>
              </a:rPr>
              <a:t>42</a:t>
            </a:r>
            <a:r>
              <a:rPr lang="ko-KR" altLang="en-US" dirty="0">
                <a:solidFill>
                  <a:prstClr val="black"/>
                </a:solidFill>
              </a:rPr>
              <a:t>조제</a:t>
            </a:r>
            <a:r>
              <a:rPr lang="en-US" altLang="ko-KR" dirty="0">
                <a:solidFill>
                  <a:prstClr val="black"/>
                </a:solidFill>
              </a:rPr>
              <a:t>8</a:t>
            </a:r>
            <a:r>
              <a:rPr lang="ko-KR" altLang="en-US" dirty="0">
                <a:solidFill>
                  <a:prstClr val="black"/>
                </a:solidFill>
              </a:rPr>
              <a:t>항에 따른 청구범위의 </a:t>
            </a:r>
            <a:r>
              <a:rPr lang="ko-KR" altLang="en-US" dirty="0" err="1">
                <a:solidFill>
                  <a:prstClr val="black"/>
                </a:solidFill>
              </a:rPr>
              <a:t>청구항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ko-KR" altLang="en-US" dirty="0">
                <a:solidFill>
                  <a:prstClr val="black"/>
                </a:solidFill>
              </a:rPr>
              <a:t>이하 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 err="1">
                <a:solidFill>
                  <a:prstClr val="black"/>
                </a:solidFill>
              </a:rPr>
              <a:t>청구항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>
                <a:solidFill>
                  <a:prstClr val="black"/>
                </a:solidFill>
              </a:rPr>
              <a:t>이라 한다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  <a:r>
              <a:rPr lang="ko-KR" altLang="en-US" dirty="0">
                <a:solidFill>
                  <a:prstClr val="black"/>
                </a:solidFill>
              </a:rPr>
              <a:t>을 기재할 때에는 </a:t>
            </a:r>
            <a:r>
              <a:rPr lang="ko-KR" altLang="en-US" dirty="0" err="1">
                <a:solidFill>
                  <a:prstClr val="black"/>
                </a:solidFill>
              </a:rPr>
              <a:t>독립청구항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ko-KR" altLang="en-US" dirty="0">
                <a:solidFill>
                  <a:prstClr val="black"/>
                </a:solidFill>
              </a:rPr>
              <a:t>이하 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 err="1">
                <a:solidFill>
                  <a:prstClr val="black"/>
                </a:solidFill>
              </a:rPr>
              <a:t>독립항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>
                <a:solidFill>
                  <a:prstClr val="black"/>
                </a:solidFill>
              </a:rPr>
              <a:t>이라 한다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  <a:r>
              <a:rPr lang="ko-KR" altLang="en-US" dirty="0">
                <a:solidFill>
                  <a:prstClr val="black"/>
                </a:solidFill>
              </a:rPr>
              <a:t>을 </a:t>
            </a:r>
            <a:r>
              <a:rPr lang="ko-KR" altLang="en-US" b="1" dirty="0">
                <a:solidFill>
                  <a:prstClr val="black"/>
                </a:solidFill>
              </a:rPr>
              <a:t>기재하여야 하며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그 </a:t>
            </a:r>
            <a:r>
              <a:rPr lang="ko-KR" altLang="en-US" dirty="0" err="1">
                <a:solidFill>
                  <a:prstClr val="black"/>
                </a:solidFill>
              </a:rPr>
              <a:t>독립항을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schemeClr val="accent1"/>
                </a:solidFill>
              </a:rPr>
              <a:t>한정하거나 부가하여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prstClr val="black"/>
                </a:solidFill>
              </a:rPr>
              <a:t>구체화하는 </a:t>
            </a:r>
            <a:r>
              <a:rPr lang="ko-KR" altLang="en-US" dirty="0" err="1">
                <a:solidFill>
                  <a:prstClr val="black"/>
                </a:solidFill>
              </a:rPr>
              <a:t>종속청구항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ko-KR" altLang="en-US" dirty="0">
                <a:solidFill>
                  <a:prstClr val="black"/>
                </a:solidFill>
              </a:rPr>
              <a:t>이하 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 err="1">
                <a:solidFill>
                  <a:prstClr val="black"/>
                </a:solidFill>
              </a:rPr>
              <a:t>종속항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>
                <a:solidFill>
                  <a:prstClr val="black"/>
                </a:solidFill>
              </a:rPr>
              <a:t>이라 한다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  <a:r>
              <a:rPr lang="ko-KR" altLang="en-US" dirty="0">
                <a:solidFill>
                  <a:prstClr val="black"/>
                </a:solidFill>
              </a:rPr>
              <a:t>을 </a:t>
            </a:r>
            <a:r>
              <a:rPr lang="ko-KR" altLang="en-US" b="1" dirty="0">
                <a:solidFill>
                  <a:prstClr val="black"/>
                </a:solidFill>
              </a:rPr>
              <a:t>기재할 수 있다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  <a:r>
              <a:rPr lang="ko-KR" altLang="en-US" dirty="0">
                <a:solidFill>
                  <a:prstClr val="black"/>
                </a:solidFill>
              </a:rPr>
              <a:t>이 경우 필요한 때에는 그 </a:t>
            </a:r>
            <a:r>
              <a:rPr lang="ko-KR" altLang="en-US" dirty="0" err="1">
                <a:solidFill>
                  <a:prstClr val="black"/>
                </a:solidFill>
              </a:rPr>
              <a:t>종속항을</a:t>
            </a:r>
            <a:r>
              <a:rPr lang="ko-KR" altLang="en-US" dirty="0">
                <a:solidFill>
                  <a:prstClr val="black"/>
                </a:solidFill>
              </a:rPr>
              <a:t> 한정하거나 부가하여 구체화하는 다른 </a:t>
            </a:r>
            <a:r>
              <a:rPr lang="ko-KR" altLang="en-US" dirty="0" err="1">
                <a:solidFill>
                  <a:prstClr val="black"/>
                </a:solidFill>
              </a:rPr>
              <a:t>종속항을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prstClr val="black"/>
                </a:solidFill>
              </a:rPr>
              <a:t>기재할 수 있다</a:t>
            </a:r>
            <a:r>
              <a:rPr lang="en-US" altLang="ko-KR" dirty="0">
                <a:solidFill>
                  <a:prstClr val="black"/>
                </a:solidFill>
              </a:rPr>
              <a:t>.&lt;</a:t>
            </a:r>
            <a:r>
              <a:rPr lang="ko-KR" altLang="en-US" dirty="0">
                <a:solidFill>
                  <a:prstClr val="black"/>
                </a:solidFill>
              </a:rPr>
              <a:t>개정 </a:t>
            </a:r>
            <a:r>
              <a:rPr lang="en-US" altLang="ko-KR" dirty="0">
                <a:solidFill>
                  <a:prstClr val="black"/>
                </a:solidFill>
              </a:rPr>
              <a:t>2006.9.28, 2007.6.28, 2014.12.30&gt; </a:t>
            </a:r>
          </a:p>
          <a:p>
            <a:pPr>
              <a:lnSpc>
                <a:spcPct val="130000"/>
              </a:lnSpc>
            </a:pPr>
            <a:endParaRPr lang="en-US" altLang="ko-KR" sz="1000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한정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: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상위개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념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→ 하위개념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예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금속 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→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구리</a:t>
            </a:r>
            <a:r>
              <a:rPr lang="en-US" altLang="ko-KR" dirty="0">
                <a:solidFill>
                  <a:prstClr val="black"/>
                </a:solidFill>
                <a:latin typeface="+mn-ea"/>
              </a:rPr>
              <a:t>)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b="1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b="1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한정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이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아니면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b="1" dirty="0" smtClean="0">
                <a:solidFill>
                  <a:schemeClr val="tx1"/>
                </a:solidFill>
                <a:latin typeface="+mn-ea"/>
              </a:rPr>
              <a:t>기재불비 지적 가능 </a:t>
            </a:r>
            <a:r>
              <a:rPr lang="en-US" altLang="ko-KR" b="1" dirty="0" smtClean="0">
                <a:solidFill>
                  <a:schemeClr val="tx1"/>
                </a:solidFill>
                <a:latin typeface="+mn-ea"/>
              </a:rPr>
              <a:t>:</a:t>
            </a:r>
            <a:r>
              <a:rPr lang="en-US" altLang="ko-KR" b="1" dirty="0" smtClean="0">
                <a:solidFill>
                  <a:srgbClr val="C00000"/>
                </a:solidFill>
                <a:latin typeface="+mn-ea"/>
              </a:rPr>
              <a:t>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</a:rPr>
              <a:t>컵모양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</a:rPr>
              <a:t>독립항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?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반구형상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</a:rPr>
              <a:t>종속항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30000"/>
              </a:lnSpc>
            </a:pPr>
            <a:endParaRPr lang="en-US" altLang="ko-KR" sz="1000" b="1" dirty="0" smtClean="0">
              <a:solidFill>
                <a:srgbClr val="C00000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부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가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: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기술구성을 부가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예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~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의 일단에 체결볼트를 더 포함하는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endParaRPr lang="en-US" altLang="ko-KR" sz="1000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종속항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형식이라도 한정하거나 부가하지 않으면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독립항으로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판단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예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3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에 있어서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체인 대신에 벨트를 구비한 물건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: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치환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 (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예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에 있어서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이송부가 없는  장치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 :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구성의 삭제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)</a:t>
            </a:r>
            <a:endParaRPr lang="en-US" altLang="ko-KR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6959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2.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특허법시행령 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조제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항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6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83568" y="1052736"/>
            <a:ext cx="7848873" cy="525658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/>
            <a:r>
              <a:rPr lang="ko-KR" altLang="en-US" sz="2000" dirty="0">
                <a:solidFill>
                  <a:prstClr val="black"/>
                </a:solidFill>
              </a:rPr>
              <a:t>특허법시행령 제</a:t>
            </a:r>
            <a:r>
              <a:rPr lang="en-US" altLang="ko-KR" sz="2000" dirty="0">
                <a:solidFill>
                  <a:prstClr val="black"/>
                </a:solidFill>
              </a:rPr>
              <a:t>5</a:t>
            </a:r>
            <a:r>
              <a:rPr lang="ko-KR" altLang="en-US" sz="2000" dirty="0">
                <a:solidFill>
                  <a:prstClr val="black"/>
                </a:solidFill>
              </a:rPr>
              <a:t>조</a:t>
            </a:r>
            <a:r>
              <a:rPr lang="en-US" altLang="ko-KR" sz="2000" dirty="0">
                <a:solidFill>
                  <a:prstClr val="black"/>
                </a:solidFill>
              </a:rPr>
              <a:t>(</a:t>
            </a:r>
            <a:r>
              <a:rPr lang="ko-KR" altLang="en-US" sz="2000" dirty="0">
                <a:solidFill>
                  <a:prstClr val="black"/>
                </a:solidFill>
              </a:rPr>
              <a:t>청구범위의 기재방법</a:t>
            </a:r>
            <a:r>
              <a:rPr lang="en-US" altLang="ko-KR" sz="2000" dirty="0">
                <a:solidFill>
                  <a:prstClr val="black"/>
                </a:solidFill>
              </a:rPr>
              <a:t>&lt;</a:t>
            </a:r>
            <a:r>
              <a:rPr lang="ko-KR" altLang="en-US" sz="2000" dirty="0">
                <a:solidFill>
                  <a:prstClr val="black"/>
                </a:solidFill>
              </a:rPr>
              <a:t>개정 </a:t>
            </a:r>
            <a:r>
              <a:rPr lang="en-US" altLang="ko-KR" sz="2000" dirty="0">
                <a:solidFill>
                  <a:prstClr val="black"/>
                </a:solidFill>
              </a:rPr>
              <a:t>2014.12.30&gt;) </a:t>
            </a:r>
          </a:p>
          <a:p>
            <a:pPr lvl="0"/>
            <a:r>
              <a:rPr lang="en-US" altLang="ko-KR" dirty="0">
                <a:solidFill>
                  <a:prstClr val="black"/>
                </a:solidFill>
              </a:rPr>
              <a:t>① </a:t>
            </a:r>
            <a:r>
              <a:rPr lang="ko-KR" altLang="en-US" dirty="0">
                <a:solidFill>
                  <a:prstClr val="black"/>
                </a:solidFill>
              </a:rPr>
              <a:t>법 제</a:t>
            </a:r>
            <a:r>
              <a:rPr lang="en-US" altLang="ko-KR" dirty="0">
                <a:solidFill>
                  <a:prstClr val="black"/>
                </a:solidFill>
              </a:rPr>
              <a:t>42</a:t>
            </a:r>
            <a:r>
              <a:rPr lang="ko-KR" altLang="en-US" dirty="0">
                <a:solidFill>
                  <a:prstClr val="black"/>
                </a:solidFill>
              </a:rPr>
              <a:t>조제</a:t>
            </a:r>
            <a:r>
              <a:rPr lang="en-US" altLang="ko-KR" dirty="0">
                <a:solidFill>
                  <a:prstClr val="black"/>
                </a:solidFill>
              </a:rPr>
              <a:t>8</a:t>
            </a:r>
            <a:r>
              <a:rPr lang="ko-KR" altLang="en-US" dirty="0">
                <a:solidFill>
                  <a:prstClr val="black"/>
                </a:solidFill>
              </a:rPr>
              <a:t>항에 따른 청구범위의 </a:t>
            </a:r>
            <a:r>
              <a:rPr lang="ko-KR" altLang="en-US" dirty="0" err="1">
                <a:solidFill>
                  <a:prstClr val="black"/>
                </a:solidFill>
              </a:rPr>
              <a:t>청구항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ko-KR" altLang="en-US" dirty="0">
                <a:solidFill>
                  <a:prstClr val="black"/>
                </a:solidFill>
              </a:rPr>
              <a:t>이하 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 err="1">
                <a:solidFill>
                  <a:prstClr val="black"/>
                </a:solidFill>
              </a:rPr>
              <a:t>청구항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>
                <a:solidFill>
                  <a:prstClr val="black"/>
                </a:solidFill>
              </a:rPr>
              <a:t>이라 한다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  <a:r>
              <a:rPr lang="ko-KR" altLang="en-US" dirty="0">
                <a:solidFill>
                  <a:prstClr val="black"/>
                </a:solidFill>
              </a:rPr>
              <a:t>을 기재할 때에는 </a:t>
            </a:r>
            <a:r>
              <a:rPr lang="ko-KR" altLang="en-US" dirty="0" err="1">
                <a:solidFill>
                  <a:prstClr val="black"/>
                </a:solidFill>
              </a:rPr>
              <a:t>독립청구항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ko-KR" altLang="en-US" dirty="0">
                <a:solidFill>
                  <a:prstClr val="black"/>
                </a:solidFill>
              </a:rPr>
              <a:t>이하 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 err="1">
                <a:solidFill>
                  <a:prstClr val="black"/>
                </a:solidFill>
              </a:rPr>
              <a:t>독립항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>
                <a:solidFill>
                  <a:prstClr val="black"/>
                </a:solidFill>
              </a:rPr>
              <a:t>이라 한다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  <a:r>
              <a:rPr lang="ko-KR" altLang="en-US" dirty="0">
                <a:solidFill>
                  <a:prstClr val="black"/>
                </a:solidFill>
              </a:rPr>
              <a:t>을 </a:t>
            </a:r>
            <a:r>
              <a:rPr lang="ko-KR" altLang="en-US" b="1" dirty="0">
                <a:solidFill>
                  <a:prstClr val="black"/>
                </a:solidFill>
              </a:rPr>
              <a:t>기재하여야 하며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ko-KR" altLang="en-US" dirty="0">
                <a:solidFill>
                  <a:prstClr val="black"/>
                </a:solidFill>
              </a:rPr>
              <a:t>그 </a:t>
            </a:r>
            <a:r>
              <a:rPr lang="ko-KR" altLang="en-US" dirty="0" err="1">
                <a:solidFill>
                  <a:prstClr val="black"/>
                </a:solidFill>
              </a:rPr>
              <a:t>독립항을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schemeClr val="accent1"/>
                </a:solidFill>
              </a:rPr>
              <a:t>한정하거나 부가하여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prstClr val="black"/>
                </a:solidFill>
              </a:rPr>
              <a:t>구체화하는 </a:t>
            </a:r>
            <a:r>
              <a:rPr lang="ko-KR" altLang="en-US" dirty="0" err="1">
                <a:solidFill>
                  <a:prstClr val="black"/>
                </a:solidFill>
              </a:rPr>
              <a:t>종속청구항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ko-KR" altLang="en-US" dirty="0">
                <a:solidFill>
                  <a:prstClr val="black"/>
                </a:solidFill>
              </a:rPr>
              <a:t>이하 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 err="1">
                <a:solidFill>
                  <a:prstClr val="black"/>
                </a:solidFill>
              </a:rPr>
              <a:t>종속항</a:t>
            </a:r>
            <a:r>
              <a:rPr lang="en-US" altLang="ko-KR" dirty="0">
                <a:solidFill>
                  <a:prstClr val="black"/>
                </a:solidFill>
              </a:rPr>
              <a:t>"</a:t>
            </a:r>
            <a:r>
              <a:rPr lang="ko-KR" altLang="en-US" dirty="0">
                <a:solidFill>
                  <a:prstClr val="black"/>
                </a:solidFill>
              </a:rPr>
              <a:t>이라 한다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  <a:r>
              <a:rPr lang="ko-KR" altLang="en-US" dirty="0">
                <a:solidFill>
                  <a:prstClr val="black"/>
                </a:solidFill>
              </a:rPr>
              <a:t>을 </a:t>
            </a:r>
            <a:r>
              <a:rPr lang="ko-KR" altLang="en-US" b="1" dirty="0">
                <a:solidFill>
                  <a:prstClr val="black"/>
                </a:solidFill>
              </a:rPr>
              <a:t>기재할 수 있다</a:t>
            </a:r>
            <a:r>
              <a:rPr lang="en-US" altLang="ko-KR" dirty="0">
                <a:solidFill>
                  <a:prstClr val="black"/>
                </a:solidFill>
              </a:rPr>
              <a:t>. </a:t>
            </a:r>
            <a:r>
              <a:rPr lang="ko-KR" altLang="en-US" dirty="0">
                <a:solidFill>
                  <a:prstClr val="black"/>
                </a:solidFill>
              </a:rPr>
              <a:t>이 경우 필요한 때에는 그 </a:t>
            </a:r>
            <a:r>
              <a:rPr lang="ko-KR" altLang="en-US" dirty="0" err="1">
                <a:solidFill>
                  <a:prstClr val="black"/>
                </a:solidFill>
              </a:rPr>
              <a:t>종속항을</a:t>
            </a:r>
            <a:r>
              <a:rPr lang="ko-KR" altLang="en-US" dirty="0">
                <a:solidFill>
                  <a:prstClr val="black"/>
                </a:solidFill>
              </a:rPr>
              <a:t> 한정하거나 부가하여 구체화하는 다른 </a:t>
            </a:r>
            <a:r>
              <a:rPr lang="ko-KR" altLang="en-US" dirty="0" err="1">
                <a:solidFill>
                  <a:prstClr val="black"/>
                </a:solidFill>
              </a:rPr>
              <a:t>종속항을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prstClr val="black"/>
                </a:solidFill>
              </a:rPr>
              <a:t>기재할 수 있다</a:t>
            </a:r>
            <a:r>
              <a:rPr lang="en-US" altLang="ko-KR" dirty="0">
                <a:solidFill>
                  <a:prstClr val="black"/>
                </a:solidFill>
              </a:rPr>
              <a:t>.&lt;</a:t>
            </a:r>
            <a:r>
              <a:rPr lang="ko-KR" altLang="en-US" dirty="0">
                <a:solidFill>
                  <a:prstClr val="black"/>
                </a:solidFill>
              </a:rPr>
              <a:t>개정 </a:t>
            </a:r>
            <a:r>
              <a:rPr lang="en-US" altLang="ko-KR" dirty="0">
                <a:solidFill>
                  <a:prstClr val="black"/>
                </a:solidFill>
              </a:rPr>
              <a:t>2006.9.28, 2007.6.28, 2014.12.30&gt; </a:t>
            </a: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endParaRPr lang="en-US" altLang="ko-KR" sz="800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중복기재를 피하기 위해서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독립항이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다른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청구항을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b="1" dirty="0" smtClean="0">
                <a:solidFill>
                  <a:srgbClr val="C00000"/>
                </a:solidFill>
                <a:latin typeface="+mn-ea"/>
              </a:rPr>
              <a:t>인용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하는 것을 허용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심사기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준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2417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쪽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-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4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의 제조방법으로 제조된 물건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- ~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를 포함하고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의 물건을 제조하는 방법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-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1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내지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3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중 어느 한 항의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물건을 이용하여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~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를 측정하는 방법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endParaRPr lang="en-US" altLang="ko-KR" sz="800" dirty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다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른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의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일부 구성만을 인용하는 경우에 기재불비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가능성</a:t>
            </a:r>
            <a:r>
              <a:rPr lang="en-US" altLang="ko-KR" dirty="0">
                <a:solidFill>
                  <a:prstClr val="black"/>
                </a:solidFill>
                <a:latin typeface="+mn-ea"/>
              </a:rPr>
              <a:t> 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→ 명백하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게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지칭하는 경우는 예외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: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화학구조식의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x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는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에서 정의한 것과 동일한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~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1571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3.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특허법시행령 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조제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2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항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7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83568" y="1124744"/>
            <a:ext cx="7992888" cy="518457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/>
            <a:r>
              <a:rPr lang="ko-KR" altLang="en-US" sz="2000" dirty="0">
                <a:solidFill>
                  <a:prstClr val="black"/>
                </a:solidFill>
              </a:rPr>
              <a:t>특허법시행령 제</a:t>
            </a:r>
            <a:r>
              <a:rPr lang="en-US" altLang="ko-KR" sz="2000" dirty="0">
                <a:solidFill>
                  <a:prstClr val="black"/>
                </a:solidFill>
              </a:rPr>
              <a:t>5</a:t>
            </a:r>
            <a:r>
              <a:rPr lang="ko-KR" altLang="en-US" sz="2000" dirty="0">
                <a:solidFill>
                  <a:prstClr val="black"/>
                </a:solidFill>
              </a:rPr>
              <a:t>조</a:t>
            </a:r>
            <a:r>
              <a:rPr lang="en-US" altLang="ko-KR" sz="2000" dirty="0">
                <a:solidFill>
                  <a:prstClr val="black"/>
                </a:solidFill>
              </a:rPr>
              <a:t>(</a:t>
            </a:r>
            <a:r>
              <a:rPr lang="ko-KR" altLang="en-US" sz="2000" dirty="0">
                <a:solidFill>
                  <a:prstClr val="black"/>
                </a:solidFill>
              </a:rPr>
              <a:t>청구범위의 기재방법</a:t>
            </a:r>
            <a:r>
              <a:rPr lang="en-US" altLang="ko-KR" sz="2000" dirty="0">
                <a:solidFill>
                  <a:prstClr val="black"/>
                </a:solidFill>
              </a:rPr>
              <a:t>&lt;</a:t>
            </a:r>
            <a:r>
              <a:rPr lang="ko-KR" altLang="en-US" sz="2000" dirty="0">
                <a:solidFill>
                  <a:prstClr val="black"/>
                </a:solidFill>
              </a:rPr>
              <a:t>개정 </a:t>
            </a:r>
            <a:r>
              <a:rPr lang="en-US" altLang="ko-KR" sz="2000" dirty="0">
                <a:solidFill>
                  <a:prstClr val="black"/>
                </a:solidFill>
              </a:rPr>
              <a:t>2014.12.30&gt;) </a:t>
            </a:r>
          </a:p>
          <a:p>
            <a:pPr lvl="0"/>
            <a:r>
              <a:rPr lang="en-US" altLang="ko-KR" dirty="0">
                <a:solidFill>
                  <a:schemeClr val="tx1"/>
                </a:solidFill>
              </a:rPr>
              <a:t>② </a:t>
            </a:r>
            <a:r>
              <a:rPr lang="ko-KR" altLang="en-US" dirty="0" err="1" smtClean="0">
                <a:solidFill>
                  <a:schemeClr val="tx1"/>
                </a:solidFill>
              </a:rPr>
              <a:t>청구항은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발명의 성질에 따라 적정한 수로 기재하여야 한다</a:t>
            </a:r>
            <a:r>
              <a:rPr lang="en-US" altLang="ko-KR" dirty="0">
                <a:solidFill>
                  <a:schemeClr val="tx1"/>
                </a:solidFill>
              </a:rPr>
              <a:t>.&lt;</a:t>
            </a:r>
            <a:r>
              <a:rPr lang="ko-KR" altLang="en-US" dirty="0">
                <a:solidFill>
                  <a:schemeClr val="tx1"/>
                </a:solidFill>
              </a:rPr>
              <a:t>개정 </a:t>
            </a:r>
            <a:r>
              <a:rPr lang="en-US" altLang="ko-KR" dirty="0">
                <a:solidFill>
                  <a:schemeClr val="tx1"/>
                </a:solidFill>
              </a:rPr>
              <a:t>2003.6.13</a:t>
            </a:r>
            <a:r>
              <a:rPr lang="en-US" altLang="ko-KR" dirty="0" smtClean="0">
                <a:solidFill>
                  <a:schemeClr val="tx1"/>
                </a:solidFill>
              </a:rPr>
              <a:t>&gt;</a:t>
            </a:r>
          </a:p>
          <a:p>
            <a:pPr lvl="0"/>
            <a:endParaRPr lang="en-US" altLang="ko-KR" sz="800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하나의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청구항에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카테고리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가 다른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2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이상의 발명이 기재된 경우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r>
              <a:rPr lang="en-US" altLang="ko-KR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예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~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하는 물건 및 그 제조방법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)</a:t>
            </a:r>
          </a:p>
          <a:p>
            <a:endParaRPr lang="en-US" altLang="ko-KR" sz="800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청구하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는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대상이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2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이상인 경우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 lvl="0"/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 (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예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~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하는 고분자 화합물 및 그 고분자 화합물을 이용한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컨택트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렌즈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)</a:t>
            </a:r>
            <a:endParaRPr lang="en-US" altLang="ko-KR" sz="800" dirty="0">
              <a:solidFill>
                <a:prstClr val="black"/>
              </a:solidFill>
            </a:endParaRPr>
          </a:p>
          <a:p>
            <a:endParaRPr lang="en-US" altLang="ko-KR" sz="800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→ 볼트 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및 너트</a:t>
            </a:r>
            <a:r>
              <a:rPr lang="en-US" altLang="ko-KR" dirty="0">
                <a:solidFill>
                  <a:prstClr val="black"/>
                </a:solidFill>
                <a:latin typeface="+mn-ea"/>
              </a:rPr>
              <a:t>?,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볼트 및 너트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조립체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~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볼트 및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~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너트를 포함하는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체결구</a:t>
            </a:r>
            <a:endParaRPr lang="en-US" altLang="ko-KR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endParaRPr lang="en-US" altLang="ko-KR" sz="800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동일한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청구항을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중복하여 기재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문언적으로 동일한 경우를 말하며 실질적으로 동일할 뿐 표현을 달리한 경우는 제외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)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한 경우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즉 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형식만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봄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endParaRPr lang="en-US" altLang="ko-KR" sz="800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하나의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내에서 다수의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청구항을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다중으로 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인용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하는 경우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예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dirty="0">
                <a:solidFill>
                  <a:prstClr val="black"/>
                </a:solidFill>
                <a:latin typeface="+mn-ea"/>
              </a:rPr>
              <a:t>1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또는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2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의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물건을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4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또는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의 장치로 제조하는 방법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예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6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또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는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7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에 있어서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</a:t>
            </a:r>
            <a:r>
              <a:rPr lang="ko-KR" altLang="en-US" dirty="0" err="1">
                <a:solidFill>
                  <a:prstClr val="black"/>
                </a:solidFill>
                <a:latin typeface="+mn-ea"/>
              </a:rPr>
              <a:t>항</a:t>
            </a:r>
            <a:r>
              <a:rPr lang="en-US" altLang="ko-KR" dirty="0"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또는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2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의 물건을 제조하는 장치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)</a:t>
            </a:r>
            <a:endParaRPr lang="en-US" altLang="ko-KR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925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4.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특허법시행령 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조제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4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항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8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83568" y="1124744"/>
            <a:ext cx="7848873" cy="518457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/>
            <a:r>
              <a:rPr lang="ko-KR" altLang="en-US" sz="2000" dirty="0">
                <a:solidFill>
                  <a:prstClr val="black"/>
                </a:solidFill>
              </a:rPr>
              <a:t>특허법시행령 제</a:t>
            </a:r>
            <a:r>
              <a:rPr lang="en-US" altLang="ko-KR" sz="2000" dirty="0">
                <a:solidFill>
                  <a:prstClr val="black"/>
                </a:solidFill>
              </a:rPr>
              <a:t>5</a:t>
            </a:r>
            <a:r>
              <a:rPr lang="ko-KR" altLang="en-US" sz="2000" dirty="0">
                <a:solidFill>
                  <a:prstClr val="black"/>
                </a:solidFill>
              </a:rPr>
              <a:t>조</a:t>
            </a:r>
            <a:r>
              <a:rPr lang="en-US" altLang="ko-KR" sz="2000" dirty="0">
                <a:solidFill>
                  <a:prstClr val="black"/>
                </a:solidFill>
              </a:rPr>
              <a:t>(</a:t>
            </a:r>
            <a:r>
              <a:rPr lang="ko-KR" altLang="en-US" sz="2000" dirty="0">
                <a:solidFill>
                  <a:prstClr val="black"/>
                </a:solidFill>
              </a:rPr>
              <a:t>청구범위의 기재방법</a:t>
            </a:r>
            <a:r>
              <a:rPr lang="en-US" altLang="ko-KR" sz="2000" dirty="0">
                <a:solidFill>
                  <a:prstClr val="black"/>
                </a:solidFill>
              </a:rPr>
              <a:t>&lt;</a:t>
            </a:r>
            <a:r>
              <a:rPr lang="ko-KR" altLang="en-US" sz="2000" dirty="0">
                <a:solidFill>
                  <a:prstClr val="black"/>
                </a:solidFill>
              </a:rPr>
              <a:t>개정 </a:t>
            </a:r>
            <a:r>
              <a:rPr lang="en-US" altLang="ko-KR" sz="2000" dirty="0">
                <a:solidFill>
                  <a:prstClr val="black"/>
                </a:solidFill>
              </a:rPr>
              <a:t>2014.12.30&gt;) 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④ </a:t>
            </a:r>
            <a:r>
              <a:rPr lang="ko-KR" altLang="en-US" dirty="0">
                <a:solidFill>
                  <a:schemeClr val="tx1"/>
                </a:solidFill>
              </a:rPr>
              <a:t>다른 </a:t>
            </a:r>
            <a:r>
              <a:rPr lang="ko-KR" altLang="en-US" dirty="0" err="1">
                <a:solidFill>
                  <a:schemeClr val="tx1"/>
                </a:solidFill>
              </a:rPr>
              <a:t>청구항을</a:t>
            </a:r>
            <a:r>
              <a:rPr lang="ko-KR" altLang="en-US" dirty="0">
                <a:solidFill>
                  <a:schemeClr val="tx1"/>
                </a:solidFill>
              </a:rPr>
              <a:t> 인용하는 </a:t>
            </a:r>
            <a:r>
              <a:rPr lang="ko-KR" altLang="en-US" dirty="0" err="1">
                <a:solidFill>
                  <a:schemeClr val="tx1"/>
                </a:solidFill>
              </a:rPr>
              <a:t>청구항은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인용</a:t>
            </a:r>
            <a:r>
              <a:rPr lang="ko-KR" altLang="en-US" dirty="0">
                <a:solidFill>
                  <a:schemeClr val="tx1"/>
                </a:solidFill>
              </a:rPr>
              <a:t>되는 항의 </a:t>
            </a:r>
            <a:r>
              <a:rPr lang="ko-KR" altLang="en-US" b="1" dirty="0">
                <a:solidFill>
                  <a:schemeClr val="tx1"/>
                </a:solidFill>
              </a:rPr>
              <a:t>번호</a:t>
            </a:r>
            <a:r>
              <a:rPr lang="ko-KR" altLang="en-US" dirty="0">
                <a:solidFill>
                  <a:schemeClr val="tx1"/>
                </a:solidFill>
              </a:rPr>
              <a:t>를 적어야 한다</a:t>
            </a:r>
            <a:r>
              <a:rPr lang="en-US" altLang="ko-KR" dirty="0">
                <a:solidFill>
                  <a:schemeClr val="tx1"/>
                </a:solidFill>
              </a:rPr>
              <a:t>.&lt;</a:t>
            </a:r>
            <a:r>
              <a:rPr lang="ko-KR" altLang="en-US" dirty="0">
                <a:solidFill>
                  <a:schemeClr val="tx1"/>
                </a:solidFill>
              </a:rPr>
              <a:t>개정 </a:t>
            </a:r>
            <a:r>
              <a:rPr lang="en-US" altLang="ko-KR" dirty="0">
                <a:solidFill>
                  <a:schemeClr val="tx1"/>
                </a:solidFill>
              </a:rPr>
              <a:t>2013.6.28&gt;</a:t>
            </a:r>
          </a:p>
          <a:p>
            <a:pPr lvl="0"/>
            <a:endParaRPr lang="en-US" altLang="ko-KR" sz="1600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2013.6.30.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까지는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종속항에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대해서만 적용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됨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  (</a:t>
            </a:r>
            <a:r>
              <a:rPr lang="en-US" altLang="ko-KR" dirty="0">
                <a:solidFill>
                  <a:schemeClr val="tx1"/>
                </a:solidFill>
              </a:rPr>
              <a:t>④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종속항을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기재할 때에는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독립항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또는 다른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종속항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중에서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1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또는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2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이상의 항을 인용하여야 하며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인용되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는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항의 번호를 기재하여야 한다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endParaRPr lang="en-US" altLang="ko-KR" sz="800" dirty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2013.7.1.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이후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출원하는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모든 출원은 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다른 </a:t>
            </a:r>
            <a:r>
              <a:rPr lang="ko-KR" altLang="en-US" b="1" dirty="0" err="1" smtClean="0">
                <a:solidFill>
                  <a:prstClr val="black"/>
                </a:solidFill>
                <a:latin typeface="+mn-ea"/>
              </a:rPr>
              <a:t>청구항을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 인용하는 </a:t>
            </a:r>
            <a:r>
              <a:rPr lang="ko-KR" altLang="en-US" b="1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에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적용됨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.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→ 즉 다른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청구항을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인용하는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독립항에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적용 가능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endParaRPr lang="en-US" altLang="ko-KR" sz="800" dirty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smtClean="0">
                <a:solidFill>
                  <a:schemeClr val="tx1"/>
                </a:solidFill>
              </a:rPr>
              <a:t>지적 사례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ko-KR" dirty="0" smtClean="0">
                <a:solidFill>
                  <a:schemeClr val="tx1"/>
                </a:solidFill>
              </a:rPr>
              <a:t> - </a:t>
            </a:r>
            <a:r>
              <a:rPr lang="ko-KR" altLang="en-US" b="1" dirty="0" smtClean="0">
                <a:solidFill>
                  <a:schemeClr val="tx1"/>
                </a:solidFill>
              </a:rPr>
              <a:t>전항들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중 어느 한  항에 있어서</a:t>
            </a:r>
            <a:r>
              <a:rPr lang="en-US" altLang="ko-KR" dirty="0" smtClean="0">
                <a:solidFill>
                  <a:schemeClr val="tx1"/>
                </a:solidFill>
              </a:rPr>
              <a:t>,</a:t>
            </a:r>
          </a:p>
          <a:p>
            <a:pPr>
              <a:lnSpc>
                <a:spcPct val="130000"/>
              </a:lnSpc>
            </a:pP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b="1" dirty="0">
                <a:solidFill>
                  <a:schemeClr val="tx1"/>
                </a:solidFill>
              </a:rPr>
              <a:t>전기한 </a:t>
            </a:r>
            <a:r>
              <a:rPr lang="ko-KR" altLang="en-US" b="1" dirty="0" smtClean="0">
                <a:solidFill>
                  <a:schemeClr val="tx1"/>
                </a:solidFill>
              </a:rPr>
              <a:t>항들 </a:t>
            </a:r>
            <a:r>
              <a:rPr lang="ko-KR" altLang="en-US" dirty="0" smtClean="0">
                <a:solidFill>
                  <a:schemeClr val="tx1"/>
                </a:solidFill>
              </a:rPr>
              <a:t>중 </a:t>
            </a:r>
            <a:r>
              <a:rPr lang="ko-KR" altLang="en-US" dirty="0">
                <a:solidFill>
                  <a:schemeClr val="tx1"/>
                </a:solidFill>
              </a:rPr>
              <a:t>어느 한 항에 </a:t>
            </a:r>
            <a:r>
              <a:rPr lang="ko-KR" altLang="en-US" dirty="0" smtClean="0">
                <a:solidFill>
                  <a:schemeClr val="tx1"/>
                </a:solidFill>
              </a:rPr>
              <a:t>있어서</a:t>
            </a:r>
            <a:r>
              <a:rPr lang="en-US" altLang="ko-KR" dirty="0" smtClean="0">
                <a:solidFill>
                  <a:schemeClr val="tx1"/>
                </a:solidFill>
              </a:rPr>
              <a:t>,</a:t>
            </a:r>
          </a:p>
          <a:p>
            <a:pPr>
              <a:lnSpc>
                <a:spcPct val="130000"/>
              </a:lnSpc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- ~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를 포함하고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b="1" dirty="0" smtClean="0">
                <a:solidFill>
                  <a:schemeClr val="tx1"/>
                </a:solidFill>
              </a:rPr>
              <a:t>선행 </a:t>
            </a:r>
            <a:r>
              <a:rPr lang="ko-KR" altLang="en-US" b="1" dirty="0">
                <a:solidFill>
                  <a:schemeClr val="tx1"/>
                </a:solidFill>
              </a:rPr>
              <a:t>항들 </a:t>
            </a:r>
            <a:r>
              <a:rPr lang="ko-KR" altLang="en-US" dirty="0">
                <a:solidFill>
                  <a:schemeClr val="tx1"/>
                </a:solidFill>
              </a:rPr>
              <a:t>중 어느 하나의 </a:t>
            </a:r>
            <a:r>
              <a:rPr lang="ko-KR" altLang="en-US" dirty="0" smtClean="0">
                <a:solidFill>
                  <a:schemeClr val="tx1"/>
                </a:solidFill>
              </a:rPr>
              <a:t>항의 물품으로 </a:t>
            </a:r>
            <a:r>
              <a:rPr lang="en-US" altLang="ko-KR" dirty="0" smtClean="0">
                <a:solidFill>
                  <a:schemeClr val="tx1"/>
                </a:solidFill>
              </a:rPr>
              <a:t>~</a:t>
            </a:r>
            <a:r>
              <a:rPr lang="ko-KR" altLang="en-US" dirty="0" smtClean="0">
                <a:solidFill>
                  <a:schemeClr val="tx1"/>
                </a:solidFill>
              </a:rPr>
              <a:t>하는 방법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3044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5.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특허법시행령 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조제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항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9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49908" y="1124744"/>
            <a:ext cx="7848873" cy="518457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/>
            <a:r>
              <a:rPr lang="ko-KR" altLang="en-US" sz="2000" dirty="0">
                <a:solidFill>
                  <a:prstClr val="black"/>
                </a:solidFill>
              </a:rPr>
              <a:t>특허법시행령 제</a:t>
            </a:r>
            <a:r>
              <a:rPr lang="en-US" altLang="ko-KR" sz="2000" dirty="0">
                <a:solidFill>
                  <a:prstClr val="black"/>
                </a:solidFill>
              </a:rPr>
              <a:t>5</a:t>
            </a:r>
            <a:r>
              <a:rPr lang="ko-KR" altLang="en-US" sz="2000" dirty="0">
                <a:solidFill>
                  <a:prstClr val="black"/>
                </a:solidFill>
              </a:rPr>
              <a:t>조</a:t>
            </a:r>
            <a:r>
              <a:rPr lang="en-US" altLang="ko-KR" sz="2000" dirty="0">
                <a:solidFill>
                  <a:prstClr val="black"/>
                </a:solidFill>
              </a:rPr>
              <a:t>(</a:t>
            </a:r>
            <a:r>
              <a:rPr lang="ko-KR" altLang="en-US" sz="2000" dirty="0">
                <a:solidFill>
                  <a:prstClr val="black"/>
                </a:solidFill>
              </a:rPr>
              <a:t>청구범위의 기재방법</a:t>
            </a:r>
            <a:r>
              <a:rPr lang="en-US" altLang="ko-KR" sz="2000" dirty="0">
                <a:solidFill>
                  <a:prstClr val="black"/>
                </a:solidFill>
              </a:rPr>
              <a:t>&lt;</a:t>
            </a:r>
            <a:r>
              <a:rPr lang="ko-KR" altLang="en-US" sz="2000" dirty="0">
                <a:solidFill>
                  <a:prstClr val="black"/>
                </a:solidFill>
              </a:rPr>
              <a:t>개정 </a:t>
            </a:r>
            <a:r>
              <a:rPr lang="en-US" altLang="ko-KR" sz="2000" dirty="0">
                <a:solidFill>
                  <a:prstClr val="black"/>
                </a:solidFill>
              </a:rPr>
              <a:t>2014.12.30&gt;) 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⑤ 2</a:t>
            </a:r>
            <a:r>
              <a:rPr lang="ko-KR" altLang="en-US" dirty="0">
                <a:solidFill>
                  <a:schemeClr val="tx1"/>
                </a:solidFill>
              </a:rPr>
              <a:t>이상의 항을 인용하는 </a:t>
            </a:r>
            <a:r>
              <a:rPr lang="ko-KR" altLang="en-US" dirty="0" err="1">
                <a:solidFill>
                  <a:schemeClr val="tx1"/>
                </a:solidFill>
              </a:rPr>
              <a:t>청구항은</a:t>
            </a:r>
            <a:r>
              <a:rPr lang="ko-KR" altLang="en-US" dirty="0">
                <a:solidFill>
                  <a:schemeClr val="tx1"/>
                </a:solidFill>
              </a:rPr>
              <a:t> 인용되는 항의 번호를 택일적으로 기재하여야 한다</a:t>
            </a:r>
            <a:r>
              <a:rPr lang="en-US" altLang="ko-KR" dirty="0">
                <a:solidFill>
                  <a:schemeClr val="tx1"/>
                </a:solidFill>
              </a:rPr>
              <a:t>.&lt;</a:t>
            </a:r>
            <a:r>
              <a:rPr lang="ko-KR" altLang="en-US" dirty="0">
                <a:solidFill>
                  <a:schemeClr val="tx1"/>
                </a:solidFill>
              </a:rPr>
              <a:t>개정 </a:t>
            </a:r>
            <a:r>
              <a:rPr lang="en-US" altLang="ko-KR" dirty="0">
                <a:solidFill>
                  <a:schemeClr val="tx1"/>
                </a:solidFill>
              </a:rPr>
              <a:t>2003.6.13&gt; </a:t>
            </a:r>
          </a:p>
          <a:p>
            <a:pPr lvl="0"/>
            <a:endParaRPr lang="en-US" altLang="ko-KR" sz="1000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sz="1700" dirty="0" smtClean="0">
                <a:solidFill>
                  <a:prstClr val="black"/>
                </a:solidFill>
                <a:latin typeface="+mn-ea"/>
              </a:rPr>
              <a:t>사례</a:t>
            </a:r>
            <a:endParaRPr lang="en-US" altLang="ko-KR" sz="1700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700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- </a:t>
            </a:r>
            <a:r>
              <a:rPr lang="ko-KR" altLang="en-US" sz="1700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3 </a:t>
            </a:r>
            <a:r>
              <a:rPr lang="ko-KR" altLang="en-US" sz="1700" dirty="0" smtClean="0">
                <a:solidFill>
                  <a:prstClr val="black"/>
                </a:solidFill>
                <a:latin typeface="+mn-ea"/>
              </a:rPr>
              <a:t>또는 </a:t>
            </a:r>
            <a:r>
              <a:rPr lang="ko-KR" altLang="en-US" sz="1700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>
                <a:solidFill>
                  <a:prstClr val="black"/>
                </a:solidFill>
                <a:latin typeface="+mn-ea"/>
              </a:rPr>
              <a:t>6</a:t>
            </a:r>
            <a:r>
              <a:rPr lang="ko-KR" altLang="en-US" sz="1700" dirty="0" smtClean="0">
                <a:solidFill>
                  <a:prstClr val="black"/>
                </a:solidFill>
                <a:latin typeface="+mn-ea"/>
              </a:rPr>
              <a:t>에 있어서</a:t>
            </a:r>
            <a:endParaRPr lang="en-US" altLang="ko-KR" sz="1700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700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- </a:t>
            </a:r>
            <a:r>
              <a:rPr lang="ko-KR" altLang="en-US" sz="1700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2, </a:t>
            </a:r>
            <a:r>
              <a:rPr lang="ko-KR" altLang="en-US" sz="1700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4 </a:t>
            </a:r>
            <a:r>
              <a:rPr lang="ko-KR" altLang="en-US" sz="1700" dirty="0" smtClean="0">
                <a:solidFill>
                  <a:prstClr val="black"/>
                </a:solidFill>
                <a:latin typeface="+mn-ea"/>
              </a:rPr>
              <a:t>또는 </a:t>
            </a:r>
            <a:r>
              <a:rPr lang="ko-KR" altLang="en-US" sz="1700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sz="1700" dirty="0" smtClean="0">
                <a:solidFill>
                  <a:prstClr val="black"/>
                </a:solidFill>
                <a:latin typeface="+mn-ea"/>
              </a:rPr>
              <a:t>에 있어서</a:t>
            </a:r>
            <a:endParaRPr lang="en-US" altLang="ko-KR" sz="1700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700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- </a:t>
            </a:r>
            <a:r>
              <a:rPr lang="ko-KR" altLang="en-US" sz="1700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2 </a:t>
            </a:r>
            <a:r>
              <a:rPr lang="ko-KR" altLang="en-US" sz="1700" dirty="0" smtClean="0">
                <a:solidFill>
                  <a:prstClr val="black"/>
                </a:solidFill>
                <a:latin typeface="+mn-ea"/>
              </a:rPr>
              <a:t>내지 </a:t>
            </a:r>
            <a:r>
              <a:rPr lang="ko-KR" altLang="en-US" sz="1700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4 </a:t>
            </a:r>
            <a:r>
              <a:rPr lang="ko-KR" altLang="en-US" sz="1700" dirty="0" smtClean="0">
                <a:solidFill>
                  <a:prstClr val="black"/>
                </a:solidFill>
                <a:latin typeface="+mn-ea"/>
              </a:rPr>
              <a:t>중 어느 한 항에 있어서</a:t>
            </a:r>
            <a:endParaRPr lang="en-US" altLang="ko-KR" sz="1700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700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- </a:t>
            </a:r>
            <a:r>
              <a:rPr lang="ko-KR" altLang="en-US" sz="1700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1 </a:t>
            </a:r>
            <a:r>
              <a:rPr lang="ko-KR" altLang="en-US" sz="1700" dirty="0" smtClean="0">
                <a:solidFill>
                  <a:prstClr val="black"/>
                </a:solidFill>
                <a:latin typeface="+mn-ea"/>
              </a:rPr>
              <a:t>내</a:t>
            </a:r>
            <a:r>
              <a:rPr lang="ko-KR" altLang="en-US" sz="1700" dirty="0">
                <a:solidFill>
                  <a:prstClr val="black"/>
                </a:solidFill>
                <a:latin typeface="+mn-ea"/>
              </a:rPr>
              <a:t>지 </a:t>
            </a:r>
            <a:r>
              <a:rPr lang="ko-KR" altLang="en-US" sz="1700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3 </a:t>
            </a:r>
            <a:r>
              <a:rPr lang="ko-KR" altLang="en-US" sz="1700" b="1" dirty="0" smtClean="0">
                <a:solidFill>
                  <a:prstClr val="black"/>
                </a:solidFill>
                <a:latin typeface="+mn-ea"/>
              </a:rPr>
              <a:t>및</a:t>
            </a:r>
            <a:r>
              <a:rPr lang="ko-KR" altLang="en-US" sz="1700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700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6 </a:t>
            </a:r>
            <a:r>
              <a:rPr lang="ko-KR" altLang="en-US" sz="1700" dirty="0" smtClean="0">
                <a:solidFill>
                  <a:prstClr val="black"/>
                </a:solidFill>
                <a:latin typeface="+mn-ea"/>
              </a:rPr>
              <a:t>내지 </a:t>
            </a:r>
            <a:r>
              <a:rPr lang="ko-KR" altLang="en-US" sz="1700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8 </a:t>
            </a:r>
            <a:r>
              <a:rPr lang="ko-KR" altLang="en-US" sz="1700" dirty="0" smtClean="0">
                <a:solidFill>
                  <a:prstClr val="black"/>
                </a:solidFill>
                <a:latin typeface="+mn-ea"/>
              </a:rPr>
              <a:t>중 어느 한 항에 있어서</a:t>
            </a:r>
            <a:endParaRPr lang="en-US" altLang="ko-KR" sz="1700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700" dirty="0">
                <a:solidFill>
                  <a:prstClr val="black"/>
                </a:solidFill>
                <a:latin typeface="+mn-ea"/>
              </a:rPr>
              <a:t> - </a:t>
            </a:r>
            <a:r>
              <a:rPr lang="ko-KR" altLang="en-US" sz="1700" dirty="0" err="1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>
                <a:solidFill>
                  <a:prstClr val="black"/>
                </a:solidFill>
                <a:latin typeface="+mn-ea"/>
              </a:rPr>
              <a:t>1 </a:t>
            </a:r>
            <a:r>
              <a:rPr lang="ko-KR" altLang="en-US" sz="1700" b="1" dirty="0">
                <a:solidFill>
                  <a:prstClr val="black"/>
                </a:solidFill>
                <a:latin typeface="+mn-ea"/>
              </a:rPr>
              <a:t>내지</a:t>
            </a:r>
            <a:r>
              <a:rPr lang="ko-KR" altLang="en-US" sz="17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700" dirty="0" err="1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>
                <a:solidFill>
                  <a:prstClr val="black"/>
                </a:solidFill>
                <a:latin typeface="+mn-ea"/>
              </a:rPr>
              <a:t>3 </a:t>
            </a:r>
            <a:r>
              <a:rPr lang="ko-KR" altLang="en-US" sz="1700" b="1" dirty="0" smtClean="0">
                <a:solidFill>
                  <a:schemeClr val="tx1"/>
                </a:solidFill>
                <a:latin typeface="+mn-ea"/>
              </a:rPr>
              <a:t>또는</a:t>
            </a:r>
            <a:r>
              <a:rPr lang="ko-KR" altLang="en-US" sz="1700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700" dirty="0" err="1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>
                <a:solidFill>
                  <a:prstClr val="black"/>
                </a:solidFill>
                <a:latin typeface="+mn-ea"/>
              </a:rPr>
              <a:t>6 </a:t>
            </a:r>
            <a:r>
              <a:rPr lang="ko-KR" altLang="en-US" sz="1700" b="1" dirty="0">
                <a:solidFill>
                  <a:prstClr val="black"/>
                </a:solidFill>
                <a:latin typeface="+mn-ea"/>
              </a:rPr>
              <a:t>내지</a:t>
            </a:r>
            <a:r>
              <a:rPr lang="ko-KR" altLang="en-US" sz="17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700" dirty="0" err="1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>
                <a:solidFill>
                  <a:prstClr val="black"/>
                </a:solidFill>
                <a:latin typeface="+mn-ea"/>
              </a:rPr>
              <a:t>8 </a:t>
            </a:r>
            <a:r>
              <a:rPr lang="ko-KR" altLang="en-US" sz="1700" dirty="0">
                <a:solidFill>
                  <a:prstClr val="black"/>
                </a:solidFill>
                <a:latin typeface="+mn-ea"/>
              </a:rPr>
              <a:t>중 어느 한 항에 </a:t>
            </a:r>
            <a:r>
              <a:rPr lang="ko-KR" altLang="en-US" sz="1700" dirty="0" smtClean="0">
                <a:solidFill>
                  <a:prstClr val="black"/>
                </a:solidFill>
                <a:latin typeface="+mn-ea"/>
              </a:rPr>
              <a:t>있어서</a:t>
            </a:r>
            <a:endParaRPr lang="en-US" altLang="ko-KR" sz="1700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700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- </a:t>
            </a:r>
            <a:r>
              <a:rPr lang="ko-KR" altLang="en-US" sz="1700" dirty="0" err="1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1, </a:t>
            </a:r>
            <a:r>
              <a:rPr lang="ko-KR" altLang="en-US" sz="1700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prstClr val="black"/>
                </a:solidFill>
                <a:latin typeface="+mn-ea"/>
              </a:rPr>
              <a:t>2 </a:t>
            </a:r>
            <a:r>
              <a:rPr lang="ko-KR" altLang="en-US" sz="1700" b="1" dirty="0" smtClean="0">
                <a:solidFill>
                  <a:prstClr val="black"/>
                </a:solidFill>
                <a:latin typeface="+mn-ea"/>
              </a:rPr>
              <a:t>및</a:t>
            </a:r>
            <a:r>
              <a:rPr lang="ko-KR" altLang="en-US" sz="1700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700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>
                <a:solidFill>
                  <a:prstClr val="black"/>
                </a:solidFill>
                <a:latin typeface="+mn-ea"/>
              </a:rPr>
              <a:t>6 </a:t>
            </a:r>
            <a:r>
              <a:rPr lang="ko-KR" altLang="en-US" sz="1700" dirty="0">
                <a:solidFill>
                  <a:prstClr val="black"/>
                </a:solidFill>
                <a:latin typeface="+mn-ea"/>
              </a:rPr>
              <a:t>내지 </a:t>
            </a:r>
            <a:r>
              <a:rPr lang="ko-KR" altLang="en-US" sz="1700" dirty="0" err="1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sz="1700" dirty="0">
                <a:solidFill>
                  <a:prstClr val="black"/>
                </a:solidFill>
                <a:latin typeface="+mn-ea"/>
              </a:rPr>
              <a:t>8 </a:t>
            </a:r>
            <a:r>
              <a:rPr lang="ko-KR" altLang="en-US" sz="1700" dirty="0">
                <a:solidFill>
                  <a:prstClr val="black"/>
                </a:solidFill>
                <a:latin typeface="+mn-ea"/>
              </a:rPr>
              <a:t>중 어느 한 항에 있어서</a:t>
            </a:r>
            <a:endParaRPr lang="en-US" altLang="ko-KR" sz="1700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endParaRPr lang="en-US" altLang="ko-KR" sz="1700" dirty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sz="1700" dirty="0" smtClean="0">
                <a:solidFill>
                  <a:schemeClr val="tx1"/>
                </a:solidFill>
              </a:rPr>
              <a:t>지적 사례</a:t>
            </a:r>
            <a:endParaRPr lang="en-US" altLang="ko-KR" sz="1700" dirty="0" smtClean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ko-KR" sz="1700" dirty="0" smtClean="0">
                <a:solidFill>
                  <a:schemeClr val="tx1"/>
                </a:solidFill>
              </a:rPr>
              <a:t> - </a:t>
            </a:r>
            <a:r>
              <a:rPr lang="ko-KR" altLang="en-US" sz="1700" dirty="0" err="1" smtClean="0">
                <a:solidFill>
                  <a:schemeClr val="tx1"/>
                </a:solidFill>
              </a:rPr>
              <a:t>청구</a:t>
            </a:r>
            <a:r>
              <a:rPr lang="ko-KR" altLang="en-US" sz="1700" dirty="0" err="1">
                <a:solidFill>
                  <a:schemeClr val="tx1"/>
                </a:solidFill>
              </a:rPr>
              <a:t>항</a:t>
            </a:r>
            <a:r>
              <a:rPr lang="en-US" altLang="ko-KR" sz="1700" dirty="0" smtClean="0">
                <a:solidFill>
                  <a:schemeClr val="tx1"/>
                </a:solidFill>
              </a:rPr>
              <a:t>1, </a:t>
            </a:r>
            <a:r>
              <a:rPr lang="ko-KR" altLang="en-US" sz="1700" dirty="0" err="1" smtClean="0">
                <a:solidFill>
                  <a:schemeClr val="tx1"/>
                </a:solidFill>
              </a:rPr>
              <a:t>청구항</a:t>
            </a:r>
            <a:r>
              <a:rPr lang="en-US" altLang="ko-KR" sz="1700" dirty="0" smtClean="0">
                <a:solidFill>
                  <a:schemeClr val="tx1"/>
                </a:solidFill>
              </a:rPr>
              <a:t>2</a:t>
            </a:r>
            <a:r>
              <a:rPr lang="ko-KR" altLang="en-US" sz="1700" dirty="0" smtClean="0">
                <a:solidFill>
                  <a:schemeClr val="tx1"/>
                </a:solidFill>
              </a:rPr>
              <a:t>에 있어서</a:t>
            </a:r>
            <a:endParaRPr lang="en-US" altLang="ko-KR" sz="1700" dirty="0" smtClean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ko-KR" sz="1700" dirty="0" smtClean="0">
                <a:solidFill>
                  <a:schemeClr val="tx1"/>
                </a:solidFill>
                <a:latin typeface="+mn-ea"/>
              </a:rPr>
              <a:t> - </a:t>
            </a:r>
            <a:r>
              <a:rPr lang="ko-KR" altLang="en-US" sz="1700" dirty="0" err="1" smtClean="0">
                <a:solidFill>
                  <a:schemeClr val="tx1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schemeClr val="tx1"/>
                </a:solidFill>
                <a:latin typeface="+mn-ea"/>
              </a:rPr>
              <a:t>1 </a:t>
            </a:r>
            <a:r>
              <a:rPr lang="ko-KR" altLang="en-US" sz="1700" dirty="0" smtClean="0">
                <a:solidFill>
                  <a:schemeClr val="tx1"/>
                </a:solidFill>
                <a:latin typeface="+mn-ea"/>
              </a:rPr>
              <a:t>및 </a:t>
            </a:r>
            <a:r>
              <a:rPr lang="ko-KR" altLang="en-US" sz="1700" dirty="0" err="1" smtClean="0">
                <a:solidFill>
                  <a:schemeClr val="tx1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schemeClr val="tx1"/>
                </a:solidFill>
                <a:latin typeface="+mn-ea"/>
              </a:rPr>
              <a:t>2 </a:t>
            </a:r>
            <a:r>
              <a:rPr lang="ko-KR" altLang="en-US" sz="1700" dirty="0" smtClean="0">
                <a:solidFill>
                  <a:schemeClr val="tx1"/>
                </a:solidFill>
                <a:latin typeface="+mn-ea"/>
              </a:rPr>
              <a:t>또는 </a:t>
            </a:r>
            <a:r>
              <a:rPr lang="ko-KR" altLang="en-US" sz="1700" dirty="0" err="1" smtClean="0">
                <a:solidFill>
                  <a:schemeClr val="tx1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700" dirty="0" smtClean="0">
                <a:solidFill>
                  <a:schemeClr val="tx1"/>
                </a:solidFill>
                <a:latin typeface="+mn-ea"/>
              </a:rPr>
              <a:t>에 있어서</a:t>
            </a:r>
            <a:endParaRPr lang="en-US" altLang="ko-KR" sz="1700" dirty="0" smtClean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700" dirty="0" smtClean="0">
                <a:solidFill>
                  <a:schemeClr val="tx1"/>
                </a:solidFill>
                <a:latin typeface="+mn-ea"/>
              </a:rPr>
              <a:t> - </a:t>
            </a:r>
            <a:r>
              <a:rPr lang="ko-KR" altLang="en-US" sz="1700" dirty="0" err="1" smtClean="0">
                <a:solidFill>
                  <a:schemeClr val="tx1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schemeClr val="tx1"/>
                </a:solidFill>
                <a:latin typeface="+mn-ea"/>
              </a:rPr>
              <a:t>1 </a:t>
            </a:r>
            <a:r>
              <a:rPr lang="ko-KR" altLang="en-US" sz="1700" b="1" dirty="0" smtClean="0">
                <a:solidFill>
                  <a:schemeClr val="tx1"/>
                </a:solidFill>
                <a:latin typeface="+mn-ea"/>
              </a:rPr>
              <a:t>및</a:t>
            </a:r>
            <a:r>
              <a:rPr lang="ko-KR" altLang="en-US" sz="17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700" dirty="0" err="1" smtClean="0">
                <a:solidFill>
                  <a:schemeClr val="tx1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schemeClr val="tx1"/>
                </a:solidFill>
                <a:latin typeface="+mn-ea"/>
              </a:rPr>
              <a:t>2 </a:t>
            </a:r>
            <a:r>
              <a:rPr lang="ko-KR" altLang="en-US" sz="1700" dirty="0" smtClean="0">
                <a:solidFill>
                  <a:schemeClr val="tx1"/>
                </a:solidFill>
                <a:latin typeface="+mn-ea"/>
              </a:rPr>
              <a:t>또는 </a:t>
            </a:r>
            <a:r>
              <a:rPr lang="ko-KR" altLang="en-US" sz="1700" dirty="0" err="1" smtClean="0">
                <a:solidFill>
                  <a:schemeClr val="tx1"/>
                </a:solidFill>
                <a:latin typeface="+mn-ea"/>
              </a:rPr>
              <a:t>청구항</a:t>
            </a:r>
            <a:r>
              <a:rPr lang="en-US" altLang="ko-KR" sz="1700" dirty="0" smtClean="0">
                <a:solidFill>
                  <a:schemeClr val="tx1"/>
                </a:solidFill>
                <a:latin typeface="+mn-ea"/>
              </a:rPr>
              <a:t>3 </a:t>
            </a:r>
            <a:r>
              <a:rPr lang="ko-KR" altLang="en-US" sz="1700" dirty="0" smtClean="0">
                <a:solidFill>
                  <a:schemeClr val="tx1"/>
                </a:solidFill>
                <a:latin typeface="+mn-ea"/>
              </a:rPr>
              <a:t>중 어느 한 항에 있어서</a:t>
            </a:r>
            <a:r>
              <a:rPr lang="en-US" altLang="ko-KR" sz="1700" dirty="0" smtClean="0">
                <a:solidFill>
                  <a:schemeClr val="tx1"/>
                </a:solidFill>
                <a:latin typeface="+mn-ea"/>
              </a:rPr>
              <a:t>(???????)</a:t>
            </a:r>
            <a:endParaRPr lang="en-US" altLang="ko-KR" sz="17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3880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5.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특허법시행령 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조제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항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10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49908" y="1124744"/>
            <a:ext cx="7848873" cy="518457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ko-KR" sz="1700" dirty="0" smtClean="0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700" dirty="0" err="1" smtClean="0">
                <a:solidFill>
                  <a:schemeClr val="tx1"/>
                </a:solidFill>
                <a:latin typeface="+mn-ea"/>
              </a:rPr>
              <a:t>청구항</a:t>
            </a:r>
            <a:r>
              <a:rPr lang="en-US" altLang="ko-KR" sz="1700" dirty="0">
                <a:solidFill>
                  <a:schemeClr val="tx1"/>
                </a:solidFill>
                <a:latin typeface="+mn-ea"/>
              </a:rPr>
              <a:t>1 </a:t>
            </a:r>
            <a:r>
              <a:rPr lang="ko-KR" altLang="en-US" sz="1700" b="1" dirty="0">
                <a:solidFill>
                  <a:schemeClr val="tx1"/>
                </a:solidFill>
                <a:latin typeface="+mn-ea"/>
              </a:rPr>
              <a:t>및</a:t>
            </a:r>
            <a:r>
              <a:rPr lang="ko-KR" altLang="en-US" sz="17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700" dirty="0" err="1">
                <a:solidFill>
                  <a:schemeClr val="tx1"/>
                </a:solidFill>
                <a:latin typeface="+mn-ea"/>
              </a:rPr>
              <a:t>청구항</a:t>
            </a:r>
            <a:r>
              <a:rPr lang="en-US" altLang="ko-KR" sz="1700" dirty="0">
                <a:solidFill>
                  <a:schemeClr val="tx1"/>
                </a:solidFill>
                <a:latin typeface="+mn-ea"/>
              </a:rPr>
              <a:t>2 </a:t>
            </a:r>
            <a:r>
              <a:rPr lang="ko-KR" altLang="en-US" sz="1700" dirty="0">
                <a:solidFill>
                  <a:schemeClr val="tx1"/>
                </a:solidFill>
                <a:latin typeface="+mn-ea"/>
              </a:rPr>
              <a:t>또는 </a:t>
            </a:r>
            <a:r>
              <a:rPr lang="ko-KR" altLang="en-US" sz="1700" dirty="0" err="1">
                <a:solidFill>
                  <a:schemeClr val="tx1"/>
                </a:solidFill>
                <a:latin typeface="+mn-ea"/>
              </a:rPr>
              <a:t>청구항</a:t>
            </a:r>
            <a:r>
              <a:rPr lang="en-US" altLang="ko-KR" sz="1700" dirty="0">
                <a:solidFill>
                  <a:schemeClr val="tx1"/>
                </a:solidFill>
                <a:latin typeface="+mn-ea"/>
              </a:rPr>
              <a:t>3 </a:t>
            </a:r>
            <a:r>
              <a:rPr lang="ko-KR" altLang="en-US" sz="1700" dirty="0">
                <a:solidFill>
                  <a:schemeClr val="tx1"/>
                </a:solidFill>
                <a:latin typeface="+mn-ea"/>
              </a:rPr>
              <a:t>중 어느 한 항에 </a:t>
            </a:r>
            <a:r>
              <a:rPr lang="ko-KR" altLang="en-US" sz="1700" dirty="0" smtClean="0">
                <a:solidFill>
                  <a:schemeClr val="tx1"/>
                </a:solidFill>
                <a:latin typeface="+mn-ea"/>
              </a:rPr>
              <a:t>있어서</a:t>
            </a:r>
            <a:r>
              <a:rPr lang="en-US" altLang="ko-KR" sz="1700" dirty="0" smtClean="0">
                <a:solidFill>
                  <a:schemeClr val="tx1"/>
                </a:solidFill>
                <a:latin typeface="+mn-ea"/>
              </a:rPr>
              <a:t>’</a:t>
            </a:r>
            <a:r>
              <a:rPr lang="ko-KR" altLang="en-US" sz="1700" dirty="0" smtClean="0">
                <a:solidFill>
                  <a:schemeClr val="tx1"/>
                </a:solidFill>
                <a:latin typeface="+mn-ea"/>
              </a:rPr>
              <a:t>를 지적해야 하는 이유</a:t>
            </a:r>
            <a:r>
              <a:rPr lang="en-US" altLang="ko-KR" sz="17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700" dirty="0" smtClean="0">
                <a:solidFill>
                  <a:schemeClr val="tx1"/>
                </a:solidFill>
                <a:latin typeface="+mn-ea"/>
              </a:rPr>
              <a:t>심사기준 </a:t>
            </a:r>
            <a:r>
              <a:rPr lang="en-US" altLang="ko-KR" sz="1700" dirty="0" smtClean="0">
                <a:solidFill>
                  <a:schemeClr val="tx1"/>
                </a:solidFill>
                <a:latin typeface="+mn-ea"/>
              </a:rPr>
              <a:t>Q&amp;A</a:t>
            </a:r>
            <a:r>
              <a:rPr lang="ko-KR" altLang="en-US" sz="1700" dirty="0" smtClean="0">
                <a:solidFill>
                  <a:schemeClr val="tx1"/>
                </a:solidFill>
                <a:latin typeface="+mn-ea"/>
              </a:rPr>
              <a:t>에서 발췌</a:t>
            </a:r>
            <a:r>
              <a:rPr lang="en-US" altLang="ko-KR" sz="1700" dirty="0" smtClean="0">
                <a:solidFill>
                  <a:schemeClr val="tx1"/>
                </a:solidFill>
                <a:latin typeface="+mn-ea"/>
              </a:rPr>
              <a:t>)</a:t>
            </a: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endParaRPr lang="en-US" altLang="ko-KR" sz="800" dirty="0" smtClean="0">
              <a:solidFill>
                <a:schemeClr val="tx1"/>
              </a:solidFill>
            </a:endParaRP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‘</a:t>
            </a:r>
            <a:r>
              <a:rPr lang="ko-KR" altLang="en-US" sz="1600" dirty="0">
                <a:solidFill>
                  <a:schemeClr val="tx1"/>
                </a:solidFill>
              </a:rPr>
              <a:t>및’ 이나 ‘또는’은 앞뒤의 내용을 같은 자격으로 나열하면서 이어주는데 쓰이는 접속어입니다</a:t>
            </a:r>
            <a:r>
              <a:rPr lang="en-US" altLang="ko-KR" sz="1600" dirty="0">
                <a:solidFill>
                  <a:schemeClr val="tx1"/>
                </a:solidFill>
              </a:rPr>
              <a:t>. </a:t>
            </a:r>
            <a:r>
              <a:rPr lang="ko-KR" altLang="en-US" sz="1600" dirty="0">
                <a:solidFill>
                  <a:schemeClr val="tx1"/>
                </a:solidFill>
              </a:rPr>
              <a:t>따라서 접속어를 기준으로 앞뒤의 내용을 해석할 수 있습니다</a:t>
            </a:r>
            <a:r>
              <a:rPr lang="en-US" altLang="ko-KR" sz="1600" dirty="0">
                <a:solidFill>
                  <a:schemeClr val="tx1"/>
                </a:solidFill>
              </a:rPr>
              <a:t>.</a:t>
            </a:r>
            <a:r>
              <a:rPr lang="ko-KR" altLang="en-US" sz="1000" dirty="0">
                <a:solidFill>
                  <a:schemeClr val="tx1"/>
                </a:solidFill>
              </a:rPr>
              <a:t/>
            </a:r>
            <a:br>
              <a:rPr lang="ko-KR" altLang="en-US" sz="1000" dirty="0">
                <a:solidFill>
                  <a:schemeClr val="tx1"/>
                </a:solidFill>
              </a:rPr>
            </a:br>
            <a:endParaRPr lang="ko-KR" altLang="en-US" sz="1000" dirty="0">
              <a:solidFill>
                <a:schemeClr val="tx1"/>
              </a:solidFill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해석</a:t>
            </a:r>
            <a:r>
              <a:rPr lang="en-US" altLang="ko-KR" sz="1600" dirty="0">
                <a:solidFill>
                  <a:schemeClr val="tx1"/>
                </a:solidFill>
              </a:rPr>
              <a:t>1) ‘</a:t>
            </a:r>
            <a:r>
              <a:rPr lang="ko-KR" altLang="en-US" sz="1600" u="sng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u="sng" dirty="0">
                <a:solidFill>
                  <a:schemeClr val="tx1"/>
                </a:solidFill>
              </a:rPr>
              <a:t> </a:t>
            </a:r>
            <a:r>
              <a:rPr lang="en-US" altLang="ko-KR" sz="1600" u="sng" dirty="0">
                <a:solidFill>
                  <a:schemeClr val="tx1"/>
                </a:solidFill>
              </a:rPr>
              <a:t>1</a:t>
            </a:r>
            <a:r>
              <a:rPr lang="ko-KR" altLang="en-US" sz="1600" dirty="0">
                <a:solidFill>
                  <a:schemeClr val="tx1"/>
                </a:solidFill>
              </a:rPr>
              <a:t>’ 및 ‘</a:t>
            </a:r>
            <a:r>
              <a:rPr lang="ko-KR" altLang="en-US" sz="1600" u="sng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u="sng" dirty="0">
                <a:solidFill>
                  <a:schemeClr val="tx1"/>
                </a:solidFill>
              </a:rPr>
              <a:t> </a:t>
            </a:r>
            <a:r>
              <a:rPr lang="en-US" altLang="ko-KR" sz="1600" u="sng" dirty="0">
                <a:solidFill>
                  <a:schemeClr val="tx1"/>
                </a:solidFill>
              </a:rPr>
              <a:t>2 </a:t>
            </a:r>
            <a:r>
              <a:rPr lang="ko-KR" altLang="en-US" sz="1600" u="sng" dirty="0">
                <a:solidFill>
                  <a:schemeClr val="tx1"/>
                </a:solidFill>
              </a:rPr>
              <a:t>또는 </a:t>
            </a:r>
            <a:r>
              <a:rPr lang="ko-KR" altLang="en-US" sz="1600" u="sng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u="sng" dirty="0">
                <a:solidFill>
                  <a:schemeClr val="tx1"/>
                </a:solidFill>
              </a:rPr>
              <a:t> </a:t>
            </a:r>
            <a:r>
              <a:rPr lang="en-US" altLang="ko-KR" sz="1600" u="sng" dirty="0">
                <a:solidFill>
                  <a:schemeClr val="tx1"/>
                </a:solidFill>
              </a:rPr>
              <a:t>3’</a:t>
            </a:r>
            <a:r>
              <a:rPr lang="ko-KR" altLang="en-US" sz="1600" dirty="0">
                <a:solidFill>
                  <a:schemeClr val="tx1"/>
                </a:solidFill>
              </a:rPr>
              <a:t>중 어느 한 항에 있어서</a:t>
            </a:r>
            <a:r>
              <a:rPr lang="en-US" altLang="ko-KR" sz="1600" dirty="0">
                <a:solidFill>
                  <a:schemeClr val="tx1"/>
                </a:solidFill>
              </a:rPr>
              <a:t>… </a:t>
            </a:r>
            <a:r>
              <a:rPr lang="ko-KR" altLang="en-US" sz="1600" dirty="0">
                <a:solidFill>
                  <a:schemeClr val="tx1"/>
                </a:solidFill>
              </a:rPr>
              <a:t>장치</a:t>
            </a:r>
            <a:r>
              <a:rPr lang="ko-KR" altLang="en-US" sz="1000" dirty="0">
                <a:solidFill>
                  <a:schemeClr val="tx1"/>
                </a:solidFill>
              </a:rPr>
              <a:t/>
            </a:r>
            <a:br>
              <a:rPr lang="ko-KR" altLang="en-US" sz="1000" dirty="0">
                <a:solidFill>
                  <a:schemeClr val="tx1"/>
                </a:solidFill>
              </a:rPr>
            </a:br>
            <a:endParaRPr lang="ko-KR" altLang="en-US" sz="10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(</a:t>
            </a:r>
            <a:r>
              <a:rPr lang="ko-KR" altLang="en-US" sz="1600" dirty="0">
                <a:solidFill>
                  <a:schemeClr val="tx1"/>
                </a:solidFill>
              </a:rPr>
              <a:t>해석</a:t>
            </a:r>
            <a:r>
              <a:rPr lang="en-US" altLang="ko-KR" sz="1600" dirty="0">
                <a:solidFill>
                  <a:schemeClr val="tx1"/>
                </a:solidFill>
              </a:rPr>
              <a:t>2) ‘</a:t>
            </a:r>
            <a:r>
              <a:rPr lang="ko-KR" altLang="en-US" sz="1600" u="sng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u="sng" dirty="0">
                <a:solidFill>
                  <a:schemeClr val="tx1"/>
                </a:solidFill>
              </a:rPr>
              <a:t> </a:t>
            </a:r>
            <a:r>
              <a:rPr lang="en-US" altLang="ko-KR" sz="1600" u="sng" dirty="0">
                <a:solidFill>
                  <a:schemeClr val="tx1"/>
                </a:solidFill>
              </a:rPr>
              <a:t>1 </a:t>
            </a:r>
            <a:r>
              <a:rPr lang="ko-KR" altLang="en-US" sz="1600" u="sng" dirty="0">
                <a:solidFill>
                  <a:schemeClr val="tx1"/>
                </a:solidFill>
              </a:rPr>
              <a:t>및 </a:t>
            </a:r>
            <a:r>
              <a:rPr lang="ko-KR" altLang="en-US" sz="1600" u="sng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u="sng" dirty="0">
                <a:solidFill>
                  <a:schemeClr val="tx1"/>
                </a:solidFill>
              </a:rPr>
              <a:t> </a:t>
            </a:r>
            <a:r>
              <a:rPr lang="en-US" altLang="ko-KR" sz="1600" u="sng" dirty="0">
                <a:solidFill>
                  <a:schemeClr val="tx1"/>
                </a:solidFill>
              </a:rPr>
              <a:t>2</a:t>
            </a:r>
            <a:r>
              <a:rPr lang="ko-KR" altLang="en-US" sz="1600" dirty="0">
                <a:solidFill>
                  <a:schemeClr val="tx1"/>
                </a:solidFill>
              </a:rPr>
              <a:t>’ 또는 ‘</a:t>
            </a:r>
            <a:r>
              <a:rPr lang="ko-KR" altLang="en-US" sz="1600" u="sng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u="sng" dirty="0">
                <a:solidFill>
                  <a:schemeClr val="tx1"/>
                </a:solidFill>
              </a:rPr>
              <a:t> </a:t>
            </a:r>
            <a:r>
              <a:rPr lang="en-US" altLang="ko-KR" sz="1600" u="sng" dirty="0">
                <a:solidFill>
                  <a:schemeClr val="tx1"/>
                </a:solidFill>
              </a:rPr>
              <a:t>3</a:t>
            </a:r>
            <a:r>
              <a:rPr lang="ko-KR" altLang="en-US" sz="1600" dirty="0">
                <a:solidFill>
                  <a:schemeClr val="tx1"/>
                </a:solidFill>
              </a:rPr>
              <a:t>’중 어느 한 항에 있어서</a:t>
            </a:r>
            <a:r>
              <a:rPr lang="en-US" altLang="ko-KR" sz="1600" dirty="0">
                <a:solidFill>
                  <a:schemeClr val="tx1"/>
                </a:solidFill>
              </a:rPr>
              <a:t>… </a:t>
            </a:r>
            <a:r>
              <a:rPr lang="ko-KR" altLang="en-US" sz="1600" dirty="0">
                <a:solidFill>
                  <a:schemeClr val="tx1"/>
                </a:solidFill>
              </a:rPr>
              <a:t>장치</a:t>
            </a:r>
            <a:r>
              <a:rPr lang="ko-KR" altLang="en-US" sz="1000" dirty="0">
                <a:solidFill>
                  <a:schemeClr val="tx1"/>
                </a:solidFill>
              </a:rPr>
              <a:t/>
            </a:r>
            <a:br>
              <a:rPr lang="ko-KR" altLang="en-US" sz="1000" dirty="0">
                <a:solidFill>
                  <a:schemeClr val="tx1"/>
                </a:solidFill>
              </a:rPr>
            </a:br>
            <a:endParaRPr lang="ko-KR" altLang="en-US" sz="1000" dirty="0">
              <a:solidFill>
                <a:schemeClr val="tx1"/>
              </a:solidFill>
            </a:endParaRPr>
          </a:p>
          <a:p>
            <a:r>
              <a:rPr lang="ko-KR" altLang="en-US" sz="1600" dirty="0">
                <a:solidFill>
                  <a:schemeClr val="tx1"/>
                </a:solidFill>
              </a:rPr>
              <a:t>해석</a:t>
            </a:r>
            <a:r>
              <a:rPr lang="en-US" altLang="ko-KR" sz="1600" dirty="0">
                <a:solidFill>
                  <a:schemeClr val="tx1"/>
                </a:solidFill>
              </a:rPr>
              <a:t>1</a:t>
            </a:r>
            <a:r>
              <a:rPr lang="ko-KR" altLang="en-US" sz="1600" dirty="0">
                <a:solidFill>
                  <a:schemeClr val="tx1"/>
                </a:solidFill>
              </a:rPr>
              <a:t>을 </a:t>
            </a:r>
            <a:r>
              <a:rPr lang="ko-KR" altLang="en-US" sz="1600" dirty="0" err="1">
                <a:solidFill>
                  <a:schemeClr val="tx1"/>
                </a:solidFill>
              </a:rPr>
              <a:t>풀어쓰면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ko-KR" altLang="en-US" sz="1600" u="sng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u="sng" dirty="0">
                <a:solidFill>
                  <a:schemeClr val="tx1"/>
                </a:solidFill>
              </a:rPr>
              <a:t> </a:t>
            </a:r>
            <a:r>
              <a:rPr lang="en-US" altLang="ko-KR" sz="1600" u="sng" dirty="0">
                <a:solidFill>
                  <a:schemeClr val="tx1"/>
                </a:solidFill>
              </a:rPr>
              <a:t>1 </a:t>
            </a:r>
            <a:r>
              <a:rPr lang="ko-KR" altLang="en-US" sz="1600" u="sng" dirty="0">
                <a:solidFill>
                  <a:schemeClr val="tx1"/>
                </a:solidFill>
              </a:rPr>
              <a:t>및 </a:t>
            </a:r>
            <a:r>
              <a:rPr lang="ko-KR" altLang="en-US" sz="1600" u="sng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u="sng" dirty="0">
                <a:solidFill>
                  <a:schemeClr val="tx1"/>
                </a:solidFill>
              </a:rPr>
              <a:t> </a:t>
            </a:r>
            <a:r>
              <a:rPr lang="en-US" altLang="ko-KR" sz="1600" u="sng" dirty="0">
                <a:solidFill>
                  <a:schemeClr val="tx1"/>
                </a:solidFill>
              </a:rPr>
              <a:t>2</a:t>
            </a:r>
            <a:r>
              <a:rPr lang="ko-KR" altLang="en-US" sz="1600" dirty="0">
                <a:solidFill>
                  <a:schemeClr val="tx1"/>
                </a:solidFill>
              </a:rPr>
              <a:t> 또는 </a:t>
            </a:r>
            <a:r>
              <a:rPr lang="ko-KR" altLang="en-US" sz="1600" u="sng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u="sng" dirty="0">
                <a:solidFill>
                  <a:schemeClr val="tx1"/>
                </a:solidFill>
              </a:rPr>
              <a:t> </a:t>
            </a:r>
            <a:r>
              <a:rPr lang="en-US" altLang="ko-KR" sz="1600" u="sng" dirty="0">
                <a:solidFill>
                  <a:schemeClr val="tx1"/>
                </a:solidFill>
              </a:rPr>
              <a:t>1 </a:t>
            </a:r>
            <a:r>
              <a:rPr lang="ko-KR" altLang="en-US" sz="1600" u="sng" dirty="0">
                <a:solidFill>
                  <a:schemeClr val="tx1"/>
                </a:solidFill>
              </a:rPr>
              <a:t>및 </a:t>
            </a:r>
            <a:r>
              <a:rPr lang="ko-KR" altLang="en-US" sz="1600" u="sng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u="sng" dirty="0">
                <a:solidFill>
                  <a:schemeClr val="tx1"/>
                </a:solidFill>
              </a:rPr>
              <a:t> </a:t>
            </a:r>
            <a:r>
              <a:rPr lang="en-US" altLang="ko-KR" sz="1600" u="sng" dirty="0">
                <a:solidFill>
                  <a:schemeClr val="tx1"/>
                </a:solidFill>
              </a:rPr>
              <a:t>3</a:t>
            </a:r>
            <a:r>
              <a:rPr lang="ko-KR" altLang="en-US" sz="1600" dirty="0">
                <a:solidFill>
                  <a:schemeClr val="tx1"/>
                </a:solidFill>
              </a:rPr>
              <a:t>중 어느 한 항에 해당하며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이때 </a:t>
            </a:r>
            <a:r>
              <a:rPr lang="ko-KR" altLang="en-US" sz="16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b="1" dirty="0">
                <a:solidFill>
                  <a:schemeClr val="tx1"/>
                </a:solidFill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</a:rPr>
              <a:t>1 </a:t>
            </a:r>
            <a:r>
              <a:rPr lang="ko-KR" altLang="en-US" sz="1600" b="1" dirty="0">
                <a:solidFill>
                  <a:schemeClr val="tx1"/>
                </a:solidFill>
              </a:rPr>
              <a:t>및 </a:t>
            </a:r>
            <a:r>
              <a:rPr lang="ko-KR" altLang="en-US" sz="16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b="1" dirty="0">
                <a:solidFill>
                  <a:schemeClr val="tx1"/>
                </a:solidFill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</a:rPr>
              <a:t>2</a:t>
            </a:r>
            <a:r>
              <a:rPr lang="ko-KR" altLang="en-US" sz="1600" b="1" dirty="0">
                <a:solidFill>
                  <a:schemeClr val="tx1"/>
                </a:solidFill>
              </a:rPr>
              <a:t>는 하나의 조합</a:t>
            </a:r>
            <a:r>
              <a:rPr lang="en-US" altLang="ko-KR" sz="1600" b="1" dirty="0">
                <a:solidFill>
                  <a:schemeClr val="tx1"/>
                </a:solidFill>
              </a:rPr>
              <a:t>(‘and’)</a:t>
            </a:r>
            <a:r>
              <a:rPr lang="ko-KR" altLang="en-US" sz="1600" dirty="0">
                <a:solidFill>
                  <a:schemeClr val="tx1"/>
                </a:solidFill>
              </a:rPr>
              <a:t>을 나타내기 때문에 </a:t>
            </a:r>
            <a:r>
              <a:rPr lang="ko-KR" altLang="en-US" sz="1600" b="1" dirty="0">
                <a:solidFill>
                  <a:schemeClr val="tx1"/>
                </a:solidFill>
              </a:rPr>
              <a:t>어느 한 항을 택일할 수 없습니다</a:t>
            </a:r>
            <a:r>
              <a:rPr lang="en-US" altLang="ko-KR" sz="1600" dirty="0">
                <a:solidFill>
                  <a:schemeClr val="tx1"/>
                </a:solidFill>
              </a:rPr>
              <a:t>. </a:t>
            </a:r>
            <a:r>
              <a:rPr lang="ko-KR" altLang="en-US" sz="1600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1 </a:t>
            </a:r>
            <a:r>
              <a:rPr lang="ko-KR" altLang="en-US" sz="1600" dirty="0">
                <a:solidFill>
                  <a:schemeClr val="tx1"/>
                </a:solidFill>
              </a:rPr>
              <a:t>및 </a:t>
            </a:r>
            <a:r>
              <a:rPr lang="ko-KR" altLang="en-US" sz="1600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3</a:t>
            </a:r>
            <a:r>
              <a:rPr lang="ko-KR" altLang="en-US" sz="1600" dirty="0">
                <a:solidFill>
                  <a:schemeClr val="tx1"/>
                </a:solidFill>
              </a:rPr>
              <a:t>에 대해서도 마찬가지입니다</a:t>
            </a:r>
            <a:r>
              <a:rPr lang="en-US" altLang="ko-KR" sz="1600" dirty="0">
                <a:solidFill>
                  <a:schemeClr val="tx1"/>
                </a:solidFill>
              </a:rPr>
              <a:t>.</a:t>
            </a:r>
            <a:r>
              <a:rPr lang="ko-KR" altLang="en-US" sz="1000" dirty="0">
                <a:solidFill>
                  <a:schemeClr val="tx1"/>
                </a:solidFill>
              </a:rPr>
              <a:t/>
            </a:r>
            <a:br>
              <a:rPr lang="ko-KR" altLang="en-US" sz="1000" dirty="0">
                <a:solidFill>
                  <a:schemeClr val="tx1"/>
                </a:solidFill>
              </a:rPr>
            </a:br>
            <a:endParaRPr lang="ko-KR" altLang="en-US" sz="1000" dirty="0">
              <a:solidFill>
                <a:schemeClr val="tx1"/>
              </a:solidFill>
            </a:endParaRPr>
          </a:p>
          <a:p>
            <a:r>
              <a:rPr lang="ko-KR" altLang="en-US" sz="1600" dirty="0">
                <a:solidFill>
                  <a:schemeClr val="tx1"/>
                </a:solidFill>
              </a:rPr>
              <a:t>해석</a:t>
            </a:r>
            <a:r>
              <a:rPr lang="en-US" altLang="ko-KR" sz="1600" dirty="0">
                <a:solidFill>
                  <a:schemeClr val="tx1"/>
                </a:solidFill>
              </a:rPr>
              <a:t>2</a:t>
            </a:r>
            <a:r>
              <a:rPr lang="ko-KR" altLang="en-US" sz="1600" dirty="0">
                <a:solidFill>
                  <a:schemeClr val="tx1"/>
                </a:solidFill>
              </a:rPr>
              <a:t>의 경우 </a:t>
            </a:r>
            <a:r>
              <a:rPr lang="ko-KR" altLang="en-US" sz="1600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3</a:t>
            </a:r>
            <a:r>
              <a:rPr lang="ko-KR" altLang="en-US" sz="1600" dirty="0">
                <a:solidFill>
                  <a:schemeClr val="tx1"/>
                </a:solidFill>
              </a:rPr>
              <a:t>은 선택 가능하나 </a:t>
            </a:r>
            <a:r>
              <a:rPr lang="ko-KR" altLang="en-US" sz="1600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1 </a:t>
            </a:r>
            <a:r>
              <a:rPr lang="ko-KR" altLang="en-US" sz="1600" dirty="0">
                <a:solidFill>
                  <a:schemeClr val="tx1"/>
                </a:solidFill>
              </a:rPr>
              <a:t>및 </a:t>
            </a:r>
            <a:r>
              <a:rPr lang="ko-KR" altLang="en-US" sz="1600" dirty="0" err="1">
                <a:solidFill>
                  <a:schemeClr val="tx1"/>
                </a:solidFill>
              </a:rPr>
              <a:t>청구항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2 </a:t>
            </a:r>
            <a:r>
              <a:rPr lang="ko-KR" altLang="en-US" sz="1600" dirty="0">
                <a:solidFill>
                  <a:schemeClr val="tx1"/>
                </a:solidFill>
              </a:rPr>
              <a:t>조합에서 어느 한 항을 택일할 수 없습니다</a:t>
            </a:r>
            <a:r>
              <a:rPr lang="en-US" altLang="ko-KR" sz="1600" dirty="0">
                <a:solidFill>
                  <a:schemeClr val="tx1"/>
                </a:solidFill>
              </a:rPr>
              <a:t>. 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800" dirty="0" smtClean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→ 즉 </a:t>
            </a:r>
            <a:r>
              <a:rPr lang="en-US" altLang="ko-KR" sz="1600" dirty="0" smtClean="0">
                <a:solidFill>
                  <a:prstClr val="black"/>
                </a:solidFill>
                <a:latin typeface="+mn-ea"/>
              </a:rPr>
              <a:t>‘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및</a:t>
            </a:r>
            <a:r>
              <a:rPr lang="en-US" altLang="ko-KR" sz="1600" dirty="0" smtClean="0">
                <a:solidFill>
                  <a:prstClr val="black"/>
                </a:solidFill>
                <a:latin typeface="+mn-ea"/>
              </a:rPr>
              <a:t>’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이 두 개의 항에 적용되면 </a:t>
            </a:r>
            <a:r>
              <a:rPr lang="en-US" altLang="ko-KR" sz="1600" dirty="0" smtClean="0">
                <a:solidFill>
                  <a:prstClr val="black"/>
                </a:solidFill>
                <a:latin typeface="+mn-ea"/>
              </a:rPr>
              <a:t>‘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중 어느 한 항에 있어서</a:t>
            </a:r>
            <a:r>
              <a:rPr lang="en-US" altLang="ko-KR" sz="1600" dirty="0" smtClean="0">
                <a:solidFill>
                  <a:prstClr val="black"/>
                </a:solidFill>
                <a:latin typeface="+mn-ea"/>
              </a:rPr>
              <a:t>＇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의 적용불가를 의미</a:t>
            </a:r>
            <a:endParaRPr lang="en-US" altLang="ko-KR" sz="1600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ko-KR" altLang="en-US" sz="1600" b="1" dirty="0" smtClean="0">
                <a:solidFill>
                  <a:schemeClr val="accent2"/>
                </a:solidFill>
                <a:latin typeface="+mn-ea"/>
              </a:rPr>
              <a:t>→ </a:t>
            </a:r>
            <a:r>
              <a:rPr lang="en-US" altLang="ko-KR" sz="1600" b="1" dirty="0" smtClean="0">
                <a:solidFill>
                  <a:schemeClr val="accent2"/>
                </a:solidFill>
                <a:latin typeface="+mn-ea"/>
              </a:rPr>
              <a:t>‘</a:t>
            </a:r>
            <a:r>
              <a:rPr lang="ko-KR" altLang="en-US" sz="1600" b="1" dirty="0" err="1" smtClean="0">
                <a:solidFill>
                  <a:schemeClr val="accent2"/>
                </a:solidFill>
                <a:latin typeface="+mn-ea"/>
              </a:rPr>
              <a:t>청구항</a:t>
            </a:r>
            <a:r>
              <a:rPr lang="en-US" altLang="ko-KR" sz="1600" b="1" dirty="0" smtClean="0">
                <a:solidFill>
                  <a:schemeClr val="accent2"/>
                </a:solidFill>
                <a:latin typeface="+mn-ea"/>
              </a:rPr>
              <a:t>1 </a:t>
            </a:r>
            <a:r>
              <a:rPr lang="ko-KR" altLang="en-US" sz="1600" b="1" dirty="0" smtClean="0">
                <a:solidFill>
                  <a:schemeClr val="accent2"/>
                </a:solidFill>
                <a:latin typeface="+mn-ea"/>
              </a:rPr>
              <a:t>및 </a:t>
            </a:r>
            <a:r>
              <a:rPr lang="ko-KR" altLang="en-US" sz="1600" b="1" dirty="0" err="1" smtClean="0">
                <a:solidFill>
                  <a:schemeClr val="accent2"/>
                </a:solidFill>
                <a:latin typeface="+mn-ea"/>
              </a:rPr>
              <a:t>청구항</a:t>
            </a:r>
            <a:r>
              <a:rPr lang="en-US" altLang="ko-KR" sz="1600" b="1" dirty="0" smtClean="0">
                <a:solidFill>
                  <a:schemeClr val="accent2"/>
                </a:solidFill>
                <a:latin typeface="+mn-ea"/>
              </a:rPr>
              <a:t>3 </a:t>
            </a:r>
            <a:r>
              <a:rPr lang="ko-KR" altLang="en-US" sz="1600" b="1" dirty="0" smtClean="0">
                <a:solidFill>
                  <a:schemeClr val="accent2"/>
                </a:solidFill>
                <a:latin typeface="+mn-ea"/>
              </a:rPr>
              <a:t>중 어느 한 항에서 있어서</a:t>
            </a:r>
            <a:r>
              <a:rPr lang="en-US" altLang="ko-KR" sz="1600" b="1" dirty="0" smtClean="0">
                <a:solidFill>
                  <a:schemeClr val="accent2"/>
                </a:solidFill>
                <a:latin typeface="+mn-ea"/>
              </a:rPr>
              <a:t>’</a:t>
            </a:r>
            <a:r>
              <a:rPr lang="ko-KR" altLang="en-US" sz="1600" b="1" dirty="0" smtClean="0">
                <a:solidFill>
                  <a:schemeClr val="accent2"/>
                </a:solidFill>
                <a:latin typeface="+mn-ea"/>
              </a:rPr>
              <a:t>는 </a:t>
            </a:r>
            <a:r>
              <a:rPr lang="ko-KR" altLang="en-US" sz="1600" b="1" dirty="0" err="1" smtClean="0">
                <a:solidFill>
                  <a:schemeClr val="accent2"/>
                </a:solidFill>
                <a:latin typeface="+mn-ea"/>
              </a:rPr>
              <a:t>지적대상</a:t>
            </a:r>
            <a:r>
              <a:rPr lang="en-US" altLang="ko-KR" sz="1600" b="1" dirty="0" smtClean="0">
                <a:solidFill>
                  <a:schemeClr val="accent2"/>
                </a:solidFill>
                <a:latin typeface="+mn-ea"/>
              </a:rPr>
              <a:t>???????</a:t>
            </a:r>
          </a:p>
          <a:p>
            <a:pPr>
              <a:lnSpc>
                <a:spcPct val="130000"/>
              </a:lnSpc>
            </a:pPr>
            <a:endParaRPr lang="en-US" altLang="ko-KR" sz="800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예전에 배울 때</a:t>
            </a:r>
            <a:r>
              <a:rPr lang="en-US" altLang="ko-KR" sz="1600" dirty="0" smtClean="0">
                <a:solidFill>
                  <a:prstClr val="black"/>
                </a:solidFill>
                <a:latin typeface="+mn-ea"/>
              </a:rPr>
              <a:t>,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‘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및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’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과 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‘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또는</a:t>
            </a:r>
            <a:r>
              <a:rPr lang="en-US" altLang="ko-KR" sz="1600" dirty="0">
                <a:solidFill>
                  <a:prstClr val="black"/>
                </a:solidFill>
              </a:rPr>
              <a:t>’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이 함께 있으면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안 됨</a:t>
            </a:r>
            <a:r>
              <a:rPr lang="en-US" altLang="ko-KR" sz="1600" dirty="0" smtClean="0">
                <a:solidFill>
                  <a:prstClr val="black"/>
                </a:solidFill>
                <a:latin typeface="+mn-ea"/>
              </a:rPr>
              <a:t>. 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‘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내지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’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와 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‘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또는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’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은 가능</a:t>
            </a:r>
            <a:r>
              <a:rPr lang="en-US" altLang="ko-KR" sz="1600" dirty="0" smtClean="0">
                <a:solidFill>
                  <a:prstClr val="black"/>
                </a:solidFill>
                <a:latin typeface="+mn-ea"/>
              </a:rPr>
              <a:t>)</a:t>
            </a:r>
            <a:endParaRPr lang="en-US" altLang="ko-KR" sz="17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6838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6.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특허법시행령 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조제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6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항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11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83569" y="1124744"/>
            <a:ext cx="4104456" cy="518457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/>
            <a:r>
              <a:rPr lang="ko-KR" altLang="en-US" sz="2000" dirty="0">
                <a:solidFill>
                  <a:prstClr val="black"/>
                </a:solidFill>
              </a:rPr>
              <a:t>특허법시행령 제</a:t>
            </a:r>
            <a:r>
              <a:rPr lang="en-US" altLang="ko-KR" sz="2000" dirty="0">
                <a:solidFill>
                  <a:prstClr val="black"/>
                </a:solidFill>
              </a:rPr>
              <a:t>5</a:t>
            </a:r>
            <a:r>
              <a:rPr lang="ko-KR" altLang="en-US" sz="2000" dirty="0">
                <a:solidFill>
                  <a:prstClr val="black"/>
                </a:solidFill>
              </a:rPr>
              <a:t>조</a:t>
            </a:r>
            <a:r>
              <a:rPr lang="en-US" altLang="ko-KR" sz="2000" dirty="0">
                <a:solidFill>
                  <a:prstClr val="black"/>
                </a:solidFill>
              </a:rPr>
              <a:t>(</a:t>
            </a:r>
            <a:r>
              <a:rPr lang="ko-KR" altLang="en-US" sz="2000" dirty="0">
                <a:solidFill>
                  <a:prstClr val="black"/>
                </a:solidFill>
              </a:rPr>
              <a:t>청구범위의 기재방법</a:t>
            </a:r>
            <a:r>
              <a:rPr lang="en-US" altLang="ko-KR" sz="2000" dirty="0">
                <a:solidFill>
                  <a:prstClr val="black"/>
                </a:solidFill>
              </a:rPr>
              <a:t>&lt;</a:t>
            </a:r>
            <a:r>
              <a:rPr lang="ko-KR" altLang="en-US" sz="2000" dirty="0">
                <a:solidFill>
                  <a:prstClr val="black"/>
                </a:solidFill>
              </a:rPr>
              <a:t>개정 </a:t>
            </a:r>
            <a:r>
              <a:rPr lang="en-US" altLang="ko-KR" sz="2000" dirty="0">
                <a:solidFill>
                  <a:prstClr val="black"/>
                </a:solidFill>
              </a:rPr>
              <a:t>2014.12.30&gt;) 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⑥ </a:t>
            </a:r>
            <a:r>
              <a:rPr lang="en-US" altLang="ko-KR" b="1" dirty="0">
                <a:solidFill>
                  <a:schemeClr val="tx1"/>
                </a:solidFill>
              </a:rPr>
              <a:t>2 </a:t>
            </a:r>
            <a:r>
              <a:rPr lang="ko-KR" altLang="en-US" b="1" dirty="0">
                <a:solidFill>
                  <a:schemeClr val="tx1"/>
                </a:solidFill>
              </a:rPr>
              <a:t>이상의 항을 인용한 </a:t>
            </a:r>
            <a:r>
              <a:rPr lang="ko-KR" altLang="en-US" dirty="0" err="1">
                <a:solidFill>
                  <a:schemeClr val="tx1"/>
                </a:solidFill>
              </a:rPr>
              <a:t>청구항에서</a:t>
            </a:r>
            <a:r>
              <a:rPr lang="ko-KR" altLang="en-US" dirty="0">
                <a:solidFill>
                  <a:schemeClr val="tx1"/>
                </a:solidFill>
              </a:rPr>
              <a:t> 그 청구항의 인용된 항은 다시 </a:t>
            </a:r>
            <a:r>
              <a:rPr lang="en-US" altLang="ko-KR" dirty="0">
                <a:solidFill>
                  <a:schemeClr val="tx1"/>
                </a:solidFill>
              </a:rPr>
              <a:t>2 </a:t>
            </a:r>
            <a:r>
              <a:rPr lang="ko-KR" altLang="en-US" dirty="0">
                <a:solidFill>
                  <a:schemeClr val="tx1"/>
                </a:solidFill>
              </a:rPr>
              <a:t>이상의 항을 인용하는 방식을 사용하여서는 아니 된다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2 </a:t>
            </a:r>
            <a:r>
              <a:rPr lang="ko-KR" altLang="en-US" b="1" dirty="0">
                <a:solidFill>
                  <a:schemeClr val="tx1"/>
                </a:solidFill>
              </a:rPr>
              <a:t>이상의 항을 인용한 </a:t>
            </a:r>
            <a:r>
              <a:rPr lang="ko-KR" altLang="en-US" dirty="0" err="1">
                <a:solidFill>
                  <a:schemeClr val="tx1"/>
                </a:solidFill>
              </a:rPr>
              <a:t>청구항에서</a:t>
            </a:r>
            <a:r>
              <a:rPr lang="ko-KR" altLang="en-US" dirty="0">
                <a:solidFill>
                  <a:schemeClr val="tx1"/>
                </a:solidFill>
              </a:rPr>
              <a:t> 그 청구항의 인용된 항이 다시 하나의 항을 인용한 후에 그 하나의 항이 결과적으로 </a:t>
            </a:r>
            <a:r>
              <a:rPr lang="en-US" altLang="ko-KR" dirty="0">
                <a:solidFill>
                  <a:schemeClr val="tx1"/>
                </a:solidFill>
              </a:rPr>
              <a:t>2 </a:t>
            </a:r>
            <a:r>
              <a:rPr lang="ko-KR" altLang="en-US" dirty="0">
                <a:solidFill>
                  <a:schemeClr val="tx1"/>
                </a:solidFill>
              </a:rPr>
              <a:t>이상의 항을 인용하는 방식에 대하여도 또한 같다</a:t>
            </a:r>
            <a:r>
              <a:rPr lang="en-US" altLang="ko-KR" dirty="0">
                <a:solidFill>
                  <a:schemeClr val="tx1"/>
                </a:solidFill>
              </a:rPr>
              <a:t>.&lt;</a:t>
            </a:r>
            <a:r>
              <a:rPr lang="ko-KR" altLang="en-US" dirty="0">
                <a:solidFill>
                  <a:schemeClr val="tx1"/>
                </a:solidFill>
              </a:rPr>
              <a:t>개정 </a:t>
            </a:r>
            <a:r>
              <a:rPr lang="en-US" altLang="ko-KR" dirty="0">
                <a:solidFill>
                  <a:schemeClr val="tx1"/>
                </a:solidFill>
              </a:rPr>
              <a:t>2006.9.28</a:t>
            </a:r>
            <a:r>
              <a:rPr lang="en-US" altLang="ko-KR" dirty="0" smtClean="0">
                <a:solidFill>
                  <a:schemeClr val="tx1"/>
                </a:solidFill>
              </a:rPr>
              <a:t>&gt;</a:t>
            </a:r>
          </a:p>
          <a:p>
            <a:endParaRPr lang="en-US" altLang="ko-KR" sz="1600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하나의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청구항을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해석함에 있어서 다수의 다른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청구항을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참조하는 어려움을 방지하기 위함 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→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행정 편의</a:t>
            </a:r>
            <a:endParaRPr lang="en-US" altLang="ko-KR" b="1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endParaRPr lang="en-US" altLang="ko-KR" sz="800" b="1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개 항을 인용하는 항에 적용 안 함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942335" y="1124744"/>
            <a:ext cx="3556446" cy="518457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다중종속항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징검다리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endParaRPr lang="en-US" altLang="ko-KR" sz="800" b="1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[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1]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독립항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dirty="0">
                <a:solidFill>
                  <a:prstClr val="black"/>
                </a:solidFill>
                <a:latin typeface="+mn-ea"/>
              </a:rPr>
              <a:t>[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2]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에 있어서</a:t>
            </a:r>
            <a:endParaRPr lang="en-US" altLang="ko-KR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b="1" dirty="0">
                <a:solidFill>
                  <a:prstClr val="black"/>
                </a:solidFill>
                <a:latin typeface="+mn-ea"/>
              </a:rPr>
              <a:t>[</a:t>
            </a:r>
            <a:r>
              <a:rPr lang="ko-KR" altLang="en-US" b="1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b="1" dirty="0" smtClean="0">
                <a:solidFill>
                  <a:prstClr val="black"/>
                </a:solidFill>
                <a:latin typeface="+mn-ea"/>
              </a:rPr>
              <a:t>3]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또는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2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에 있어서</a:t>
            </a:r>
            <a:endParaRPr lang="en-US" altLang="ko-KR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b="1" dirty="0" smtClean="0">
                <a:solidFill>
                  <a:prstClr val="black"/>
                </a:solidFill>
                <a:latin typeface="+mn-ea"/>
              </a:rPr>
              <a:t>[</a:t>
            </a:r>
            <a:r>
              <a:rPr lang="ko-KR" altLang="en-US" b="1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b="1" dirty="0" smtClean="0">
                <a:solidFill>
                  <a:prstClr val="black"/>
                </a:solidFill>
                <a:latin typeface="+mn-ea"/>
              </a:rPr>
              <a:t>4]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내지</a:t>
            </a:r>
            <a:r>
              <a:rPr lang="en-US" altLang="ko-KR" b="1" dirty="0" smtClean="0">
                <a:solidFill>
                  <a:srgbClr val="FF0000"/>
                </a:solidFill>
                <a:latin typeface="+mn-ea"/>
              </a:rPr>
              <a:t>3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중 어느 한 항에 있어서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[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5] 3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에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있어서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b="1" dirty="0">
                <a:solidFill>
                  <a:prstClr val="black"/>
                </a:solidFill>
                <a:latin typeface="+mn-ea"/>
              </a:rPr>
              <a:t>[</a:t>
            </a:r>
            <a:r>
              <a:rPr lang="ko-KR" altLang="en-US" b="1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b="1" dirty="0" smtClean="0">
                <a:solidFill>
                  <a:prstClr val="black"/>
                </a:solidFill>
                <a:latin typeface="+mn-ea"/>
              </a:rPr>
              <a:t>6] </a:t>
            </a:r>
            <a:r>
              <a:rPr lang="en-US" altLang="ko-KR" dirty="0">
                <a:solidFill>
                  <a:prstClr val="black"/>
                </a:solidFill>
                <a:latin typeface="+mn-ea"/>
              </a:rPr>
              <a:t>2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또는</a:t>
            </a:r>
            <a:r>
              <a:rPr lang="en-US" altLang="ko-KR" b="1" dirty="0" smtClean="0">
                <a:solidFill>
                  <a:srgbClr val="FF0000"/>
                </a:solidFill>
                <a:latin typeface="+mn-ea"/>
              </a:rPr>
              <a:t>5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에 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있어서</a:t>
            </a:r>
            <a:endParaRPr lang="en-US" altLang="ko-KR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[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7] 6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에 있어서</a:t>
            </a:r>
            <a:endParaRPr lang="en-US" altLang="ko-KR" dirty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endParaRPr lang="en-US" altLang="ko-KR" sz="800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위 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7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항은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다중종속항</a:t>
            </a:r>
            <a:r>
              <a:rPr lang="ko-KR" altLang="en-US" dirty="0" err="1">
                <a:solidFill>
                  <a:prstClr val="black"/>
                </a:solidFill>
                <a:latin typeface="+mn-ea"/>
              </a:rPr>
              <a:t>인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6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항을 인용하여 해석이 어렵지만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2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이상의 항을 인용하지 않으므로 지적 안 함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4622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7.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특허법시행령 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조제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7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항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12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83568" y="1124744"/>
            <a:ext cx="7848873" cy="518457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/>
            <a:r>
              <a:rPr lang="ko-KR" altLang="en-US" sz="2000" dirty="0">
                <a:solidFill>
                  <a:prstClr val="black"/>
                </a:solidFill>
              </a:rPr>
              <a:t>특허법시행령 제</a:t>
            </a:r>
            <a:r>
              <a:rPr lang="en-US" altLang="ko-KR" sz="2000" dirty="0">
                <a:solidFill>
                  <a:prstClr val="black"/>
                </a:solidFill>
              </a:rPr>
              <a:t>5</a:t>
            </a:r>
            <a:r>
              <a:rPr lang="ko-KR" altLang="en-US" sz="2000" dirty="0">
                <a:solidFill>
                  <a:prstClr val="black"/>
                </a:solidFill>
              </a:rPr>
              <a:t>조</a:t>
            </a:r>
            <a:r>
              <a:rPr lang="en-US" altLang="ko-KR" sz="2000" dirty="0">
                <a:solidFill>
                  <a:prstClr val="black"/>
                </a:solidFill>
              </a:rPr>
              <a:t>(</a:t>
            </a:r>
            <a:r>
              <a:rPr lang="ko-KR" altLang="en-US" sz="2000" dirty="0">
                <a:solidFill>
                  <a:prstClr val="black"/>
                </a:solidFill>
              </a:rPr>
              <a:t>청구범위의 기재방법</a:t>
            </a:r>
            <a:r>
              <a:rPr lang="en-US" altLang="ko-KR" sz="2000" dirty="0">
                <a:solidFill>
                  <a:prstClr val="black"/>
                </a:solidFill>
              </a:rPr>
              <a:t>&lt;</a:t>
            </a:r>
            <a:r>
              <a:rPr lang="ko-KR" altLang="en-US" sz="2000" dirty="0">
                <a:solidFill>
                  <a:prstClr val="black"/>
                </a:solidFill>
              </a:rPr>
              <a:t>개정 </a:t>
            </a:r>
            <a:r>
              <a:rPr lang="en-US" altLang="ko-KR" sz="2000" dirty="0">
                <a:solidFill>
                  <a:prstClr val="black"/>
                </a:solidFill>
              </a:rPr>
              <a:t>2014.12.30&gt;) 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⑦ </a:t>
            </a:r>
            <a:r>
              <a:rPr lang="ko-KR" altLang="en-US" dirty="0">
                <a:solidFill>
                  <a:schemeClr val="tx1"/>
                </a:solidFill>
              </a:rPr>
              <a:t>인용되는 </a:t>
            </a:r>
            <a:r>
              <a:rPr lang="ko-KR" altLang="en-US" dirty="0" err="1">
                <a:solidFill>
                  <a:schemeClr val="tx1"/>
                </a:solidFill>
              </a:rPr>
              <a:t>청구항은</a:t>
            </a:r>
            <a:r>
              <a:rPr lang="ko-KR" altLang="en-US" dirty="0">
                <a:solidFill>
                  <a:schemeClr val="tx1"/>
                </a:solidFill>
              </a:rPr>
              <a:t> 인용하는 </a:t>
            </a:r>
            <a:r>
              <a:rPr lang="ko-KR" altLang="en-US" dirty="0" err="1">
                <a:solidFill>
                  <a:schemeClr val="tx1"/>
                </a:solidFill>
              </a:rPr>
              <a:t>청구항보다</a:t>
            </a:r>
            <a:r>
              <a:rPr lang="ko-KR" altLang="en-US" dirty="0">
                <a:solidFill>
                  <a:schemeClr val="tx1"/>
                </a:solidFill>
              </a:rPr>
              <a:t> 먼저 기재하여야 한다</a:t>
            </a:r>
            <a:r>
              <a:rPr lang="en-US" altLang="ko-KR" dirty="0">
                <a:solidFill>
                  <a:schemeClr val="tx1"/>
                </a:solidFill>
              </a:rPr>
              <a:t>.&lt;</a:t>
            </a:r>
            <a:r>
              <a:rPr lang="ko-KR" altLang="en-US" dirty="0">
                <a:solidFill>
                  <a:schemeClr val="tx1"/>
                </a:solidFill>
              </a:rPr>
              <a:t>개정 </a:t>
            </a:r>
            <a:r>
              <a:rPr lang="en-US" altLang="ko-KR" dirty="0">
                <a:solidFill>
                  <a:schemeClr val="tx1"/>
                </a:solidFill>
              </a:rPr>
              <a:t>2003.6.13&gt; </a:t>
            </a:r>
          </a:p>
          <a:p>
            <a:pPr lvl="0"/>
            <a:endParaRPr lang="en-US" altLang="ko-KR" sz="800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발명을 용이하게 파악하기 위함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endParaRPr lang="en-US" altLang="ko-KR" sz="800" dirty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거의 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청구항이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 자기 자신을 인용하는 경우에 지적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endParaRPr lang="en-US" altLang="ko-KR" sz="800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 -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특허법 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42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조제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8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항 및 특허법시행령 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조제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7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항 적용 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또는</a:t>
            </a:r>
            <a:endParaRPr lang="en-US" altLang="ko-KR" b="1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600" dirty="0" smtClean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예</a:t>
            </a:r>
            <a:r>
              <a:rPr lang="en-US" altLang="ko-KR" sz="1600" dirty="0" smtClean="0">
                <a:solidFill>
                  <a:prstClr val="black"/>
                </a:solidFill>
                <a:latin typeface="+mn-ea"/>
              </a:rPr>
              <a:t>)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청구범위 제</a:t>
            </a:r>
            <a:r>
              <a:rPr lang="en-US" altLang="ko-KR" sz="1600" dirty="0">
                <a:solidFill>
                  <a:schemeClr val="tx1"/>
                </a:solidFill>
              </a:rPr>
              <a:t>7</a:t>
            </a:r>
            <a:r>
              <a:rPr lang="ko-KR" altLang="en-US" sz="1600" dirty="0">
                <a:solidFill>
                  <a:schemeClr val="tx1"/>
                </a:solidFill>
              </a:rPr>
              <a:t>항은 자기 자신인 제</a:t>
            </a:r>
            <a:r>
              <a:rPr lang="en-US" altLang="ko-KR" sz="1600" dirty="0">
                <a:solidFill>
                  <a:schemeClr val="tx1"/>
                </a:solidFill>
              </a:rPr>
              <a:t>7</a:t>
            </a:r>
            <a:r>
              <a:rPr lang="ko-KR" altLang="en-US" sz="1600" dirty="0">
                <a:solidFill>
                  <a:schemeClr val="tx1"/>
                </a:solidFill>
              </a:rPr>
              <a:t>항을 인용하고 있으므로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인용되는 항을 인용하는 </a:t>
            </a:r>
            <a:r>
              <a:rPr lang="ko-KR" altLang="en-US" sz="1600" dirty="0" err="1">
                <a:solidFill>
                  <a:schemeClr val="tx1"/>
                </a:solidFill>
              </a:rPr>
              <a:t>청구항보다</a:t>
            </a:r>
            <a:r>
              <a:rPr lang="ko-KR" altLang="en-US" sz="1600" dirty="0">
                <a:solidFill>
                  <a:schemeClr val="tx1"/>
                </a:solidFill>
              </a:rPr>
              <a:t> 먼저 기재한 것으로 인정되지 아니합니다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  <a:endParaRPr lang="en-US" altLang="ko-KR" sz="1600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endParaRPr lang="en-US" altLang="ko-KR" sz="800" b="1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-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특허법 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42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조제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4</a:t>
            </a:r>
            <a:r>
              <a:rPr lang="ko-KR" altLang="en-US" dirty="0" err="1" smtClean="0">
                <a:solidFill>
                  <a:prstClr val="black"/>
                </a:solidFill>
                <a:latin typeface="+mn-ea"/>
              </a:rPr>
              <a:t>항제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2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호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적용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ko-KR" sz="1600" dirty="0" smtClean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예</a:t>
            </a:r>
            <a:r>
              <a:rPr lang="en-US" altLang="ko-KR" sz="1600" dirty="0" smtClean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1600" dirty="0" smtClean="0">
                <a:solidFill>
                  <a:schemeClr val="tx1"/>
                </a:solidFill>
              </a:rPr>
              <a:t>청구범위 </a:t>
            </a:r>
            <a:r>
              <a:rPr lang="ko-KR" altLang="en-US" sz="1600" dirty="0">
                <a:solidFill>
                  <a:schemeClr val="tx1"/>
                </a:solidFill>
              </a:rPr>
              <a:t>제</a:t>
            </a:r>
            <a:r>
              <a:rPr lang="en-US" altLang="ko-KR" sz="1600" dirty="0">
                <a:solidFill>
                  <a:schemeClr val="tx1"/>
                </a:solidFill>
              </a:rPr>
              <a:t>6</a:t>
            </a:r>
            <a:r>
              <a:rPr lang="ko-KR" altLang="en-US" sz="1600" dirty="0">
                <a:solidFill>
                  <a:schemeClr val="tx1"/>
                </a:solidFill>
              </a:rPr>
              <a:t>항은 자기 자신인 제</a:t>
            </a:r>
            <a:r>
              <a:rPr lang="en-US" altLang="ko-KR" sz="1600" dirty="0">
                <a:solidFill>
                  <a:schemeClr val="tx1"/>
                </a:solidFill>
              </a:rPr>
              <a:t>6</a:t>
            </a:r>
            <a:r>
              <a:rPr lang="ko-KR" altLang="en-US" sz="1600" dirty="0">
                <a:solidFill>
                  <a:schemeClr val="tx1"/>
                </a:solidFill>
              </a:rPr>
              <a:t>항을 </a:t>
            </a:r>
            <a:r>
              <a:rPr lang="ko-KR" altLang="en-US" sz="1600" dirty="0" smtClean="0">
                <a:solidFill>
                  <a:schemeClr val="tx1"/>
                </a:solidFill>
              </a:rPr>
              <a:t>인용하고 </a:t>
            </a:r>
            <a:r>
              <a:rPr lang="ko-KR" altLang="en-US" sz="1600" dirty="0">
                <a:solidFill>
                  <a:schemeClr val="tx1"/>
                </a:solidFill>
              </a:rPr>
              <a:t>있으므로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en-US" altLang="ko-KR" sz="1600" dirty="0" smtClean="0">
                <a:solidFill>
                  <a:schemeClr val="tx1"/>
                </a:solidFill>
              </a:rPr>
              <a:t> </a:t>
            </a:r>
            <a:r>
              <a:rPr lang="ko-KR" altLang="en-US" sz="1600" dirty="0" smtClean="0">
                <a:solidFill>
                  <a:schemeClr val="tx1"/>
                </a:solidFill>
              </a:rPr>
              <a:t>제</a:t>
            </a:r>
            <a:r>
              <a:rPr lang="en-US" altLang="ko-KR" sz="1600" dirty="0" smtClean="0">
                <a:solidFill>
                  <a:schemeClr val="tx1"/>
                </a:solidFill>
              </a:rPr>
              <a:t>6</a:t>
            </a:r>
            <a:r>
              <a:rPr lang="ko-KR" altLang="en-US" sz="1600" dirty="0" smtClean="0">
                <a:solidFill>
                  <a:schemeClr val="tx1"/>
                </a:solidFill>
              </a:rPr>
              <a:t>항의 구성이 명확하지 아니합니다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600" dirty="0" smtClean="0">
                <a:solidFill>
                  <a:schemeClr val="tx1"/>
                </a:solidFill>
              </a:rPr>
              <a:t>(</a:t>
            </a:r>
            <a:r>
              <a:rPr lang="ko-KR" altLang="en-US" sz="1600" dirty="0" smtClean="0">
                <a:solidFill>
                  <a:schemeClr val="tx1"/>
                </a:solidFill>
              </a:rPr>
              <a:t>예</a:t>
            </a:r>
            <a:r>
              <a:rPr lang="en-US" altLang="ko-KR" sz="1600" dirty="0" smtClean="0">
                <a:solidFill>
                  <a:schemeClr val="tx1"/>
                </a:solidFill>
              </a:rPr>
              <a:t>2) </a:t>
            </a:r>
            <a:r>
              <a:rPr lang="ko-KR" altLang="en-US" sz="1600" dirty="0">
                <a:solidFill>
                  <a:schemeClr val="tx1"/>
                </a:solidFill>
              </a:rPr>
              <a:t>청구범위 제</a:t>
            </a:r>
            <a:r>
              <a:rPr lang="en-US" altLang="ko-KR" sz="1600" dirty="0">
                <a:solidFill>
                  <a:schemeClr val="tx1"/>
                </a:solidFill>
              </a:rPr>
              <a:t>7</a:t>
            </a:r>
            <a:r>
              <a:rPr lang="ko-KR" altLang="en-US" sz="1600" dirty="0">
                <a:solidFill>
                  <a:schemeClr val="tx1"/>
                </a:solidFill>
              </a:rPr>
              <a:t>항이 자기 자신인 제</a:t>
            </a:r>
            <a:r>
              <a:rPr lang="en-US" altLang="ko-KR" sz="1600" dirty="0">
                <a:solidFill>
                  <a:schemeClr val="tx1"/>
                </a:solidFill>
              </a:rPr>
              <a:t>7</a:t>
            </a:r>
            <a:r>
              <a:rPr lang="ko-KR" altLang="en-US" sz="1600" dirty="0">
                <a:solidFill>
                  <a:schemeClr val="tx1"/>
                </a:solidFill>
              </a:rPr>
              <a:t>항을 인용하는 경우에 ‘상기’라는 용어에 의해 </a:t>
            </a:r>
            <a:r>
              <a:rPr lang="ko-KR" altLang="en-US" sz="1600" dirty="0" err="1">
                <a:solidFill>
                  <a:schemeClr val="tx1"/>
                </a:solidFill>
              </a:rPr>
              <a:t>인용기재된</a:t>
            </a:r>
            <a:r>
              <a:rPr lang="ko-KR" altLang="en-US" sz="1600" dirty="0">
                <a:solidFill>
                  <a:schemeClr val="tx1"/>
                </a:solidFill>
              </a:rPr>
              <a:t> 모든 구성이 명확하지 아니합니다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40501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8.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특허법시행령 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조제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8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항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13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83568" y="1124744"/>
            <a:ext cx="7848873" cy="518457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/>
            <a:r>
              <a:rPr lang="ko-KR" altLang="en-US" sz="2000" dirty="0">
                <a:solidFill>
                  <a:schemeClr val="tx1"/>
                </a:solidFill>
              </a:rPr>
              <a:t>특허법시행령 제</a:t>
            </a:r>
            <a:r>
              <a:rPr lang="en-US" altLang="ko-KR" sz="2000" dirty="0">
                <a:solidFill>
                  <a:schemeClr val="tx1"/>
                </a:solidFill>
              </a:rPr>
              <a:t>5</a:t>
            </a:r>
            <a:r>
              <a:rPr lang="ko-KR" altLang="en-US" sz="2000" dirty="0">
                <a:solidFill>
                  <a:schemeClr val="tx1"/>
                </a:solidFill>
              </a:rPr>
              <a:t>조</a:t>
            </a:r>
            <a:r>
              <a:rPr lang="en-US" altLang="ko-KR" sz="2000" dirty="0">
                <a:solidFill>
                  <a:schemeClr val="tx1"/>
                </a:solidFill>
              </a:rPr>
              <a:t>(</a:t>
            </a:r>
            <a:r>
              <a:rPr lang="ko-KR" altLang="en-US" sz="2000" dirty="0">
                <a:solidFill>
                  <a:schemeClr val="tx1"/>
                </a:solidFill>
              </a:rPr>
              <a:t>청구범위의 기재방법</a:t>
            </a:r>
            <a:r>
              <a:rPr lang="en-US" altLang="ko-KR" sz="2000" dirty="0">
                <a:solidFill>
                  <a:schemeClr val="tx1"/>
                </a:solidFill>
              </a:rPr>
              <a:t>&lt;</a:t>
            </a:r>
            <a:r>
              <a:rPr lang="ko-KR" altLang="en-US" sz="2000" dirty="0">
                <a:solidFill>
                  <a:schemeClr val="tx1"/>
                </a:solidFill>
              </a:rPr>
              <a:t>개정 </a:t>
            </a:r>
            <a:r>
              <a:rPr lang="en-US" altLang="ko-KR" sz="2000" dirty="0">
                <a:solidFill>
                  <a:schemeClr val="tx1"/>
                </a:solidFill>
              </a:rPr>
              <a:t>2014.12.30&gt;) 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⑧ </a:t>
            </a:r>
            <a:r>
              <a:rPr lang="ko-KR" altLang="en-US" dirty="0">
                <a:solidFill>
                  <a:schemeClr val="tx1"/>
                </a:solidFill>
              </a:rPr>
              <a:t>각 </a:t>
            </a:r>
            <a:r>
              <a:rPr lang="ko-KR" altLang="en-US" dirty="0" err="1">
                <a:solidFill>
                  <a:schemeClr val="tx1"/>
                </a:solidFill>
              </a:rPr>
              <a:t>청구항은</a:t>
            </a:r>
            <a:r>
              <a:rPr lang="ko-KR" altLang="en-US" dirty="0">
                <a:solidFill>
                  <a:schemeClr val="tx1"/>
                </a:solidFill>
              </a:rPr>
              <a:t> 항마다 행을 바꾸어 기재하고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그 기재하는 순서에 따라 아라비아숫자로 일련번호를 붙여야 한다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</a:p>
          <a:p>
            <a:pPr lvl="0"/>
            <a:endParaRPr lang="en-US" altLang="ko-KR" sz="800" dirty="0" smtClean="0">
              <a:solidFill>
                <a:schemeClr val="tx1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지적 사례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1 -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누락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【</a:t>
            </a:r>
            <a:r>
              <a:rPr lang="ko-KR" altLang="en-US" sz="14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12】</a:t>
            </a:r>
          </a:p>
          <a:p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8</a:t>
            </a:r>
            <a:r>
              <a:rPr lang="ko-KR" altLang="en-US" sz="1400" dirty="0">
                <a:solidFill>
                  <a:schemeClr val="tx1"/>
                </a:solidFill>
              </a:rPr>
              <a:t>항에 있어서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동일한 우</a:t>
            </a:r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구동전극에 </a:t>
            </a:r>
            <a:r>
              <a:rPr lang="ko-KR" altLang="en-US" sz="1400" dirty="0" err="1">
                <a:solidFill>
                  <a:schemeClr val="tx1"/>
                </a:solidFill>
              </a:rPr>
              <a:t>정사영되는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</a:rPr>
              <a:t>센싱전극들</a:t>
            </a:r>
            <a:r>
              <a:rPr lang="ko-KR" altLang="en-US" sz="1400" dirty="0">
                <a:solidFill>
                  <a:schemeClr val="tx1"/>
                </a:solidFill>
              </a:rPr>
              <a:t> 각각은 서로 다른 </a:t>
            </a:r>
            <a:r>
              <a:rPr lang="ko-KR" altLang="en-US" sz="1400" dirty="0" err="1">
                <a:solidFill>
                  <a:schemeClr val="tx1"/>
                </a:solidFill>
              </a:rPr>
              <a:t>센싱패드에</a:t>
            </a:r>
            <a:r>
              <a:rPr lang="ko-KR" altLang="en-US" sz="1400" dirty="0">
                <a:solidFill>
                  <a:schemeClr val="tx1"/>
                </a:solidFill>
              </a:rPr>
              <a:t> 연결되고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동일한 좌</a:t>
            </a:r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구동전극에 </a:t>
            </a:r>
            <a:r>
              <a:rPr lang="ko-KR" altLang="en-US" sz="1400" dirty="0" err="1">
                <a:solidFill>
                  <a:schemeClr val="tx1"/>
                </a:solidFill>
              </a:rPr>
              <a:t>정사영되는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</a:rPr>
              <a:t>센싱전극들</a:t>
            </a:r>
            <a:r>
              <a:rPr lang="ko-KR" altLang="en-US" sz="1400" dirty="0">
                <a:solidFill>
                  <a:schemeClr val="tx1"/>
                </a:solidFill>
              </a:rPr>
              <a:t> 각각은 서로 다른 </a:t>
            </a:r>
            <a:r>
              <a:rPr lang="ko-KR" altLang="en-US" sz="1400" dirty="0" err="1">
                <a:solidFill>
                  <a:schemeClr val="tx1"/>
                </a:solidFill>
              </a:rPr>
              <a:t>센싱패드에</a:t>
            </a:r>
            <a:r>
              <a:rPr lang="ko-KR" altLang="en-US" sz="1400" dirty="0">
                <a:solidFill>
                  <a:schemeClr val="tx1"/>
                </a:solidFill>
              </a:rPr>
              <a:t> 연결된 것을 특징으로 하는 터치패널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【</a:t>
            </a:r>
            <a:r>
              <a:rPr lang="ko-KR" altLang="en-US" sz="14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14】</a:t>
            </a:r>
          </a:p>
          <a:p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8</a:t>
            </a:r>
            <a:r>
              <a:rPr lang="ko-KR" altLang="en-US" sz="1400" dirty="0">
                <a:solidFill>
                  <a:schemeClr val="tx1"/>
                </a:solidFill>
              </a:rPr>
              <a:t>항에 있어서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상기 우</a:t>
            </a:r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구동전극들 각각과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상기 좌</a:t>
            </a:r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구동전극들 각각과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상기 </a:t>
            </a:r>
            <a:r>
              <a:rPr lang="ko-KR" altLang="en-US" sz="1400" dirty="0" err="1">
                <a:solidFill>
                  <a:schemeClr val="tx1"/>
                </a:solidFill>
              </a:rPr>
              <a:t>센싱전극들</a:t>
            </a:r>
            <a:r>
              <a:rPr lang="ko-KR" altLang="en-US" sz="1400" dirty="0">
                <a:solidFill>
                  <a:schemeClr val="tx1"/>
                </a:solidFill>
              </a:rPr>
              <a:t> 각각은 삼각형상의 상어이빨 형상을 갖고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상기 우</a:t>
            </a:r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구동전극들과 상기 </a:t>
            </a:r>
            <a:r>
              <a:rPr lang="ko-KR" altLang="en-US" sz="1400" dirty="0" err="1">
                <a:solidFill>
                  <a:schemeClr val="tx1"/>
                </a:solidFill>
              </a:rPr>
              <a:t>센싱전극들은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</a:rPr>
              <a:t>치합</a:t>
            </a:r>
            <a:r>
              <a:rPr lang="ko-KR" altLang="en-US" sz="1400" dirty="0">
                <a:solidFill>
                  <a:schemeClr val="tx1"/>
                </a:solidFill>
              </a:rPr>
              <a:t> 형태로 배치된 것을 특징으로 하는 터치패널</a:t>
            </a:r>
            <a:r>
              <a:rPr lang="en-US" altLang="ko-KR" sz="1400" dirty="0">
                <a:solidFill>
                  <a:schemeClr val="tx1"/>
                </a:solidFill>
              </a:rPr>
              <a:t>.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【</a:t>
            </a:r>
            <a:r>
              <a:rPr lang="ko-KR" altLang="en-US" sz="14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15】</a:t>
            </a:r>
          </a:p>
          <a:p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8</a:t>
            </a:r>
            <a:r>
              <a:rPr lang="ko-KR" altLang="en-US" sz="1400" dirty="0">
                <a:solidFill>
                  <a:schemeClr val="tx1"/>
                </a:solidFill>
              </a:rPr>
              <a:t>항에 있어서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상기 </a:t>
            </a:r>
            <a:r>
              <a:rPr lang="ko-KR" altLang="en-US" sz="1400" dirty="0" err="1">
                <a:solidFill>
                  <a:schemeClr val="tx1"/>
                </a:solidFill>
              </a:rPr>
              <a:t>센싱전극들</a:t>
            </a:r>
            <a:r>
              <a:rPr lang="ko-KR" altLang="en-US" sz="1400" dirty="0">
                <a:solidFill>
                  <a:schemeClr val="tx1"/>
                </a:solidFill>
              </a:rPr>
              <a:t> 각각은 삼각형상을 갖고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상기 우</a:t>
            </a:r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구동전극들 각각은 삼각형상들이 연결된 왕관형상을 갖고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상기 좌</a:t>
            </a:r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구동전극들 각각은 삼각형상들이 연결된 왕관형상을 갖는 것을 특징으로 하는 터치패널</a:t>
            </a:r>
            <a:r>
              <a:rPr lang="en-US" altLang="ko-KR" sz="1400" dirty="0">
                <a:solidFill>
                  <a:schemeClr val="tx1"/>
                </a:solidFill>
              </a:rPr>
              <a:t>. 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 각 </a:t>
            </a:r>
            <a:r>
              <a:rPr lang="ko-KR" altLang="en-US" dirty="0" err="1">
                <a:solidFill>
                  <a:schemeClr val="tx1"/>
                </a:solidFill>
              </a:rPr>
              <a:t>청구항은</a:t>
            </a:r>
            <a:r>
              <a:rPr lang="ko-KR" altLang="en-US" dirty="0">
                <a:solidFill>
                  <a:schemeClr val="tx1"/>
                </a:solidFill>
              </a:rPr>
              <a:t> 항마다 행을 바꾸어 기재하고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그 기재하는 순서에 따라 아라비아숫자로 일련번호를 붙여야 하나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제</a:t>
            </a:r>
            <a:r>
              <a:rPr lang="en-US" altLang="ko-KR" dirty="0">
                <a:solidFill>
                  <a:schemeClr val="tx1"/>
                </a:solidFill>
              </a:rPr>
              <a:t>13</a:t>
            </a:r>
            <a:r>
              <a:rPr lang="ko-KR" altLang="en-US" dirty="0">
                <a:solidFill>
                  <a:schemeClr val="tx1"/>
                </a:solidFill>
              </a:rPr>
              <a:t>항을 누락하고 제</a:t>
            </a:r>
            <a:r>
              <a:rPr lang="en-US" altLang="ko-KR" dirty="0">
                <a:solidFill>
                  <a:schemeClr val="tx1"/>
                </a:solidFill>
              </a:rPr>
              <a:t>14, 15</a:t>
            </a:r>
            <a:r>
              <a:rPr lang="ko-KR" altLang="en-US" dirty="0">
                <a:solidFill>
                  <a:schemeClr val="tx1"/>
                </a:solidFill>
              </a:rPr>
              <a:t>항이 기재되어 있습니다</a:t>
            </a:r>
            <a:r>
              <a:rPr lang="en-US" altLang="ko-KR" dirty="0" smtClean="0">
                <a:solidFill>
                  <a:schemeClr val="tx1"/>
                </a:solidFill>
              </a:rPr>
              <a:t>.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→ 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보정에 따른 </a:t>
            </a:r>
            <a:r>
              <a:rPr lang="ko-KR" altLang="en-US" b="1" dirty="0" err="1" smtClean="0">
                <a:solidFill>
                  <a:prstClr val="black"/>
                </a:solidFill>
                <a:latin typeface="+mn-ea"/>
              </a:rPr>
              <a:t>청구항</a:t>
            </a:r>
            <a:r>
              <a:rPr lang="ko-KR" altLang="en-US" b="1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b="1" dirty="0" smtClean="0">
                <a:solidFill>
                  <a:prstClr val="black"/>
                </a:solidFill>
                <a:latin typeface="+mn-ea"/>
              </a:rPr>
              <a:t>삭제</a:t>
            </a:r>
            <a:r>
              <a:rPr lang="ko-KR" altLang="en-US" b="1" dirty="0">
                <a:solidFill>
                  <a:prstClr val="black"/>
                </a:solidFill>
                <a:latin typeface="+mn-ea"/>
              </a:rPr>
              <a:t>는</a:t>
            </a:r>
            <a:r>
              <a:rPr lang="en-US" altLang="ko-KR" b="1" dirty="0" smtClean="0">
                <a:solidFill>
                  <a:prstClr val="black"/>
                </a:solidFill>
                <a:latin typeface="+mn-ea"/>
              </a:rPr>
              <a:t>??????</a:t>
            </a:r>
            <a:endParaRPr lang="ko-KR" altLang="en-US" b="1" dirty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588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8.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특허법시행령 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5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조제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8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항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14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83569" y="1124744"/>
            <a:ext cx="3888431" cy="518457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/>
            <a:r>
              <a:rPr lang="ko-KR" altLang="en-US" sz="2000" dirty="0">
                <a:solidFill>
                  <a:schemeClr val="tx1"/>
                </a:solidFill>
              </a:rPr>
              <a:t>특허법시행령 제</a:t>
            </a:r>
            <a:r>
              <a:rPr lang="en-US" altLang="ko-KR" sz="2000" dirty="0">
                <a:solidFill>
                  <a:schemeClr val="tx1"/>
                </a:solidFill>
              </a:rPr>
              <a:t>5</a:t>
            </a:r>
            <a:r>
              <a:rPr lang="ko-KR" altLang="en-US" sz="2000" dirty="0">
                <a:solidFill>
                  <a:schemeClr val="tx1"/>
                </a:solidFill>
              </a:rPr>
              <a:t>조</a:t>
            </a:r>
            <a:r>
              <a:rPr lang="en-US" altLang="ko-KR" sz="2000" dirty="0">
                <a:solidFill>
                  <a:schemeClr val="tx1"/>
                </a:solidFill>
              </a:rPr>
              <a:t>(</a:t>
            </a:r>
            <a:r>
              <a:rPr lang="ko-KR" altLang="en-US" sz="2000" dirty="0">
                <a:solidFill>
                  <a:schemeClr val="tx1"/>
                </a:solidFill>
              </a:rPr>
              <a:t>청구범위의 기재방법</a:t>
            </a:r>
            <a:r>
              <a:rPr lang="en-US" altLang="ko-KR" sz="2000" dirty="0">
                <a:solidFill>
                  <a:schemeClr val="tx1"/>
                </a:solidFill>
              </a:rPr>
              <a:t>&lt;</a:t>
            </a:r>
            <a:r>
              <a:rPr lang="ko-KR" altLang="en-US" sz="2000" dirty="0">
                <a:solidFill>
                  <a:schemeClr val="tx1"/>
                </a:solidFill>
              </a:rPr>
              <a:t>개정 </a:t>
            </a:r>
            <a:r>
              <a:rPr lang="en-US" altLang="ko-KR" sz="2000" dirty="0">
                <a:solidFill>
                  <a:schemeClr val="tx1"/>
                </a:solidFill>
              </a:rPr>
              <a:t>2014.12.30&gt;) 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⑧ </a:t>
            </a:r>
            <a:r>
              <a:rPr lang="ko-KR" altLang="en-US" dirty="0">
                <a:solidFill>
                  <a:schemeClr val="tx1"/>
                </a:solidFill>
              </a:rPr>
              <a:t>각 </a:t>
            </a:r>
            <a:r>
              <a:rPr lang="ko-KR" altLang="en-US" dirty="0" err="1">
                <a:solidFill>
                  <a:schemeClr val="tx1"/>
                </a:solidFill>
              </a:rPr>
              <a:t>청구항은</a:t>
            </a:r>
            <a:r>
              <a:rPr lang="ko-KR" altLang="en-US" dirty="0">
                <a:solidFill>
                  <a:schemeClr val="tx1"/>
                </a:solidFill>
              </a:rPr>
              <a:t> 항마다 행을 바꾸어 기재하고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그 기재하는 순서에 따라 아라비아숫자로 일련번호를 붙여야 한다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</a:p>
          <a:p>
            <a:pPr lvl="0"/>
            <a:endParaRPr lang="en-US" altLang="ko-KR" sz="800" dirty="0" smtClean="0">
              <a:solidFill>
                <a:schemeClr val="tx1"/>
              </a:solidFill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Wingdings" pitchFamily="2" charset="2"/>
              <a:buChar char="u"/>
            </a:pP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지적 사례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2 </a:t>
            </a:r>
          </a:p>
          <a:p>
            <a:pPr>
              <a:lnSpc>
                <a:spcPct val="130000"/>
              </a:lnSpc>
            </a:pP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  - 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특허출원시스템에 잘못 입력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endParaRPr lang="en-US" altLang="ko-KR" sz="800" b="1" dirty="0" smtClean="0">
              <a:solidFill>
                <a:schemeClr val="tx1"/>
              </a:solidFill>
            </a:endParaRPr>
          </a:p>
          <a:p>
            <a:r>
              <a:rPr lang="ko-KR" altLang="en-US" b="1" dirty="0" err="1" smtClean="0">
                <a:solidFill>
                  <a:schemeClr val="tx1"/>
                </a:solidFill>
              </a:rPr>
              <a:t>청구항</a:t>
            </a:r>
            <a:r>
              <a:rPr lang="ko-KR" altLang="en-US" b="1" dirty="0" smtClean="0">
                <a:solidFill>
                  <a:schemeClr val="tx1"/>
                </a:solidFill>
              </a:rPr>
              <a:t> </a:t>
            </a:r>
            <a:r>
              <a:rPr lang="en-US" altLang="ko-KR" b="1" dirty="0">
                <a:solidFill>
                  <a:schemeClr val="tx1"/>
                </a:solidFill>
              </a:rPr>
              <a:t>1 </a:t>
            </a:r>
            <a:r>
              <a:rPr lang="ko-KR" altLang="en-US" b="1" dirty="0">
                <a:solidFill>
                  <a:schemeClr val="tx1"/>
                </a:solidFill>
              </a:rPr>
              <a:t>발명</a:t>
            </a:r>
            <a:r>
              <a:rPr lang="ko-KR" altLang="en-US" dirty="0">
                <a:solidFill>
                  <a:schemeClr val="tx1"/>
                </a:solidFill>
              </a:rPr>
              <a:t>은 </a:t>
            </a:r>
            <a:r>
              <a:rPr lang="ko-KR" altLang="en-US" dirty="0" err="1">
                <a:solidFill>
                  <a:schemeClr val="tx1"/>
                </a:solidFill>
              </a:rPr>
              <a:t>청구항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1 </a:t>
            </a:r>
            <a:r>
              <a:rPr lang="en-US" altLang="ko-KR" dirty="0" smtClean="0">
                <a:solidFill>
                  <a:schemeClr val="tx1"/>
                </a:solidFill>
              </a:rPr>
              <a:t>,2 </a:t>
            </a:r>
            <a:r>
              <a:rPr lang="ko-KR" altLang="en-US" dirty="0">
                <a:solidFill>
                  <a:schemeClr val="tx1"/>
                </a:solidFill>
              </a:rPr>
              <a:t>발명이 모두 포함되도록 기재되어 있는바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각 </a:t>
            </a:r>
            <a:r>
              <a:rPr lang="ko-KR" altLang="en-US" dirty="0" err="1">
                <a:solidFill>
                  <a:schemeClr val="tx1"/>
                </a:solidFill>
              </a:rPr>
              <a:t>청구항은</a:t>
            </a:r>
            <a:r>
              <a:rPr lang="ko-KR" altLang="en-US" dirty="0">
                <a:solidFill>
                  <a:schemeClr val="tx1"/>
                </a:solidFill>
              </a:rPr>
              <a:t> 항마다 행을 바꾸어 기재하고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그 기재하는 순서에 따라 아라비아숫자로 일련번호를 붙여야 한다는 특허청구범위 기재방법에 위배되어 있습니다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788025" y="1124744"/>
            <a:ext cx="3744415" cy="518457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altLang="ko-KR" b="1" dirty="0">
                <a:solidFill>
                  <a:schemeClr val="tx1"/>
                </a:solidFill>
              </a:rPr>
              <a:t>【</a:t>
            </a:r>
            <a:r>
              <a:rPr lang="ko-KR" altLang="en-US" b="1" dirty="0" err="1">
                <a:solidFill>
                  <a:schemeClr val="tx1"/>
                </a:solidFill>
              </a:rPr>
              <a:t>청구항</a:t>
            </a:r>
            <a:r>
              <a:rPr lang="ko-KR" altLang="en-US" b="1" dirty="0">
                <a:solidFill>
                  <a:schemeClr val="tx1"/>
                </a:solidFill>
              </a:rPr>
              <a:t> </a:t>
            </a:r>
            <a:r>
              <a:rPr lang="en-US" altLang="ko-KR" b="1" dirty="0">
                <a:solidFill>
                  <a:schemeClr val="tx1"/>
                </a:solidFill>
              </a:rPr>
              <a:t>1】</a:t>
            </a:r>
          </a:p>
          <a:p>
            <a:r>
              <a:rPr lang="ko-KR" altLang="en-US" dirty="0" err="1">
                <a:solidFill>
                  <a:schemeClr val="tx1"/>
                </a:solidFill>
              </a:rPr>
              <a:t>청구항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</a:p>
          <a:p>
            <a:r>
              <a:rPr lang="ko-KR" altLang="en-US" dirty="0">
                <a:solidFill>
                  <a:schemeClr val="tx1"/>
                </a:solidFill>
              </a:rPr>
              <a:t>과일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비파열매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로부터 수득한 비파 분말과 소금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참기름을 혼합한 조미용 소스를 김의 표면에 도포하여 형성시킨 것을 특징으로 하는 과일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비파열매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를 이용한 조미 김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dirty="0" err="1">
                <a:solidFill>
                  <a:schemeClr val="tx1"/>
                </a:solidFill>
              </a:rPr>
              <a:t>청구항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</a:p>
          <a:p>
            <a:r>
              <a:rPr lang="ko-KR" altLang="en-US" dirty="0">
                <a:solidFill>
                  <a:schemeClr val="tx1"/>
                </a:solidFill>
              </a:rPr>
              <a:t>제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항에 있어서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상기 과일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비파열매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분말은 </a:t>
            </a:r>
            <a:r>
              <a:rPr lang="ko-KR" altLang="en-US" dirty="0" err="1">
                <a:solidFill>
                  <a:schemeClr val="tx1"/>
                </a:solidFill>
              </a:rPr>
              <a:t>비파열매을</a:t>
            </a:r>
            <a:r>
              <a:rPr lang="ko-KR" altLang="en-US" dirty="0">
                <a:solidFill>
                  <a:schemeClr val="tx1"/>
                </a:solidFill>
              </a:rPr>
              <a:t> 건조한 후 분쇄하여 수득한 것을 특징으로 하는 비파열매를 이용한 </a:t>
            </a:r>
            <a:r>
              <a:rPr lang="ko-KR" altLang="en-US" dirty="0" err="1">
                <a:solidFill>
                  <a:schemeClr val="tx1"/>
                </a:solidFill>
              </a:rPr>
              <a:t>조미김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184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9.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실습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15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39553" y="1052736"/>
            <a:ext cx="3960440" cy="5374315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【</a:t>
            </a:r>
            <a:r>
              <a:rPr lang="ko-KR" altLang="en-US" sz="12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1】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머리지지대</a:t>
            </a:r>
            <a:r>
              <a:rPr lang="en-US" altLang="ko-KR" sz="1200" dirty="0">
                <a:solidFill>
                  <a:schemeClr val="tx1"/>
                </a:solidFill>
              </a:rPr>
              <a:t>(10,100)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ko-KR" altLang="en-US" sz="1200" dirty="0" err="1">
                <a:solidFill>
                  <a:schemeClr val="tx1"/>
                </a:solidFill>
              </a:rPr>
              <a:t>수용부에서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수용가능한</a:t>
            </a:r>
            <a:r>
              <a:rPr lang="ko-KR" altLang="en-US" sz="1200" dirty="0">
                <a:solidFill>
                  <a:schemeClr val="tx1"/>
                </a:solidFill>
              </a:rPr>
              <a:t> 환자 머리의 제</a:t>
            </a:r>
            <a:r>
              <a:rPr lang="en-US" altLang="ko-KR" sz="1200" dirty="0">
                <a:solidFill>
                  <a:schemeClr val="tx1"/>
                </a:solidFill>
              </a:rPr>
              <a:t>1 </a:t>
            </a:r>
            <a:r>
              <a:rPr lang="ko-KR" altLang="en-US" sz="1200" dirty="0">
                <a:solidFill>
                  <a:schemeClr val="tx1"/>
                </a:solidFill>
              </a:rPr>
              <a:t>측면을 감싸기 위하여 제</a:t>
            </a:r>
            <a:r>
              <a:rPr lang="en-US" altLang="ko-KR" sz="1200" dirty="0">
                <a:solidFill>
                  <a:schemeClr val="tx1"/>
                </a:solidFill>
              </a:rPr>
              <a:t>1 </a:t>
            </a:r>
            <a:r>
              <a:rPr lang="ko-KR" altLang="en-US" sz="1200" dirty="0">
                <a:solidFill>
                  <a:schemeClr val="tx1"/>
                </a:solidFill>
              </a:rPr>
              <a:t>회전축</a:t>
            </a:r>
            <a:r>
              <a:rPr lang="en-US" altLang="ko-KR" sz="1200" dirty="0">
                <a:solidFill>
                  <a:schemeClr val="tx1"/>
                </a:solidFill>
              </a:rPr>
              <a:t>(22)</a:t>
            </a:r>
            <a:r>
              <a:rPr lang="ko-KR" altLang="en-US" sz="1200" dirty="0">
                <a:solidFill>
                  <a:schemeClr val="tx1"/>
                </a:solidFill>
              </a:rPr>
              <a:t>에 대하여 </a:t>
            </a:r>
            <a:r>
              <a:rPr lang="ko-KR" altLang="en-US" sz="1200" dirty="0" err="1">
                <a:solidFill>
                  <a:schemeClr val="tx1"/>
                </a:solidFill>
              </a:rPr>
              <a:t>회전가능하게</a:t>
            </a:r>
            <a:r>
              <a:rPr lang="ko-KR" altLang="en-US" sz="1200" dirty="0">
                <a:solidFill>
                  <a:schemeClr val="tx1"/>
                </a:solidFill>
              </a:rPr>
              <a:t> 결합된 제</a:t>
            </a:r>
            <a:r>
              <a:rPr lang="en-US" altLang="ko-KR" sz="1200" dirty="0">
                <a:solidFill>
                  <a:schemeClr val="tx1"/>
                </a:solidFill>
              </a:rPr>
              <a:t>1 </a:t>
            </a:r>
            <a:r>
              <a:rPr lang="ko-KR" altLang="en-US" sz="1200" dirty="0">
                <a:solidFill>
                  <a:schemeClr val="tx1"/>
                </a:solidFill>
              </a:rPr>
              <a:t>고정장치</a:t>
            </a:r>
            <a:r>
              <a:rPr lang="en-US" altLang="ko-KR" sz="1200" dirty="0">
                <a:solidFill>
                  <a:schemeClr val="tx1"/>
                </a:solidFill>
              </a:rPr>
              <a:t>(12)</a:t>
            </a:r>
            <a:r>
              <a:rPr lang="ko-KR" altLang="en-US" sz="1200" dirty="0">
                <a:solidFill>
                  <a:schemeClr val="tx1"/>
                </a:solidFill>
              </a:rPr>
              <a:t>와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환자 머리의 제</a:t>
            </a:r>
            <a:r>
              <a:rPr lang="en-US" altLang="ko-KR" sz="1200" dirty="0">
                <a:solidFill>
                  <a:schemeClr val="tx1"/>
                </a:solidFill>
              </a:rPr>
              <a:t>2 </a:t>
            </a:r>
            <a:r>
              <a:rPr lang="ko-KR" altLang="en-US" sz="1200" dirty="0">
                <a:solidFill>
                  <a:schemeClr val="tx1"/>
                </a:solidFill>
              </a:rPr>
              <a:t>측면을 감싸기 위하여 제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회전축</a:t>
            </a:r>
            <a:r>
              <a:rPr lang="en-US" altLang="ko-KR" sz="1200" dirty="0">
                <a:solidFill>
                  <a:schemeClr val="tx1"/>
                </a:solidFill>
              </a:rPr>
              <a:t>(24)</a:t>
            </a:r>
            <a:r>
              <a:rPr lang="ko-KR" altLang="en-US" sz="1200" dirty="0">
                <a:solidFill>
                  <a:schemeClr val="tx1"/>
                </a:solidFill>
              </a:rPr>
              <a:t>에 대하여 </a:t>
            </a:r>
            <a:r>
              <a:rPr lang="ko-KR" altLang="en-US" sz="1200" dirty="0" err="1">
                <a:solidFill>
                  <a:schemeClr val="tx1"/>
                </a:solidFill>
              </a:rPr>
              <a:t>회전가능하게</a:t>
            </a:r>
            <a:r>
              <a:rPr lang="ko-KR" altLang="en-US" sz="1200" dirty="0">
                <a:solidFill>
                  <a:schemeClr val="tx1"/>
                </a:solidFill>
              </a:rPr>
              <a:t> 결합된 제</a:t>
            </a:r>
            <a:r>
              <a:rPr lang="en-US" altLang="ko-KR" sz="1200" dirty="0">
                <a:solidFill>
                  <a:schemeClr val="tx1"/>
                </a:solidFill>
              </a:rPr>
              <a:t>2 </a:t>
            </a:r>
            <a:r>
              <a:rPr lang="ko-KR" altLang="en-US" sz="1200" dirty="0">
                <a:solidFill>
                  <a:schemeClr val="tx1"/>
                </a:solidFill>
              </a:rPr>
              <a:t>고정장치</a:t>
            </a:r>
            <a:r>
              <a:rPr lang="en-US" altLang="ko-KR" sz="1200" dirty="0">
                <a:solidFill>
                  <a:schemeClr val="tx1"/>
                </a:solidFill>
              </a:rPr>
              <a:t>(14)</a:t>
            </a:r>
            <a:r>
              <a:rPr lang="ko-KR" altLang="en-US" sz="1200" dirty="0">
                <a:solidFill>
                  <a:schemeClr val="tx1"/>
                </a:solidFill>
              </a:rPr>
              <a:t>를 포함하되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상기 제</a:t>
            </a:r>
            <a:r>
              <a:rPr lang="en-US" altLang="ko-KR" sz="1200" dirty="0">
                <a:solidFill>
                  <a:schemeClr val="tx1"/>
                </a:solidFill>
              </a:rPr>
              <a:t>1 </a:t>
            </a:r>
            <a:r>
              <a:rPr lang="ko-KR" altLang="en-US" sz="1200" dirty="0">
                <a:solidFill>
                  <a:schemeClr val="tx1"/>
                </a:solidFill>
              </a:rPr>
              <a:t>고정장치</a:t>
            </a:r>
            <a:r>
              <a:rPr lang="en-US" altLang="ko-KR" sz="1200" dirty="0">
                <a:solidFill>
                  <a:schemeClr val="tx1"/>
                </a:solidFill>
              </a:rPr>
              <a:t>(12)</a:t>
            </a:r>
            <a:r>
              <a:rPr lang="ko-KR" altLang="en-US" sz="1200" dirty="0">
                <a:solidFill>
                  <a:schemeClr val="tx1"/>
                </a:solidFill>
              </a:rPr>
              <a:t>와 제</a:t>
            </a:r>
            <a:r>
              <a:rPr lang="en-US" altLang="ko-KR" sz="1200" dirty="0">
                <a:solidFill>
                  <a:schemeClr val="tx1"/>
                </a:solidFill>
              </a:rPr>
              <a:t>2 </a:t>
            </a:r>
            <a:r>
              <a:rPr lang="ko-KR" altLang="en-US" sz="1200" dirty="0">
                <a:solidFill>
                  <a:schemeClr val="tx1"/>
                </a:solidFill>
              </a:rPr>
              <a:t>고정장치</a:t>
            </a:r>
            <a:r>
              <a:rPr lang="en-US" altLang="ko-KR" sz="1200" dirty="0">
                <a:solidFill>
                  <a:schemeClr val="tx1"/>
                </a:solidFill>
              </a:rPr>
              <a:t>(14)</a:t>
            </a:r>
            <a:r>
              <a:rPr lang="ko-KR" altLang="en-US" sz="1200" dirty="0">
                <a:solidFill>
                  <a:schemeClr val="tx1"/>
                </a:solidFill>
              </a:rPr>
              <a:t>는 적어도 하나의 결합장치</a:t>
            </a:r>
            <a:r>
              <a:rPr lang="en-US" altLang="ko-KR" sz="1200" dirty="0">
                <a:solidFill>
                  <a:schemeClr val="tx1"/>
                </a:solidFill>
              </a:rPr>
              <a:t>(16)</a:t>
            </a:r>
            <a:r>
              <a:rPr lang="ko-KR" altLang="en-US" sz="1200" dirty="0">
                <a:solidFill>
                  <a:schemeClr val="tx1"/>
                </a:solidFill>
              </a:rPr>
              <a:t>에 의해 </a:t>
            </a:r>
            <a:r>
              <a:rPr lang="ko-KR" altLang="en-US" sz="1200" dirty="0" err="1">
                <a:solidFill>
                  <a:schemeClr val="tx1"/>
                </a:solidFill>
              </a:rPr>
              <a:t>결합부에서</a:t>
            </a:r>
            <a:r>
              <a:rPr lang="ko-KR" altLang="en-US" sz="1200" dirty="0">
                <a:solidFill>
                  <a:schemeClr val="tx1"/>
                </a:solidFill>
              </a:rPr>
              <a:t> 서로 결합함과 동시에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상기 고정장치들</a:t>
            </a:r>
            <a:r>
              <a:rPr lang="en-US" altLang="ko-KR" sz="1200" dirty="0">
                <a:solidFill>
                  <a:schemeClr val="tx1"/>
                </a:solidFill>
              </a:rPr>
              <a:t>(12,14) </a:t>
            </a:r>
            <a:r>
              <a:rPr lang="ko-KR" altLang="en-US" sz="1200" dirty="0">
                <a:solidFill>
                  <a:schemeClr val="tx1"/>
                </a:solidFill>
              </a:rPr>
              <a:t>중 하나가 회전할 때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상기 결합장치</a:t>
            </a:r>
            <a:r>
              <a:rPr lang="en-US" altLang="ko-KR" sz="1200" dirty="0">
                <a:solidFill>
                  <a:schemeClr val="tx1"/>
                </a:solidFill>
              </a:rPr>
              <a:t>(16)</a:t>
            </a:r>
            <a:r>
              <a:rPr lang="ko-KR" altLang="en-US" sz="1200" dirty="0">
                <a:solidFill>
                  <a:schemeClr val="tx1"/>
                </a:solidFill>
              </a:rPr>
              <a:t>는 나머지 하나의 고정장치</a:t>
            </a:r>
            <a:r>
              <a:rPr lang="en-US" altLang="ko-KR" sz="1200" dirty="0">
                <a:solidFill>
                  <a:schemeClr val="tx1"/>
                </a:solidFill>
              </a:rPr>
              <a:t>(12,14)</a:t>
            </a:r>
            <a:r>
              <a:rPr lang="ko-KR" altLang="en-US" sz="1200" dirty="0">
                <a:solidFill>
                  <a:schemeClr val="tx1"/>
                </a:solidFill>
              </a:rPr>
              <a:t>를 회전시키는 수술대의 머리지지대에 있어서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상기 </a:t>
            </a:r>
            <a:r>
              <a:rPr lang="ko-KR" altLang="en-US" sz="1200" dirty="0" err="1">
                <a:solidFill>
                  <a:schemeClr val="tx1"/>
                </a:solidFill>
              </a:rPr>
              <a:t>수용부</a:t>
            </a:r>
            <a:r>
              <a:rPr lang="en-US" altLang="ko-KR" sz="1200" dirty="0">
                <a:solidFill>
                  <a:schemeClr val="tx1"/>
                </a:solidFill>
              </a:rPr>
              <a:t>(33)</a:t>
            </a:r>
            <a:r>
              <a:rPr lang="ko-KR" altLang="en-US" sz="1200" dirty="0">
                <a:solidFill>
                  <a:schemeClr val="tx1"/>
                </a:solidFill>
              </a:rPr>
              <a:t>에서 </a:t>
            </a:r>
            <a:r>
              <a:rPr lang="ko-KR" altLang="en-US" sz="1200" dirty="0" err="1">
                <a:solidFill>
                  <a:schemeClr val="tx1"/>
                </a:solidFill>
              </a:rPr>
              <a:t>수용가능한</a:t>
            </a:r>
            <a:r>
              <a:rPr lang="ko-KR" altLang="en-US" sz="1200" dirty="0">
                <a:solidFill>
                  <a:schemeClr val="tx1"/>
                </a:solidFill>
              </a:rPr>
              <a:t> 머리의 지지를 위하여 고정상태로 구비된 지지장치</a:t>
            </a:r>
            <a:r>
              <a:rPr lang="en-US" altLang="ko-KR" sz="1200" dirty="0">
                <a:solidFill>
                  <a:schemeClr val="tx1"/>
                </a:solidFill>
              </a:rPr>
              <a:t>(33)</a:t>
            </a:r>
            <a:r>
              <a:rPr lang="ko-KR" altLang="en-US" sz="1200" dirty="0">
                <a:solidFill>
                  <a:schemeClr val="tx1"/>
                </a:solidFill>
              </a:rPr>
              <a:t>가 </a:t>
            </a:r>
            <a:r>
              <a:rPr lang="ko-KR" altLang="en-US" sz="1200" dirty="0" err="1">
                <a:solidFill>
                  <a:schemeClr val="tx1"/>
                </a:solidFill>
              </a:rPr>
              <a:t>결합부와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수용부</a:t>
            </a:r>
            <a:r>
              <a:rPr lang="en-US" altLang="ko-KR" sz="1200" dirty="0">
                <a:solidFill>
                  <a:schemeClr val="tx1"/>
                </a:solidFill>
              </a:rPr>
              <a:t>(32) </a:t>
            </a:r>
            <a:r>
              <a:rPr lang="ko-KR" altLang="en-US" sz="1200" dirty="0">
                <a:solidFill>
                  <a:schemeClr val="tx1"/>
                </a:solidFill>
              </a:rPr>
              <a:t>사이에 제공되는 것을 특징으로 하는 수술대의 머리지지대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r>
              <a:rPr lang="en-US" altLang="ko-KR" sz="1200" b="1" dirty="0">
                <a:solidFill>
                  <a:schemeClr val="tx1"/>
                </a:solidFill>
              </a:rPr>
              <a:t>【</a:t>
            </a:r>
            <a:r>
              <a:rPr lang="ko-KR" altLang="en-US" sz="12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2】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 </a:t>
            </a:r>
            <a:r>
              <a:rPr lang="ko-KR" altLang="en-US" sz="1200" dirty="0">
                <a:solidFill>
                  <a:schemeClr val="tx1"/>
                </a:solidFill>
              </a:rPr>
              <a:t>항에 있어서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상기 지지장치</a:t>
            </a:r>
            <a:r>
              <a:rPr lang="en-US" altLang="ko-KR" sz="1200" dirty="0">
                <a:solidFill>
                  <a:schemeClr val="tx1"/>
                </a:solidFill>
              </a:rPr>
              <a:t>(33)</a:t>
            </a:r>
            <a:r>
              <a:rPr lang="ko-KR" altLang="en-US" sz="1200" dirty="0">
                <a:solidFill>
                  <a:schemeClr val="tx1"/>
                </a:solidFill>
              </a:rPr>
              <a:t>는 머리 뒷부분을 지지하기 위하여 아치형 </a:t>
            </a:r>
            <a:r>
              <a:rPr lang="ko-KR" altLang="en-US" sz="1200" dirty="0" err="1">
                <a:solidFill>
                  <a:schemeClr val="tx1"/>
                </a:solidFill>
              </a:rPr>
              <a:t>지지면을</a:t>
            </a:r>
            <a:r>
              <a:rPr lang="ko-KR" altLang="en-US" sz="1200" dirty="0">
                <a:solidFill>
                  <a:schemeClr val="tx1"/>
                </a:solidFill>
              </a:rPr>
              <a:t> 포함하는 것을 특징으로 하는 수술대의 머리지지대</a:t>
            </a:r>
            <a:r>
              <a:rPr lang="en-US" altLang="ko-KR" sz="1200" dirty="0">
                <a:solidFill>
                  <a:schemeClr val="tx1"/>
                </a:solidFill>
              </a:rPr>
              <a:t>(10,100</a:t>
            </a:r>
            <a:r>
              <a:rPr lang="en-US" altLang="ko-KR" sz="1200" dirty="0" smtClean="0">
                <a:solidFill>
                  <a:schemeClr val="tx1"/>
                </a:solidFill>
              </a:rPr>
              <a:t>).</a:t>
            </a:r>
          </a:p>
          <a:p>
            <a:r>
              <a:rPr lang="en-US" altLang="ko-KR" sz="1200" b="1" dirty="0">
                <a:solidFill>
                  <a:schemeClr val="tx1"/>
                </a:solidFill>
              </a:rPr>
              <a:t>【</a:t>
            </a:r>
            <a:r>
              <a:rPr lang="ko-KR" altLang="en-US" sz="12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3】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 </a:t>
            </a:r>
            <a:r>
              <a:rPr lang="ko-KR" altLang="en-US" sz="1200" dirty="0">
                <a:solidFill>
                  <a:schemeClr val="tx1"/>
                </a:solidFill>
              </a:rPr>
              <a:t>항 또는 제</a:t>
            </a:r>
            <a:r>
              <a:rPr lang="en-US" altLang="ko-KR" sz="1200" dirty="0">
                <a:solidFill>
                  <a:schemeClr val="tx1"/>
                </a:solidFill>
              </a:rPr>
              <a:t>2 </a:t>
            </a:r>
            <a:r>
              <a:rPr lang="ko-KR" altLang="en-US" sz="1200" dirty="0">
                <a:solidFill>
                  <a:schemeClr val="tx1"/>
                </a:solidFill>
              </a:rPr>
              <a:t>항에 있어서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상기 지지장치</a:t>
            </a:r>
            <a:r>
              <a:rPr lang="en-US" altLang="ko-KR" sz="1200" dirty="0">
                <a:solidFill>
                  <a:schemeClr val="tx1"/>
                </a:solidFill>
              </a:rPr>
              <a:t>(3)</a:t>
            </a:r>
            <a:r>
              <a:rPr lang="ko-KR" altLang="en-US" sz="1200" dirty="0">
                <a:solidFill>
                  <a:schemeClr val="tx1"/>
                </a:solidFill>
              </a:rPr>
              <a:t>는 </a:t>
            </a:r>
            <a:r>
              <a:rPr lang="ko-KR" altLang="en-US" sz="1200" dirty="0" err="1">
                <a:solidFill>
                  <a:schemeClr val="tx1"/>
                </a:solidFill>
              </a:rPr>
              <a:t>패딩</a:t>
            </a:r>
            <a:r>
              <a:rPr lang="en-US" altLang="ko-KR" sz="1200" dirty="0">
                <a:solidFill>
                  <a:schemeClr val="tx1"/>
                </a:solidFill>
              </a:rPr>
              <a:t>(34)</a:t>
            </a:r>
            <a:r>
              <a:rPr lang="ko-KR" altLang="en-US" sz="1200" dirty="0">
                <a:solidFill>
                  <a:schemeClr val="tx1"/>
                </a:solidFill>
              </a:rPr>
              <a:t>을 포함하는 것을 특징으로 하는 수술대의 머리지지대</a:t>
            </a:r>
            <a:r>
              <a:rPr lang="en-US" altLang="ko-KR" sz="1200" dirty="0">
                <a:solidFill>
                  <a:schemeClr val="tx1"/>
                </a:solidFill>
              </a:rPr>
              <a:t>(10,100</a:t>
            </a:r>
            <a:r>
              <a:rPr lang="en-US" altLang="ko-KR" sz="1200" dirty="0" smtClean="0">
                <a:solidFill>
                  <a:schemeClr val="tx1"/>
                </a:solidFill>
              </a:rPr>
              <a:t>).</a:t>
            </a:r>
          </a:p>
          <a:p>
            <a:r>
              <a:rPr lang="en-US" altLang="ko-KR" sz="1200" b="1" dirty="0">
                <a:solidFill>
                  <a:schemeClr val="tx1"/>
                </a:solidFill>
              </a:rPr>
              <a:t>【</a:t>
            </a:r>
            <a:r>
              <a:rPr lang="ko-KR" altLang="en-US" sz="12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4】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전술한 항 중 어느 한 항에 있어서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상기 결합장치</a:t>
            </a:r>
            <a:r>
              <a:rPr lang="en-US" altLang="ko-KR" sz="1200" dirty="0">
                <a:solidFill>
                  <a:schemeClr val="tx1"/>
                </a:solidFill>
              </a:rPr>
              <a:t>(16)</a:t>
            </a:r>
            <a:r>
              <a:rPr lang="ko-KR" altLang="en-US" sz="1200" dirty="0">
                <a:solidFill>
                  <a:schemeClr val="tx1"/>
                </a:solidFill>
              </a:rPr>
              <a:t>는 적어도 하나의 톱니바퀴 세그먼트</a:t>
            </a:r>
            <a:r>
              <a:rPr lang="en-US" altLang="ko-KR" sz="1200" dirty="0">
                <a:solidFill>
                  <a:schemeClr val="tx1"/>
                </a:solidFill>
              </a:rPr>
              <a:t>(18,20)</a:t>
            </a:r>
            <a:r>
              <a:rPr lang="ko-KR" altLang="en-US" sz="1200" dirty="0">
                <a:solidFill>
                  <a:schemeClr val="tx1"/>
                </a:solidFill>
              </a:rPr>
              <a:t>를 포함하는 것을 특징으로 하는 수술대의 머리지지대</a:t>
            </a:r>
            <a:r>
              <a:rPr lang="en-US" altLang="ko-KR" sz="1200" dirty="0">
                <a:solidFill>
                  <a:schemeClr val="tx1"/>
                </a:solidFill>
              </a:rPr>
              <a:t>(10,100</a:t>
            </a:r>
            <a:r>
              <a:rPr lang="en-US" altLang="ko-KR" sz="1200" dirty="0" smtClean="0">
                <a:solidFill>
                  <a:schemeClr val="tx1"/>
                </a:solidFill>
              </a:rPr>
              <a:t>).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572000" y="1052737"/>
            <a:ext cx="4032448" cy="537431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altLang="ko-KR" sz="1200" b="1" dirty="0" smtClean="0">
                <a:solidFill>
                  <a:schemeClr val="tx1"/>
                </a:solidFill>
              </a:rPr>
              <a:t>【</a:t>
            </a:r>
            <a:r>
              <a:rPr lang="ko-KR" altLang="en-US" sz="12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5】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전술한 항 중 어느 한 항에 있어서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상기 결합장치</a:t>
            </a:r>
            <a:r>
              <a:rPr lang="en-US" altLang="ko-KR" sz="1200" dirty="0">
                <a:solidFill>
                  <a:schemeClr val="tx1"/>
                </a:solidFill>
              </a:rPr>
              <a:t>(16)</a:t>
            </a:r>
            <a:r>
              <a:rPr lang="ko-KR" altLang="en-US" sz="1200" dirty="0">
                <a:solidFill>
                  <a:schemeClr val="tx1"/>
                </a:solidFill>
              </a:rPr>
              <a:t>는 제</a:t>
            </a:r>
            <a:r>
              <a:rPr lang="en-US" altLang="ko-KR" sz="1200" dirty="0">
                <a:solidFill>
                  <a:schemeClr val="tx1"/>
                </a:solidFill>
              </a:rPr>
              <a:t>1 </a:t>
            </a:r>
            <a:r>
              <a:rPr lang="ko-KR" altLang="en-US" sz="1200" dirty="0">
                <a:solidFill>
                  <a:schemeClr val="tx1"/>
                </a:solidFill>
              </a:rPr>
              <a:t>고정장치</a:t>
            </a:r>
            <a:r>
              <a:rPr lang="en-US" altLang="ko-KR" sz="1200" dirty="0">
                <a:solidFill>
                  <a:schemeClr val="tx1"/>
                </a:solidFill>
              </a:rPr>
              <a:t>(12)</a:t>
            </a:r>
            <a:r>
              <a:rPr lang="ko-KR" altLang="en-US" sz="1200" dirty="0">
                <a:solidFill>
                  <a:schemeClr val="tx1"/>
                </a:solidFill>
              </a:rPr>
              <a:t>와 견고하게 연결되어있는 제</a:t>
            </a:r>
            <a:r>
              <a:rPr lang="en-US" altLang="ko-KR" sz="1200" dirty="0">
                <a:solidFill>
                  <a:schemeClr val="tx1"/>
                </a:solidFill>
              </a:rPr>
              <a:t>1 </a:t>
            </a:r>
            <a:r>
              <a:rPr lang="ko-KR" altLang="en-US" sz="1200" dirty="0">
                <a:solidFill>
                  <a:schemeClr val="tx1"/>
                </a:solidFill>
              </a:rPr>
              <a:t>톱니바퀴 세그먼트</a:t>
            </a:r>
            <a:r>
              <a:rPr lang="en-US" altLang="ko-KR" sz="1200" dirty="0">
                <a:solidFill>
                  <a:schemeClr val="tx1"/>
                </a:solidFill>
              </a:rPr>
              <a:t>(18)</a:t>
            </a:r>
            <a:r>
              <a:rPr lang="ko-KR" altLang="en-US" sz="1200" dirty="0">
                <a:solidFill>
                  <a:schemeClr val="tx1"/>
                </a:solidFill>
              </a:rPr>
              <a:t>와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2 </a:t>
            </a:r>
            <a:r>
              <a:rPr lang="ko-KR" altLang="en-US" sz="1200" dirty="0">
                <a:solidFill>
                  <a:schemeClr val="tx1"/>
                </a:solidFill>
              </a:rPr>
              <a:t>고정장치</a:t>
            </a:r>
            <a:r>
              <a:rPr lang="en-US" altLang="ko-KR" sz="1200" dirty="0">
                <a:solidFill>
                  <a:schemeClr val="tx1"/>
                </a:solidFill>
              </a:rPr>
              <a:t>(14)</a:t>
            </a:r>
            <a:r>
              <a:rPr lang="ko-KR" altLang="en-US" sz="1200" dirty="0">
                <a:solidFill>
                  <a:schemeClr val="tx1"/>
                </a:solidFill>
              </a:rPr>
              <a:t>와 견고하게 연결되어 있는 제</a:t>
            </a:r>
            <a:r>
              <a:rPr lang="en-US" altLang="ko-KR" sz="1200" dirty="0">
                <a:solidFill>
                  <a:schemeClr val="tx1"/>
                </a:solidFill>
              </a:rPr>
              <a:t>1 </a:t>
            </a:r>
            <a:r>
              <a:rPr lang="ko-KR" altLang="en-US" sz="1200" dirty="0">
                <a:solidFill>
                  <a:schemeClr val="tx1"/>
                </a:solidFill>
              </a:rPr>
              <a:t>톱니바퀴 세그먼트</a:t>
            </a:r>
            <a:r>
              <a:rPr lang="en-US" altLang="ko-KR" sz="1200" dirty="0">
                <a:solidFill>
                  <a:schemeClr val="tx1"/>
                </a:solidFill>
              </a:rPr>
              <a:t>(18)</a:t>
            </a:r>
            <a:r>
              <a:rPr lang="ko-KR" altLang="en-US" sz="1200" dirty="0">
                <a:solidFill>
                  <a:schemeClr val="tx1"/>
                </a:solidFill>
              </a:rPr>
              <a:t>를 포함하고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상기 제</a:t>
            </a:r>
            <a:r>
              <a:rPr lang="en-US" altLang="ko-KR" sz="1200" dirty="0">
                <a:solidFill>
                  <a:schemeClr val="tx1"/>
                </a:solidFill>
              </a:rPr>
              <a:t>1 </a:t>
            </a:r>
            <a:r>
              <a:rPr lang="ko-KR" altLang="en-US" sz="1200" dirty="0">
                <a:solidFill>
                  <a:schemeClr val="tx1"/>
                </a:solidFill>
              </a:rPr>
              <a:t>톱니바퀴 세그먼트</a:t>
            </a:r>
            <a:r>
              <a:rPr lang="en-US" altLang="ko-KR" sz="1200" dirty="0">
                <a:solidFill>
                  <a:schemeClr val="tx1"/>
                </a:solidFill>
              </a:rPr>
              <a:t>(18)</a:t>
            </a:r>
            <a:r>
              <a:rPr lang="ko-KR" altLang="en-US" sz="1200" dirty="0">
                <a:solidFill>
                  <a:schemeClr val="tx1"/>
                </a:solidFill>
              </a:rPr>
              <a:t>와 제</a:t>
            </a:r>
            <a:r>
              <a:rPr lang="en-US" altLang="ko-KR" sz="1200" dirty="0">
                <a:solidFill>
                  <a:schemeClr val="tx1"/>
                </a:solidFill>
              </a:rPr>
              <a:t>2 </a:t>
            </a:r>
            <a:r>
              <a:rPr lang="ko-KR" altLang="en-US" sz="1200" dirty="0">
                <a:solidFill>
                  <a:schemeClr val="tx1"/>
                </a:solidFill>
              </a:rPr>
              <a:t>톱니바퀴 세그먼트</a:t>
            </a:r>
            <a:r>
              <a:rPr lang="en-US" altLang="ko-KR" sz="1200" dirty="0">
                <a:solidFill>
                  <a:schemeClr val="tx1"/>
                </a:solidFill>
              </a:rPr>
              <a:t>(20)</a:t>
            </a:r>
            <a:r>
              <a:rPr lang="ko-KR" altLang="en-US" sz="1200" dirty="0">
                <a:solidFill>
                  <a:schemeClr val="tx1"/>
                </a:solidFill>
              </a:rPr>
              <a:t>가 서로 결합되는 것을 특징으로 하는 수술대의 머리지지대</a:t>
            </a:r>
            <a:r>
              <a:rPr lang="en-US" altLang="ko-KR" sz="1200" dirty="0">
                <a:solidFill>
                  <a:schemeClr val="tx1"/>
                </a:solidFill>
              </a:rPr>
              <a:t>(10,100).</a:t>
            </a:r>
          </a:p>
          <a:p>
            <a:r>
              <a:rPr lang="en-US" altLang="ko-KR" sz="1200" b="1" dirty="0">
                <a:solidFill>
                  <a:schemeClr val="tx1"/>
                </a:solidFill>
              </a:rPr>
              <a:t>【</a:t>
            </a:r>
            <a:r>
              <a:rPr lang="ko-KR" altLang="en-US" sz="12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6】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5 </a:t>
            </a:r>
            <a:r>
              <a:rPr lang="ko-KR" altLang="en-US" sz="1200" dirty="0">
                <a:solidFill>
                  <a:schemeClr val="tx1"/>
                </a:solidFill>
              </a:rPr>
              <a:t>항에 있어서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상기 제</a:t>
            </a:r>
            <a:r>
              <a:rPr lang="en-US" altLang="ko-KR" sz="1200" dirty="0">
                <a:solidFill>
                  <a:schemeClr val="tx1"/>
                </a:solidFill>
              </a:rPr>
              <a:t>1 </a:t>
            </a:r>
            <a:r>
              <a:rPr lang="ko-KR" altLang="en-US" sz="1200" dirty="0">
                <a:solidFill>
                  <a:schemeClr val="tx1"/>
                </a:solidFill>
              </a:rPr>
              <a:t>톱니바퀴 세그먼트</a:t>
            </a:r>
            <a:r>
              <a:rPr lang="en-US" altLang="ko-KR" sz="1200" dirty="0">
                <a:solidFill>
                  <a:schemeClr val="tx1"/>
                </a:solidFill>
              </a:rPr>
              <a:t>(18)</a:t>
            </a:r>
            <a:r>
              <a:rPr lang="ko-KR" altLang="en-US" sz="1200" dirty="0">
                <a:solidFill>
                  <a:schemeClr val="tx1"/>
                </a:solidFill>
              </a:rPr>
              <a:t>와 제</a:t>
            </a:r>
            <a:r>
              <a:rPr lang="en-US" altLang="ko-KR" sz="1200" dirty="0">
                <a:solidFill>
                  <a:schemeClr val="tx1"/>
                </a:solidFill>
              </a:rPr>
              <a:t>1 </a:t>
            </a:r>
            <a:r>
              <a:rPr lang="ko-KR" altLang="en-US" sz="1200" dirty="0">
                <a:solidFill>
                  <a:schemeClr val="tx1"/>
                </a:solidFill>
              </a:rPr>
              <a:t>고정장치</a:t>
            </a:r>
            <a:r>
              <a:rPr lang="en-US" altLang="ko-KR" sz="1200" dirty="0">
                <a:solidFill>
                  <a:schemeClr val="tx1"/>
                </a:solidFill>
              </a:rPr>
              <a:t>(12) </a:t>
            </a:r>
            <a:r>
              <a:rPr lang="ko-KR" altLang="en-US" sz="1200" dirty="0">
                <a:solidFill>
                  <a:schemeClr val="tx1"/>
                </a:solidFill>
              </a:rPr>
              <a:t>및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또는 제</a:t>
            </a:r>
            <a:r>
              <a:rPr lang="en-US" altLang="ko-KR" sz="1200" dirty="0">
                <a:solidFill>
                  <a:schemeClr val="tx1"/>
                </a:solidFill>
              </a:rPr>
              <a:t>2 </a:t>
            </a:r>
            <a:r>
              <a:rPr lang="ko-KR" altLang="en-US" sz="1200" dirty="0">
                <a:solidFill>
                  <a:schemeClr val="tx1"/>
                </a:solidFill>
              </a:rPr>
              <a:t>톱니바퀴 세그먼트</a:t>
            </a:r>
            <a:r>
              <a:rPr lang="en-US" altLang="ko-KR" sz="1200" dirty="0">
                <a:solidFill>
                  <a:schemeClr val="tx1"/>
                </a:solidFill>
              </a:rPr>
              <a:t>(20)</a:t>
            </a:r>
            <a:r>
              <a:rPr lang="ko-KR" altLang="en-US" sz="1200" dirty="0">
                <a:solidFill>
                  <a:schemeClr val="tx1"/>
                </a:solidFill>
              </a:rPr>
              <a:t>와 제</a:t>
            </a:r>
            <a:r>
              <a:rPr lang="en-US" altLang="ko-KR" sz="1200" dirty="0">
                <a:solidFill>
                  <a:schemeClr val="tx1"/>
                </a:solidFill>
              </a:rPr>
              <a:t>2 </a:t>
            </a:r>
            <a:r>
              <a:rPr lang="ko-KR" altLang="en-US" sz="1200" dirty="0">
                <a:solidFill>
                  <a:schemeClr val="tx1"/>
                </a:solidFill>
              </a:rPr>
              <a:t>고정장치</a:t>
            </a:r>
            <a:r>
              <a:rPr lang="en-US" altLang="ko-KR" sz="1200" dirty="0">
                <a:solidFill>
                  <a:schemeClr val="tx1"/>
                </a:solidFill>
              </a:rPr>
              <a:t>(14)</a:t>
            </a:r>
            <a:r>
              <a:rPr lang="ko-KR" altLang="en-US" sz="1200" dirty="0">
                <a:solidFill>
                  <a:schemeClr val="tx1"/>
                </a:solidFill>
              </a:rPr>
              <a:t>가 각각 일체로 형성되는 것을 특징으로 하는 수술대의 머리지지대</a:t>
            </a:r>
            <a:r>
              <a:rPr lang="en-US" altLang="ko-KR" sz="1200" dirty="0">
                <a:solidFill>
                  <a:schemeClr val="tx1"/>
                </a:solidFill>
              </a:rPr>
              <a:t>(10,100</a:t>
            </a:r>
            <a:r>
              <a:rPr lang="en-US" altLang="ko-KR" sz="1200" dirty="0" smtClean="0">
                <a:solidFill>
                  <a:schemeClr val="tx1"/>
                </a:solidFill>
              </a:rPr>
              <a:t>).</a:t>
            </a:r>
          </a:p>
          <a:p>
            <a:r>
              <a:rPr lang="en-US" altLang="ko-KR" sz="1200" b="1" dirty="0">
                <a:solidFill>
                  <a:schemeClr val="tx1"/>
                </a:solidFill>
              </a:rPr>
              <a:t>【</a:t>
            </a:r>
            <a:r>
              <a:rPr lang="ko-KR" altLang="en-US" sz="12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7】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전술한 항 중 어느 한 항에 있어서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상기 제</a:t>
            </a:r>
            <a:r>
              <a:rPr lang="en-US" altLang="ko-KR" sz="1200" dirty="0">
                <a:solidFill>
                  <a:schemeClr val="tx1"/>
                </a:solidFill>
              </a:rPr>
              <a:t>1 </a:t>
            </a:r>
            <a:r>
              <a:rPr lang="ko-KR" altLang="en-US" sz="1200" dirty="0">
                <a:solidFill>
                  <a:schemeClr val="tx1"/>
                </a:solidFill>
              </a:rPr>
              <a:t>고정장치</a:t>
            </a:r>
            <a:r>
              <a:rPr lang="en-US" altLang="ko-KR" sz="1200" dirty="0">
                <a:solidFill>
                  <a:schemeClr val="tx1"/>
                </a:solidFill>
              </a:rPr>
              <a:t>(12)</a:t>
            </a:r>
            <a:r>
              <a:rPr lang="ko-KR" altLang="en-US" sz="1200" dirty="0">
                <a:solidFill>
                  <a:schemeClr val="tx1"/>
                </a:solidFill>
              </a:rPr>
              <a:t>는 머리지지대</a:t>
            </a:r>
            <a:r>
              <a:rPr lang="en-US" altLang="ko-KR" sz="1200" dirty="0">
                <a:solidFill>
                  <a:schemeClr val="tx1"/>
                </a:solidFill>
              </a:rPr>
              <a:t>(10,100)</a:t>
            </a:r>
            <a:r>
              <a:rPr lang="ko-KR" altLang="en-US" sz="1200" dirty="0">
                <a:solidFill>
                  <a:schemeClr val="tx1"/>
                </a:solidFill>
              </a:rPr>
              <a:t>의 중앙 평면에 대하여 제</a:t>
            </a:r>
            <a:r>
              <a:rPr lang="en-US" altLang="ko-KR" sz="1200" dirty="0">
                <a:solidFill>
                  <a:schemeClr val="tx1"/>
                </a:solidFill>
              </a:rPr>
              <a:t>2 </a:t>
            </a:r>
            <a:r>
              <a:rPr lang="ko-KR" altLang="en-US" sz="1200" dirty="0">
                <a:solidFill>
                  <a:schemeClr val="tx1"/>
                </a:solidFill>
              </a:rPr>
              <a:t>고정장치</a:t>
            </a:r>
            <a:r>
              <a:rPr lang="en-US" altLang="ko-KR" sz="1200" dirty="0">
                <a:solidFill>
                  <a:schemeClr val="tx1"/>
                </a:solidFill>
              </a:rPr>
              <a:t>(14)</a:t>
            </a:r>
            <a:r>
              <a:rPr lang="ko-KR" altLang="en-US" sz="1200" dirty="0">
                <a:solidFill>
                  <a:schemeClr val="tx1"/>
                </a:solidFill>
              </a:rPr>
              <a:t>와 거울대칭으로 형성되는 것을 특징으로 하는 수술대의 머리지지대</a:t>
            </a:r>
            <a:r>
              <a:rPr lang="en-US" altLang="ko-KR" sz="1200" dirty="0">
                <a:solidFill>
                  <a:schemeClr val="tx1"/>
                </a:solidFill>
              </a:rPr>
              <a:t>(10,100).</a:t>
            </a:r>
          </a:p>
          <a:p>
            <a:r>
              <a:rPr lang="en-US" altLang="ko-KR" sz="1200" b="1" dirty="0">
                <a:solidFill>
                  <a:schemeClr val="tx1"/>
                </a:solidFill>
              </a:rPr>
              <a:t>【</a:t>
            </a:r>
            <a:r>
              <a:rPr lang="ko-KR" altLang="en-US" sz="12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8】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전술한 항 중 어느 한 항에 있어서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상기 머리지지대</a:t>
            </a:r>
            <a:r>
              <a:rPr lang="en-US" altLang="ko-KR" sz="1200" dirty="0">
                <a:solidFill>
                  <a:schemeClr val="tx1"/>
                </a:solidFill>
              </a:rPr>
              <a:t>(10,100)</a:t>
            </a:r>
            <a:r>
              <a:rPr lang="ko-KR" altLang="en-US" sz="1200" dirty="0">
                <a:solidFill>
                  <a:schemeClr val="tx1"/>
                </a:solidFill>
              </a:rPr>
              <a:t>는 수술 대에서의 조임</a:t>
            </a:r>
            <a:r>
              <a:rPr lang="en-US" altLang="ko-KR" sz="1200" dirty="0">
                <a:solidFill>
                  <a:schemeClr val="tx1"/>
                </a:solidFill>
              </a:rPr>
              <a:t>(fastening)</a:t>
            </a:r>
            <a:r>
              <a:rPr lang="ko-KR" altLang="en-US" sz="1200" dirty="0">
                <a:solidFill>
                  <a:schemeClr val="tx1"/>
                </a:solidFill>
              </a:rPr>
              <a:t>을 위한 </a:t>
            </a:r>
            <a:r>
              <a:rPr lang="ko-KR" altLang="en-US" sz="1200" dirty="0" err="1">
                <a:solidFill>
                  <a:schemeClr val="tx1"/>
                </a:solidFill>
              </a:rPr>
              <a:t>조임장치</a:t>
            </a:r>
            <a:r>
              <a:rPr lang="en-US" altLang="ko-KR" sz="1200" dirty="0">
                <a:solidFill>
                  <a:schemeClr val="tx1"/>
                </a:solidFill>
              </a:rPr>
              <a:t>(26)</a:t>
            </a:r>
            <a:r>
              <a:rPr lang="ko-KR" altLang="en-US" sz="1200" dirty="0">
                <a:solidFill>
                  <a:schemeClr val="tx1"/>
                </a:solidFill>
              </a:rPr>
              <a:t>으로 구성된 것을 특징으로 하는 수술대의 머리지지대</a:t>
            </a:r>
            <a:r>
              <a:rPr lang="en-US" altLang="ko-KR" sz="1200" dirty="0">
                <a:solidFill>
                  <a:schemeClr val="tx1"/>
                </a:solidFill>
              </a:rPr>
              <a:t>(10,100).</a:t>
            </a:r>
          </a:p>
          <a:p>
            <a:r>
              <a:rPr lang="en-US" altLang="ko-KR" sz="1200" b="1" dirty="0">
                <a:solidFill>
                  <a:schemeClr val="tx1"/>
                </a:solidFill>
              </a:rPr>
              <a:t>【</a:t>
            </a:r>
            <a:r>
              <a:rPr lang="ko-KR" altLang="en-US" sz="12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9】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8 </a:t>
            </a:r>
            <a:r>
              <a:rPr lang="ko-KR" altLang="en-US" sz="1200" dirty="0">
                <a:solidFill>
                  <a:schemeClr val="tx1"/>
                </a:solidFill>
              </a:rPr>
              <a:t>항에 있어서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상기 결합장치</a:t>
            </a:r>
            <a:r>
              <a:rPr lang="en-US" altLang="ko-KR" sz="1200" dirty="0">
                <a:solidFill>
                  <a:schemeClr val="tx1"/>
                </a:solidFill>
              </a:rPr>
              <a:t>(16)</a:t>
            </a:r>
            <a:r>
              <a:rPr lang="ko-KR" altLang="en-US" sz="1200" dirty="0">
                <a:solidFill>
                  <a:schemeClr val="tx1"/>
                </a:solidFill>
              </a:rPr>
              <a:t>는 </a:t>
            </a:r>
            <a:r>
              <a:rPr lang="ko-KR" altLang="en-US" sz="1200" dirty="0" err="1">
                <a:solidFill>
                  <a:schemeClr val="tx1"/>
                </a:solidFill>
              </a:rPr>
              <a:t>조임장치</a:t>
            </a:r>
            <a:r>
              <a:rPr lang="en-US" altLang="ko-KR" sz="1200" dirty="0">
                <a:solidFill>
                  <a:schemeClr val="tx1"/>
                </a:solidFill>
              </a:rPr>
              <a:t>(26)</a:t>
            </a:r>
            <a:r>
              <a:rPr lang="ko-KR" altLang="en-US" sz="1200" dirty="0">
                <a:solidFill>
                  <a:schemeClr val="tx1"/>
                </a:solidFill>
              </a:rPr>
              <a:t>와 지지장치</a:t>
            </a:r>
            <a:r>
              <a:rPr lang="en-US" altLang="ko-KR" sz="1200" dirty="0">
                <a:solidFill>
                  <a:schemeClr val="tx1"/>
                </a:solidFill>
              </a:rPr>
              <a:t>(33) </a:t>
            </a:r>
            <a:r>
              <a:rPr lang="ko-KR" altLang="en-US" sz="1200" dirty="0">
                <a:solidFill>
                  <a:schemeClr val="tx1"/>
                </a:solidFill>
              </a:rPr>
              <a:t>사이에 구비되는 것을 특징으로 하는 수술대의 머리지지대</a:t>
            </a:r>
            <a:r>
              <a:rPr lang="en-US" altLang="ko-KR" sz="1200" dirty="0">
                <a:solidFill>
                  <a:schemeClr val="tx1"/>
                </a:solidFill>
              </a:rPr>
              <a:t>(10,100</a:t>
            </a:r>
            <a:r>
              <a:rPr lang="en-US" altLang="ko-KR" sz="1200" dirty="0" smtClean="0">
                <a:solidFill>
                  <a:schemeClr val="tx1"/>
                </a:solidFill>
              </a:rPr>
              <a:t>).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9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9.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실습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계속</a:t>
            </a: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)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16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11560" y="1124744"/>
            <a:ext cx="3888431" cy="518457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altLang="ko-KR" sz="1000" b="1" dirty="0" smtClean="0">
                <a:solidFill>
                  <a:schemeClr val="tx1"/>
                </a:solidFill>
              </a:rPr>
              <a:t>【</a:t>
            </a:r>
            <a:r>
              <a:rPr lang="ko-KR" altLang="en-US" sz="10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10】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 smtClean="0">
                <a:solidFill>
                  <a:schemeClr val="tx1"/>
                </a:solidFill>
              </a:rPr>
              <a:t>6 </a:t>
            </a:r>
            <a:r>
              <a:rPr lang="ko-KR" altLang="en-US" sz="1000" dirty="0" smtClean="0">
                <a:solidFill>
                  <a:schemeClr val="tx1"/>
                </a:solidFill>
              </a:rPr>
              <a:t>항 또는 제</a:t>
            </a:r>
            <a:r>
              <a:rPr lang="en-US" altLang="ko-KR" sz="1000" dirty="0" smtClean="0">
                <a:solidFill>
                  <a:schemeClr val="tx1"/>
                </a:solidFill>
              </a:rPr>
              <a:t>9 </a:t>
            </a:r>
            <a:r>
              <a:rPr lang="ko-KR" altLang="en-US" sz="1000" dirty="0" smtClean="0">
                <a:solidFill>
                  <a:schemeClr val="tx1"/>
                </a:solidFill>
              </a:rPr>
              <a:t>항에 </a:t>
            </a:r>
            <a:r>
              <a:rPr lang="ko-KR" altLang="en-US" sz="1000" dirty="0">
                <a:solidFill>
                  <a:schemeClr val="tx1"/>
                </a:solidFill>
              </a:rPr>
              <a:t>있어서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상기 두 개의 고정장치들</a:t>
            </a:r>
            <a:r>
              <a:rPr lang="en-US" altLang="ko-KR" sz="1000" dirty="0">
                <a:solidFill>
                  <a:schemeClr val="tx1"/>
                </a:solidFill>
              </a:rPr>
              <a:t>(12,14)</a:t>
            </a:r>
            <a:r>
              <a:rPr lang="ko-KR" altLang="en-US" sz="1000" dirty="0">
                <a:solidFill>
                  <a:schemeClr val="tx1"/>
                </a:solidFill>
              </a:rPr>
              <a:t>을 연결하기 위한 제</a:t>
            </a:r>
            <a:r>
              <a:rPr lang="en-US" altLang="ko-KR" sz="1000" dirty="0">
                <a:solidFill>
                  <a:schemeClr val="tx1"/>
                </a:solidFill>
              </a:rPr>
              <a:t>1 </a:t>
            </a:r>
            <a:r>
              <a:rPr lang="ko-KR" altLang="en-US" sz="1000" dirty="0">
                <a:solidFill>
                  <a:schemeClr val="tx1"/>
                </a:solidFill>
              </a:rPr>
              <a:t>벨트</a:t>
            </a:r>
            <a:r>
              <a:rPr lang="en-US" altLang="ko-KR" sz="1000" dirty="0">
                <a:solidFill>
                  <a:schemeClr val="tx1"/>
                </a:solidFill>
              </a:rPr>
              <a:t>(20)</a:t>
            </a:r>
            <a:r>
              <a:rPr lang="ko-KR" altLang="en-US" sz="1000" dirty="0">
                <a:solidFill>
                  <a:schemeClr val="tx1"/>
                </a:solidFill>
              </a:rPr>
              <a:t>가 제공되는 것을 특징으로 하는 수술대의 머리지지대</a:t>
            </a:r>
            <a:r>
              <a:rPr lang="en-US" altLang="ko-KR" sz="1000" dirty="0">
                <a:solidFill>
                  <a:schemeClr val="tx1"/>
                </a:solidFill>
              </a:rPr>
              <a:t>(10,100).</a:t>
            </a:r>
          </a:p>
          <a:p>
            <a:r>
              <a:rPr lang="en-US" altLang="ko-KR" sz="1000" b="1" dirty="0">
                <a:solidFill>
                  <a:schemeClr val="tx1"/>
                </a:solidFill>
              </a:rPr>
              <a:t>【</a:t>
            </a:r>
            <a:r>
              <a:rPr lang="ko-KR" altLang="en-US" sz="10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11】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 smtClean="0">
                <a:solidFill>
                  <a:schemeClr val="tx1"/>
                </a:solidFill>
              </a:rPr>
              <a:t>11 </a:t>
            </a:r>
            <a:r>
              <a:rPr lang="ko-KR" altLang="en-US" sz="1000" dirty="0">
                <a:solidFill>
                  <a:schemeClr val="tx1"/>
                </a:solidFill>
              </a:rPr>
              <a:t>항에 있어서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상기 두 개의 고정장치들</a:t>
            </a:r>
            <a:r>
              <a:rPr lang="en-US" altLang="ko-KR" sz="1000" dirty="0">
                <a:solidFill>
                  <a:schemeClr val="tx1"/>
                </a:solidFill>
              </a:rPr>
              <a:t>(12,14)</a:t>
            </a:r>
            <a:r>
              <a:rPr lang="ko-KR" altLang="en-US" sz="1000" dirty="0">
                <a:solidFill>
                  <a:schemeClr val="tx1"/>
                </a:solidFill>
              </a:rPr>
              <a:t>을 연결하기 위한 제</a:t>
            </a:r>
            <a:r>
              <a:rPr lang="en-US" altLang="ko-KR" sz="1000" dirty="0">
                <a:solidFill>
                  <a:schemeClr val="tx1"/>
                </a:solidFill>
              </a:rPr>
              <a:t>2 </a:t>
            </a:r>
            <a:r>
              <a:rPr lang="ko-KR" altLang="en-US" sz="1000" dirty="0">
                <a:solidFill>
                  <a:schemeClr val="tx1"/>
                </a:solidFill>
              </a:rPr>
              <a:t>벨트</a:t>
            </a:r>
            <a:r>
              <a:rPr lang="en-US" altLang="ko-KR" sz="1000" dirty="0">
                <a:solidFill>
                  <a:schemeClr val="tx1"/>
                </a:solidFill>
              </a:rPr>
              <a:t>(42)</a:t>
            </a:r>
            <a:r>
              <a:rPr lang="ko-KR" altLang="en-US" sz="1000" dirty="0">
                <a:solidFill>
                  <a:schemeClr val="tx1"/>
                </a:solidFill>
              </a:rPr>
              <a:t>가 제공되고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상기 제</a:t>
            </a:r>
            <a:r>
              <a:rPr lang="en-US" altLang="ko-KR" sz="1000" dirty="0">
                <a:solidFill>
                  <a:schemeClr val="tx1"/>
                </a:solidFill>
              </a:rPr>
              <a:t>1 </a:t>
            </a:r>
            <a:r>
              <a:rPr lang="ko-KR" altLang="en-US" sz="1000" dirty="0">
                <a:solidFill>
                  <a:schemeClr val="tx1"/>
                </a:solidFill>
              </a:rPr>
              <a:t>벨트</a:t>
            </a:r>
            <a:r>
              <a:rPr lang="en-US" altLang="ko-KR" sz="1000" dirty="0">
                <a:solidFill>
                  <a:schemeClr val="tx1"/>
                </a:solidFill>
              </a:rPr>
              <a:t>(40)</a:t>
            </a:r>
            <a:r>
              <a:rPr lang="ko-KR" altLang="en-US" sz="1000" dirty="0">
                <a:solidFill>
                  <a:schemeClr val="tx1"/>
                </a:solidFill>
              </a:rPr>
              <a:t>는 환자의 이마를 감싸고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2 </a:t>
            </a:r>
            <a:r>
              <a:rPr lang="ko-KR" altLang="en-US" sz="1000" dirty="0">
                <a:solidFill>
                  <a:schemeClr val="tx1"/>
                </a:solidFill>
              </a:rPr>
              <a:t>벨트</a:t>
            </a:r>
            <a:r>
              <a:rPr lang="en-US" altLang="ko-KR" sz="1000" dirty="0">
                <a:solidFill>
                  <a:schemeClr val="tx1"/>
                </a:solidFill>
              </a:rPr>
              <a:t>(42)</a:t>
            </a:r>
            <a:r>
              <a:rPr lang="ko-KR" altLang="en-US" sz="1000" dirty="0">
                <a:solidFill>
                  <a:schemeClr val="tx1"/>
                </a:solidFill>
              </a:rPr>
              <a:t>는 환자의 턱을 감싸는 것을 특징으로 하는 수술대의 머리지지대</a:t>
            </a:r>
            <a:r>
              <a:rPr lang="en-US" altLang="ko-KR" sz="1000" dirty="0">
                <a:solidFill>
                  <a:schemeClr val="tx1"/>
                </a:solidFill>
              </a:rPr>
              <a:t>(10,100).</a:t>
            </a:r>
          </a:p>
          <a:p>
            <a:r>
              <a:rPr lang="en-US" altLang="ko-KR" sz="1000" b="1" dirty="0">
                <a:solidFill>
                  <a:schemeClr val="tx1"/>
                </a:solidFill>
              </a:rPr>
              <a:t>【</a:t>
            </a:r>
            <a:r>
              <a:rPr lang="ko-KR" altLang="en-US" sz="10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12】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10 </a:t>
            </a:r>
            <a:r>
              <a:rPr lang="ko-KR" altLang="en-US" sz="1000" dirty="0">
                <a:solidFill>
                  <a:schemeClr val="tx1"/>
                </a:solidFill>
              </a:rPr>
              <a:t>항 내지 제</a:t>
            </a:r>
            <a:r>
              <a:rPr lang="en-US" altLang="ko-KR" sz="1000" dirty="0">
                <a:solidFill>
                  <a:schemeClr val="tx1"/>
                </a:solidFill>
              </a:rPr>
              <a:t>11 </a:t>
            </a:r>
            <a:r>
              <a:rPr lang="ko-KR" altLang="en-US" sz="1000" dirty="0">
                <a:solidFill>
                  <a:schemeClr val="tx1"/>
                </a:solidFill>
              </a:rPr>
              <a:t>항에 있어서</a:t>
            </a:r>
            <a:r>
              <a:rPr lang="en-US" altLang="ko-KR" sz="1000" dirty="0">
                <a:solidFill>
                  <a:schemeClr val="tx1"/>
                </a:solidFill>
              </a:rPr>
              <a:t>,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1 </a:t>
            </a:r>
            <a:r>
              <a:rPr lang="ko-KR" altLang="en-US" sz="1000" dirty="0">
                <a:solidFill>
                  <a:schemeClr val="tx1"/>
                </a:solidFill>
              </a:rPr>
              <a:t>벨트</a:t>
            </a:r>
            <a:r>
              <a:rPr lang="en-US" altLang="ko-KR" sz="1000" dirty="0">
                <a:solidFill>
                  <a:schemeClr val="tx1"/>
                </a:solidFill>
              </a:rPr>
              <a:t>(40) </a:t>
            </a:r>
            <a:r>
              <a:rPr lang="ko-KR" altLang="en-US" sz="1000" dirty="0">
                <a:solidFill>
                  <a:schemeClr val="tx1"/>
                </a:solidFill>
              </a:rPr>
              <a:t>및</a:t>
            </a:r>
            <a:r>
              <a:rPr lang="en-US" altLang="ko-KR" sz="1000" dirty="0">
                <a:solidFill>
                  <a:schemeClr val="tx1"/>
                </a:solidFill>
              </a:rPr>
              <a:t>/ </a:t>
            </a:r>
            <a:r>
              <a:rPr lang="ko-KR" altLang="en-US" sz="1000" dirty="0">
                <a:solidFill>
                  <a:schemeClr val="tx1"/>
                </a:solidFill>
              </a:rPr>
              <a:t>또는 제</a:t>
            </a:r>
            <a:r>
              <a:rPr lang="en-US" altLang="ko-KR" sz="1000" dirty="0">
                <a:solidFill>
                  <a:schemeClr val="tx1"/>
                </a:solidFill>
              </a:rPr>
              <a:t>2 </a:t>
            </a:r>
            <a:r>
              <a:rPr lang="ko-KR" altLang="en-US" sz="1000" dirty="0">
                <a:solidFill>
                  <a:schemeClr val="tx1"/>
                </a:solidFill>
              </a:rPr>
              <a:t>벨트</a:t>
            </a:r>
            <a:r>
              <a:rPr lang="en-US" altLang="ko-KR" sz="1000" dirty="0">
                <a:solidFill>
                  <a:schemeClr val="tx1"/>
                </a:solidFill>
              </a:rPr>
              <a:t>(42)</a:t>
            </a:r>
            <a:r>
              <a:rPr lang="ko-KR" altLang="en-US" sz="1000" dirty="0">
                <a:solidFill>
                  <a:schemeClr val="tx1"/>
                </a:solidFill>
              </a:rPr>
              <a:t>가 신축성 재료로 형성되는 것을 특징으로 하는 수술대의 머리지지대</a:t>
            </a:r>
            <a:r>
              <a:rPr lang="en-US" altLang="ko-KR" sz="1000" dirty="0">
                <a:solidFill>
                  <a:schemeClr val="tx1"/>
                </a:solidFill>
              </a:rPr>
              <a:t>(10,100).</a:t>
            </a:r>
          </a:p>
          <a:p>
            <a:r>
              <a:rPr lang="en-US" altLang="ko-KR" sz="1000" b="1" dirty="0">
                <a:solidFill>
                  <a:schemeClr val="tx1"/>
                </a:solidFill>
              </a:rPr>
              <a:t>【</a:t>
            </a:r>
            <a:r>
              <a:rPr lang="ko-KR" altLang="en-US" sz="10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13】</a:t>
            </a:r>
          </a:p>
          <a:p>
            <a:r>
              <a:rPr lang="ko-KR" altLang="en-US" sz="1000" dirty="0" smtClean="0">
                <a:solidFill>
                  <a:schemeClr val="tx1"/>
                </a:solidFill>
              </a:rPr>
              <a:t>제</a:t>
            </a:r>
            <a:r>
              <a:rPr lang="en-US" altLang="ko-KR" sz="1000" dirty="0" smtClean="0">
                <a:solidFill>
                  <a:schemeClr val="tx1"/>
                </a:solidFill>
              </a:rPr>
              <a:t>10 </a:t>
            </a:r>
            <a:r>
              <a:rPr lang="ko-KR" altLang="en-US" sz="1000" dirty="0" smtClean="0">
                <a:solidFill>
                  <a:schemeClr val="tx1"/>
                </a:solidFill>
              </a:rPr>
              <a:t>항 </a:t>
            </a:r>
            <a:r>
              <a:rPr lang="ko-KR" altLang="en-US" sz="1000" dirty="0">
                <a:solidFill>
                  <a:schemeClr val="tx1"/>
                </a:solidFill>
              </a:rPr>
              <a:t>내지 제</a:t>
            </a:r>
            <a:r>
              <a:rPr lang="en-US" altLang="ko-KR" sz="1000" dirty="0">
                <a:solidFill>
                  <a:schemeClr val="tx1"/>
                </a:solidFill>
              </a:rPr>
              <a:t>12 </a:t>
            </a:r>
            <a:r>
              <a:rPr lang="ko-KR" altLang="en-US" sz="1000" dirty="0">
                <a:solidFill>
                  <a:schemeClr val="tx1"/>
                </a:solidFill>
              </a:rPr>
              <a:t>항 중 어느 한 항에 있어서</a:t>
            </a:r>
            <a:r>
              <a:rPr lang="en-US" altLang="ko-KR" sz="1000" dirty="0">
                <a:solidFill>
                  <a:schemeClr val="tx1"/>
                </a:solidFill>
              </a:rPr>
              <a:t>,</a:t>
            </a:r>
          </a:p>
          <a:p>
            <a:r>
              <a:rPr lang="ko-KR" altLang="en-US" sz="1000" dirty="0" smtClean="0">
                <a:solidFill>
                  <a:schemeClr val="tx1"/>
                </a:solidFill>
              </a:rPr>
              <a:t>상기 결합장치</a:t>
            </a:r>
            <a:r>
              <a:rPr lang="en-US" altLang="ko-KR" sz="1000" dirty="0" smtClean="0">
                <a:solidFill>
                  <a:schemeClr val="tx1"/>
                </a:solidFill>
              </a:rPr>
              <a:t>(16)</a:t>
            </a:r>
            <a:r>
              <a:rPr lang="ko-KR" altLang="en-US" sz="1000" dirty="0" smtClean="0">
                <a:solidFill>
                  <a:schemeClr val="tx1"/>
                </a:solidFill>
              </a:rPr>
              <a:t>는 고정장치</a:t>
            </a:r>
            <a:r>
              <a:rPr lang="en-US" altLang="ko-KR" sz="1000" dirty="0" smtClean="0">
                <a:solidFill>
                  <a:schemeClr val="tx1"/>
                </a:solidFill>
              </a:rPr>
              <a:t>(12,14)</a:t>
            </a:r>
            <a:r>
              <a:rPr lang="ko-KR" altLang="en-US" sz="1000" dirty="0" smtClean="0">
                <a:solidFill>
                  <a:schemeClr val="tx1"/>
                </a:solidFill>
              </a:rPr>
              <a:t>의 제</a:t>
            </a:r>
            <a:r>
              <a:rPr lang="en-US" altLang="ko-KR" sz="1000" dirty="0" smtClean="0">
                <a:solidFill>
                  <a:schemeClr val="tx1"/>
                </a:solidFill>
              </a:rPr>
              <a:t>1 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단부에</a:t>
            </a:r>
            <a:r>
              <a:rPr lang="ko-KR" altLang="en-US" sz="1000" dirty="0" smtClean="0">
                <a:solidFill>
                  <a:schemeClr val="tx1"/>
                </a:solidFill>
              </a:rPr>
              <a:t> 마련되고</a:t>
            </a:r>
            <a:r>
              <a:rPr lang="en-US" altLang="ko-KR" sz="1000" dirty="0" smtClean="0">
                <a:solidFill>
                  <a:schemeClr val="tx1"/>
                </a:solidFill>
              </a:rPr>
              <a:t>, </a:t>
            </a:r>
            <a:r>
              <a:rPr lang="ko-KR" altLang="en-US" sz="1000" dirty="0" smtClean="0">
                <a:solidFill>
                  <a:schemeClr val="tx1"/>
                </a:solidFill>
              </a:rPr>
              <a:t>제</a:t>
            </a:r>
            <a:r>
              <a:rPr lang="en-US" altLang="ko-KR" sz="1000" dirty="0" smtClean="0">
                <a:solidFill>
                  <a:schemeClr val="tx1"/>
                </a:solidFill>
              </a:rPr>
              <a:t>1 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벨드</a:t>
            </a:r>
            <a:r>
              <a:rPr lang="en-US" altLang="ko-KR" sz="1000" dirty="0" smtClean="0">
                <a:solidFill>
                  <a:schemeClr val="tx1"/>
                </a:solidFill>
              </a:rPr>
              <a:t>(40) </a:t>
            </a:r>
            <a:r>
              <a:rPr lang="ko-KR" altLang="en-US" sz="1000" dirty="0" smtClean="0">
                <a:solidFill>
                  <a:schemeClr val="tx1"/>
                </a:solidFill>
              </a:rPr>
              <a:t>및</a:t>
            </a:r>
            <a:r>
              <a:rPr lang="en-US" altLang="ko-KR" sz="1000" dirty="0" smtClean="0">
                <a:solidFill>
                  <a:schemeClr val="tx1"/>
                </a:solidFill>
              </a:rPr>
              <a:t>/</a:t>
            </a:r>
            <a:r>
              <a:rPr lang="ko-KR" altLang="en-US" sz="1000" dirty="0" smtClean="0">
                <a:solidFill>
                  <a:schemeClr val="tx1"/>
                </a:solidFill>
              </a:rPr>
              <a:t>또는 제</a:t>
            </a:r>
            <a:r>
              <a:rPr lang="en-US" altLang="ko-KR" sz="1000" dirty="0" smtClean="0">
                <a:solidFill>
                  <a:schemeClr val="tx1"/>
                </a:solidFill>
              </a:rPr>
              <a:t>2 </a:t>
            </a:r>
            <a:r>
              <a:rPr lang="ko-KR" altLang="en-US" sz="1000" dirty="0" smtClean="0">
                <a:solidFill>
                  <a:schemeClr val="tx1"/>
                </a:solidFill>
              </a:rPr>
              <a:t>벨트</a:t>
            </a:r>
            <a:r>
              <a:rPr lang="en-US" altLang="ko-KR" sz="1000" dirty="0" smtClean="0">
                <a:solidFill>
                  <a:schemeClr val="tx1"/>
                </a:solidFill>
              </a:rPr>
              <a:t>(42)</a:t>
            </a:r>
            <a:r>
              <a:rPr lang="ko-KR" altLang="en-US" sz="1000" dirty="0" smtClean="0">
                <a:solidFill>
                  <a:schemeClr val="tx1"/>
                </a:solidFill>
              </a:rPr>
              <a:t>는 상기 제</a:t>
            </a:r>
            <a:r>
              <a:rPr lang="en-US" altLang="ko-KR" sz="1000" dirty="0" smtClean="0">
                <a:solidFill>
                  <a:schemeClr val="tx1"/>
                </a:solidFill>
              </a:rPr>
              <a:t>1 </a:t>
            </a:r>
            <a:r>
              <a:rPr lang="ko-KR" altLang="en-US" sz="1000" dirty="0" smtClean="0">
                <a:solidFill>
                  <a:schemeClr val="tx1"/>
                </a:solidFill>
              </a:rPr>
              <a:t>고정장치</a:t>
            </a:r>
            <a:r>
              <a:rPr lang="en-US" altLang="ko-KR" sz="1000" dirty="0" smtClean="0">
                <a:solidFill>
                  <a:schemeClr val="tx1"/>
                </a:solidFill>
              </a:rPr>
              <a:t>(12)</a:t>
            </a:r>
            <a:r>
              <a:rPr lang="ko-KR" altLang="en-US" sz="1000" dirty="0" smtClean="0">
                <a:solidFill>
                  <a:schemeClr val="tx1"/>
                </a:solidFill>
              </a:rPr>
              <a:t>의 제</a:t>
            </a:r>
            <a:r>
              <a:rPr lang="en-US" altLang="ko-KR" sz="1000" dirty="0" smtClean="0">
                <a:solidFill>
                  <a:schemeClr val="tx1"/>
                </a:solidFill>
              </a:rPr>
              <a:t>1 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단부와</a:t>
            </a:r>
            <a:r>
              <a:rPr lang="ko-KR" altLang="en-US" sz="1000" dirty="0" smtClean="0">
                <a:solidFill>
                  <a:schemeClr val="tx1"/>
                </a:solidFill>
              </a:rPr>
              <a:t> 마주하는 제</a:t>
            </a:r>
            <a:r>
              <a:rPr lang="en-US" altLang="ko-KR" sz="1000" dirty="0" smtClean="0">
                <a:solidFill>
                  <a:schemeClr val="tx1"/>
                </a:solidFill>
              </a:rPr>
              <a:t>1 </a:t>
            </a:r>
            <a:r>
              <a:rPr lang="ko-KR" altLang="en-US" sz="1000" dirty="0" smtClean="0">
                <a:solidFill>
                  <a:schemeClr val="tx1"/>
                </a:solidFill>
              </a:rPr>
              <a:t>고정장치</a:t>
            </a:r>
            <a:r>
              <a:rPr lang="en-US" altLang="ko-KR" sz="1000" dirty="0" smtClean="0">
                <a:solidFill>
                  <a:schemeClr val="tx1"/>
                </a:solidFill>
              </a:rPr>
              <a:t>(12)</a:t>
            </a:r>
            <a:r>
              <a:rPr lang="ko-KR" altLang="en-US" sz="1000" dirty="0" smtClean="0">
                <a:solidFill>
                  <a:schemeClr val="tx1"/>
                </a:solidFill>
              </a:rPr>
              <a:t>의 제</a:t>
            </a:r>
            <a:r>
              <a:rPr lang="en-US" altLang="ko-KR" sz="1000" dirty="0" smtClean="0">
                <a:solidFill>
                  <a:schemeClr val="tx1"/>
                </a:solidFill>
              </a:rPr>
              <a:t>2 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단부와</a:t>
            </a:r>
            <a:r>
              <a:rPr lang="en-US" altLang="ko-KR" sz="1000" dirty="0" smtClean="0">
                <a:solidFill>
                  <a:schemeClr val="tx1"/>
                </a:solidFill>
              </a:rPr>
              <a:t>, </a:t>
            </a:r>
            <a:r>
              <a:rPr lang="ko-KR" altLang="en-US" sz="1000" dirty="0" smtClean="0">
                <a:solidFill>
                  <a:schemeClr val="tx1"/>
                </a:solidFill>
              </a:rPr>
              <a:t>상기 제</a:t>
            </a:r>
            <a:r>
              <a:rPr lang="en-US" altLang="ko-KR" sz="1000" dirty="0" smtClean="0">
                <a:solidFill>
                  <a:schemeClr val="tx1"/>
                </a:solidFill>
              </a:rPr>
              <a:t>2 </a:t>
            </a:r>
            <a:r>
              <a:rPr lang="ko-KR" altLang="en-US" sz="1000" dirty="0" smtClean="0">
                <a:solidFill>
                  <a:schemeClr val="tx1"/>
                </a:solidFill>
              </a:rPr>
              <a:t>고정장치</a:t>
            </a:r>
            <a:r>
              <a:rPr lang="en-US" altLang="ko-KR" sz="1000" dirty="0" smtClean="0">
                <a:solidFill>
                  <a:schemeClr val="tx1"/>
                </a:solidFill>
              </a:rPr>
              <a:t>(14)</a:t>
            </a:r>
            <a:r>
              <a:rPr lang="ko-KR" altLang="en-US" sz="1000" dirty="0" smtClean="0">
                <a:solidFill>
                  <a:schemeClr val="tx1"/>
                </a:solidFill>
              </a:rPr>
              <a:t>의 제</a:t>
            </a:r>
            <a:r>
              <a:rPr lang="en-US" altLang="ko-KR" sz="1000" dirty="0" smtClean="0">
                <a:solidFill>
                  <a:schemeClr val="tx1"/>
                </a:solidFill>
              </a:rPr>
              <a:t>1 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단부와</a:t>
            </a:r>
            <a:r>
              <a:rPr lang="ko-KR" altLang="en-US" sz="1000" dirty="0" smtClean="0">
                <a:solidFill>
                  <a:schemeClr val="tx1"/>
                </a:solidFill>
              </a:rPr>
              <a:t> 마주하는 제</a:t>
            </a:r>
            <a:r>
              <a:rPr lang="en-US" altLang="ko-KR" sz="1000" dirty="0" smtClean="0">
                <a:solidFill>
                  <a:schemeClr val="tx1"/>
                </a:solidFill>
              </a:rPr>
              <a:t>2 </a:t>
            </a:r>
            <a:r>
              <a:rPr lang="ko-KR" altLang="en-US" sz="1000" dirty="0" smtClean="0">
                <a:solidFill>
                  <a:schemeClr val="tx1"/>
                </a:solidFill>
              </a:rPr>
              <a:t>고정장치</a:t>
            </a:r>
            <a:r>
              <a:rPr lang="en-US" altLang="ko-KR" sz="1000" dirty="0" smtClean="0">
                <a:solidFill>
                  <a:schemeClr val="tx1"/>
                </a:solidFill>
              </a:rPr>
              <a:t>(14)</a:t>
            </a:r>
            <a:r>
              <a:rPr lang="ko-KR" altLang="en-US" sz="1000" dirty="0" smtClean="0">
                <a:solidFill>
                  <a:schemeClr val="tx1"/>
                </a:solidFill>
              </a:rPr>
              <a:t>의 제</a:t>
            </a:r>
            <a:r>
              <a:rPr lang="en-US" altLang="ko-KR" sz="1000" dirty="0" smtClean="0">
                <a:solidFill>
                  <a:schemeClr val="tx1"/>
                </a:solidFill>
              </a:rPr>
              <a:t>2 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단부에</a:t>
            </a:r>
            <a:r>
              <a:rPr lang="ko-KR" altLang="en-US" sz="1000" dirty="0" smtClean="0">
                <a:solidFill>
                  <a:schemeClr val="tx1"/>
                </a:solidFill>
              </a:rPr>
              <a:t> 마련되는 것을 특징으로 하는 수술대의 머리지지대</a:t>
            </a:r>
            <a:r>
              <a:rPr lang="en-US" altLang="ko-KR" sz="1000" dirty="0" smtClean="0">
                <a:solidFill>
                  <a:schemeClr val="tx1"/>
                </a:solidFill>
              </a:rPr>
              <a:t>(10,100).</a:t>
            </a:r>
          </a:p>
          <a:p>
            <a:r>
              <a:rPr lang="en-US" altLang="ko-KR" sz="1000" b="1" dirty="0" smtClean="0">
                <a:solidFill>
                  <a:schemeClr val="tx1"/>
                </a:solidFill>
              </a:rPr>
              <a:t>【</a:t>
            </a:r>
            <a:r>
              <a:rPr lang="ko-KR" altLang="en-US" sz="10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14】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전술한 항 중 어느 한 항</a:t>
            </a:r>
            <a:r>
              <a:rPr lang="ko-KR" altLang="en-US" sz="1000" dirty="0" smtClean="0">
                <a:solidFill>
                  <a:schemeClr val="tx1"/>
                </a:solidFill>
              </a:rPr>
              <a:t>에 </a:t>
            </a:r>
            <a:r>
              <a:rPr lang="ko-KR" altLang="en-US" sz="1000" dirty="0">
                <a:solidFill>
                  <a:schemeClr val="tx1"/>
                </a:solidFill>
              </a:rPr>
              <a:t>있어서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상기 고정장치</a:t>
            </a:r>
            <a:r>
              <a:rPr lang="en-US" altLang="ko-KR" sz="1000" dirty="0">
                <a:solidFill>
                  <a:schemeClr val="tx1"/>
                </a:solidFill>
              </a:rPr>
              <a:t>(12,14)</a:t>
            </a:r>
            <a:r>
              <a:rPr lang="ko-KR" altLang="en-US" sz="1000" dirty="0">
                <a:solidFill>
                  <a:schemeClr val="tx1"/>
                </a:solidFill>
              </a:rPr>
              <a:t>는 폐쇄 상태에서 환자 머리를 적어도 세 측면을 감싸고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상기 고정장치</a:t>
            </a:r>
            <a:r>
              <a:rPr lang="en-US" altLang="ko-KR" sz="1000" dirty="0">
                <a:solidFill>
                  <a:schemeClr val="tx1"/>
                </a:solidFill>
              </a:rPr>
              <a:t>(12,14)</a:t>
            </a:r>
            <a:r>
              <a:rPr lang="ko-KR" altLang="en-US" sz="1000" dirty="0">
                <a:solidFill>
                  <a:schemeClr val="tx1"/>
                </a:solidFill>
              </a:rPr>
              <a:t>는 개방 상태에서 머리를 감싸지 않는 것을 특징으로 하는 수술대의 머리지지대</a:t>
            </a:r>
            <a:r>
              <a:rPr lang="en-US" altLang="ko-KR" sz="1000" dirty="0">
                <a:solidFill>
                  <a:schemeClr val="tx1"/>
                </a:solidFill>
              </a:rPr>
              <a:t>(10,100).</a:t>
            </a:r>
          </a:p>
          <a:p>
            <a:r>
              <a:rPr lang="en-US" altLang="ko-KR" sz="1000" b="1" dirty="0">
                <a:solidFill>
                  <a:schemeClr val="tx1"/>
                </a:solidFill>
              </a:rPr>
              <a:t>【</a:t>
            </a:r>
            <a:r>
              <a:rPr lang="ko-KR" altLang="en-US" sz="1000" b="1" dirty="0" err="1">
                <a:solidFill>
                  <a:schemeClr val="tx1"/>
                </a:solidFill>
              </a:rPr>
              <a:t>청구항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15】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14 </a:t>
            </a:r>
            <a:r>
              <a:rPr lang="ko-KR" altLang="en-US" sz="1000" dirty="0">
                <a:solidFill>
                  <a:schemeClr val="tx1"/>
                </a:solidFill>
              </a:rPr>
              <a:t>항에 있어서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상기 결합장치</a:t>
            </a:r>
            <a:r>
              <a:rPr lang="en-US" altLang="ko-KR" sz="1000" dirty="0">
                <a:solidFill>
                  <a:schemeClr val="tx1"/>
                </a:solidFill>
              </a:rPr>
              <a:t>(16)</a:t>
            </a:r>
            <a:r>
              <a:rPr lang="ko-KR" altLang="en-US" sz="1000" dirty="0">
                <a:solidFill>
                  <a:schemeClr val="tx1"/>
                </a:solidFill>
              </a:rPr>
              <a:t>와 고정장치</a:t>
            </a:r>
            <a:r>
              <a:rPr lang="en-US" altLang="ko-KR" sz="1000" dirty="0">
                <a:solidFill>
                  <a:schemeClr val="tx1"/>
                </a:solidFill>
              </a:rPr>
              <a:t>(12,14)</a:t>
            </a:r>
            <a:r>
              <a:rPr lang="ko-KR" altLang="en-US" sz="1000" dirty="0">
                <a:solidFill>
                  <a:schemeClr val="tx1"/>
                </a:solidFill>
              </a:rPr>
              <a:t>는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개방 상태에서 고정장치</a:t>
            </a:r>
            <a:r>
              <a:rPr lang="en-US" altLang="ko-KR" sz="1000" dirty="0">
                <a:solidFill>
                  <a:schemeClr val="tx1"/>
                </a:solidFill>
              </a:rPr>
              <a:t>(12,14)</a:t>
            </a:r>
            <a:r>
              <a:rPr lang="ko-KR" altLang="en-US" sz="1000" dirty="0">
                <a:solidFill>
                  <a:schemeClr val="tx1"/>
                </a:solidFill>
              </a:rPr>
              <a:t>가 환자를 처치하는 사람의 팔을 지지하기 위한 지지대로 제공되는 것을 특징으로 하는 수술대의 머리지지대</a:t>
            </a:r>
            <a:r>
              <a:rPr lang="en-US" altLang="ko-KR" sz="1000" dirty="0">
                <a:solidFill>
                  <a:schemeClr val="tx1"/>
                </a:solidFill>
              </a:rPr>
              <a:t>(10,100).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445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585788" y="71438"/>
            <a:ext cx="8201025" cy="765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lnSpc>
                <a:spcPct val="130000"/>
              </a:lnSpc>
            </a:pPr>
            <a:r>
              <a:rPr lang="en-US" altLang="ko-KR" sz="2400" b="1" dirty="0" smtClean="0">
                <a:solidFill>
                  <a:prstClr val="black"/>
                </a:solidFill>
                <a:latin typeface="+mn-ea"/>
              </a:rPr>
              <a:t>10. </a:t>
            </a:r>
            <a:r>
              <a:rPr lang="ko-KR" altLang="en-US" sz="2400" b="1" dirty="0" smtClean="0">
                <a:solidFill>
                  <a:prstClr val="black"/>
                </a:solidFill>
                <a:latin typeface="+mn-ea"/>
              </a:rPr>
              <a:t>생각해 봅시다</a:t>
            </a:r>
            <a:endParaRPr lang="ko-KR" altLang="en-US" sz="2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10749" y="6499059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17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11560" y="1124744"/>
            <a:ext cx="3888431" cy="518457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[</a:t>
            </a:r>
            <a:r>
              <a:rPr lang="ko-KR" altLang="en-US" dirty="0" err="1" smtClean="0">
                <a:solidFill>
                  <a:schemeClr val="tx1"/>
                </a:solidFill>
              </a:rPr>
              <a:t>청구</a:t>
            </a:r>
            <a:r>
              <a:rPr lang="ko-KR" altLang="en-US" dirty="0" err="1">
                <a:solidFill>
                  <a:schemeClr val="tx1"/>
                </a:solidFill>
              </a:rPr>
              <a:t>항</a:t>
            </a:r>
            <a:r>
              <a:rPr lang="en-US" altLang="ko-KR" dirty="0" smtClean="0">
                <a:solidFill>
                  <a:schemeClr val="tx1"/>
                </a:solidFill>
              </a:rPr>
              <a:t>1] </a:t>
            </a:r>
            <a:r>
              <a:rPr lang="ko-KR" altLang="en-US" dirty="0" smtClean="0">
                <a:solidFill>
                  <a:schemeClr val="tx1"/>
                </a:solidFill>
              </a:rPr>
              <a:t>장치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6,7,8]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방법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각각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</a:rPr>
              <a:t>독립항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)</a:t>
            </a: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9]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에 있어서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의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장치를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~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하는 방법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10] </a:t>
            </a:r>
            <a:r>
              <a:rPr lang="ko-KR" altLang="en-US" dirty="0" err="1" smtClean="0">
                <a:solidFill>
                  <a:schemeClr val="tx1"/>
                </a:solidFill>
                <a:latin typeface="+mn-ea"/>
              </a:rPr>
              <a:t>청구항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6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내지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9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중 어느 한 항의 방법을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~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 기록매체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dirty="0" err="1" smtClean="0">
                <a:solidFill>
                  <a:schemeClr val="tx1"/>
                </a:solidFill>
                <a:latin typeface="+mn-ea"/>
              </a:rPr>
              <a:t>청구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10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에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항 적용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</a:rPr>
              <a:t>?</a:t>
            </a:r>
          </a:p>
          <a:p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→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[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결론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]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적용하면 안 됨</a:t>
            </a:r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endParaRPr lang="en-US" altLang="ko-KR" dirty="0" smtClean="0">
              <a:solidFill>
                <a:prstClr val="black"/>
              </a:solidFill>
              <a:latin typeface="+mn-ea"/>
            </a:endParaRPr>
          </a:p>
          <a:p>
            <a:r>
              <a:rPr lang="en-US" altLang="ko-KR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[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이유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]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10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항이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2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이상의 항을 인용하고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9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항이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2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개</a:t>
            </a:r>
            <a:r>
              <a:rPr lang="ko-KR" altLang="en-US" dirty="0">
                <a:solidFill>
                  <a:prstClr val="black"/>
                </a:solidFill>
                <a:latin typeface="+mn-ea"/>
              </a:rPr>
              <a:t>의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항을 인용하긴 하나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9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항이 인용하는 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항의 장치는 중복을 피하기 위한 것으로서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제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9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항에는 </a:t>
            </a:r>
            <a:r>
              <a:rPr lang="en-US" altLang="ko-KR" dirty="0" smtClean="0"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dirty="0" smtClean="0">
                <a:solidFill>
                  <a:prstClr val="black"/>
                </a:solidFill>
                <a:latin typeface="+mn-ea"/>
              </a:rPr>
              <a:t>개의 발명만이 기재되어 있으므로 다중 인용이 아님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644008" y="1124744"/>
            <a:ext cx="3888431" cy="518457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ko-KR" altLang="en-US" sz="1600" b="1" dirty="0">
                <a:solidFill>
                  <a:schemeClr val="tx1"/>
                </a:solidFill>
              </a:rPr>
              <a:t>제 </a:t>
            </a:r>
            <a:r>
              <a:rPr lang="en-US" altLang="ko-KR" sz="1600" b="1" dirty="0">
                <a:solidFill>
                  <a:schemeClr val="tx1"/>
                </a:solidFill>
              </a:rPr>
              <a:t>1 </a:t>
            </a:r>
            <a:r>
              <a:rPr lang="ko-KR" altLang="en-US" sz="1600" b="1" dirty="0">
                <a:solidFill>
                  <a:schemeClr val="tx1"/>
                </a:solidFill>
              </a:rPr>
              <a:t>항 내지 제 </a:t>
            </a:r>
            <a:r>
              <a:rPr lang="en-US" altLang="ko-KR" sz="1600" b="1" dirty="0">
                <a:solidFill>
                  <a:schemeClr val="tx1"/>
                </a:solidFill>
              </a:rPr>
              <a:t>8 </a:t>
            </a:r>
            <a:r>
              <a:rPr lang="ko-KR" altLang="en-US" sz="1600" b="1" dirty="0">
                <a:solidFill>
                  <a:schemeClr val="tx1"/>
                </a:solidFill>
              </a:rPr>
              <a:t>항 중 어느 한 항에 따른 고정 요소</a:t>
            </a:r>
            <a:r>
              <a:rPr lang="ko-KR" altLang="en-US" sz="1600" dirty="0">
                <a:solidFill>
                  <a:schemeClr val="tx1"/>
                </a:solidFill>
              </a:rPr>
              <a:t>를 연결하기 위한 하나 이상의 연결 포인트</a:t>
            </a:r>
            <a:r>
              <a:rPr lang="en-US" altLang="ko-KR" sz="1600" dirty="0">
                <a:solidFill>
                  <a:schemeClr val="tx1"/>
                </a:solidFill>
              </a:rPr>
              <a:t>(14)</a:t>
            </a:r>
            <a:r>
              <a:rPr lang="ko-KR" altLang="en-US" sz="1600" dirty="0">
                <a:solidFill>
                  <a:schemeClr val="tx1"/>
                </a:solidFill>
              </a:rPr>
              <a:t>를 갖는 하나 이상의 </a:t>
            </a:r>
            <a:r>
              <a:rPr lang="ko-KR" altLang="en-US" sz="1600" dirty="0" err="1">
                <a:solidFill>
                  <a:schemeClr val="tx1"/>
                </a:solidFill>
              </a:rPr>
              <a:t>하우징</a:t>
            </a:r>
            <a:r>
              <a:rPr lang="ko-KR" altLang="en-US" sz="1600" dirty="0">
                <a:solidFill>
                  <a:schemeClr val="tx1"/>
                </a:solidFill>
              </a:rPr>
              <a:t> 요소</a:t>
            </a:r>
            <a:r>
              <a:rPr lang="en-US" altLang="ko-KR" sz="1600" dirty="0">
                <a:solidFill>
                  <a:schemeClr val="tx1"/>
                </a:solidFill>
              </a:rPr>
              <a:t>(12, 13),</a:t>
            </a:r>
          </a:p>
          <a:p>
            <a:r>
              <a:rPr lang="ko-KR" altLang="en-US" sz="1600" dirty="0">
                <a:solidFill>
                  <a:schemeClr val="tx1"/>
                </a:solidFill>
              </a:rPr>
              <a:t>하나 이상의 </a:t>
            </a:r>
            <a:r>
              <a:rPr lang="ko-KR" altLang="en-US" sz="1600" dirty="0" err="1">
                <a:solidFill>
                  <a:schemeClr val="tx1"/>
                </a:solidFill>
              </a:rPr>
              <a:t>리세스</a:t>
            </a:r>
            <a:r>
              <a:rPr lang="en-US" altLang="ko-KR" sz="1600" dirty="0">
                <a:solidFill>
                  <a:schemeClr val="tx1"/>
                </a:solidFill>
              </a:rPr>
              <a:t>(16)</a:t>
            </a:r>
            <a:r>
              <a:rPr lang="ko-KR" altLang="en-US" sz="1600" dirty="0">
                <a:solidFill>
                  <a:schemeClr val="tx1"/>
                </a:solidFill>
              </a:rPr>
              <a:t>를 갖는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터빈 유동 단면을 변화시키기 위한 </a:t>
            </a:r>
            <a:r>
              <a:rPr lang="ko-KR" altLang="en-US" sz="1600" dirty="0" err="1">
                <a:solidFill>
                  <a:schemeClr val="tx1"/>
                </a:solidFill>
              </a:rPr>
              <a:t>조절가능한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VTG-</a:t>
            </a:r>
            <a:r>
              <a:rPr lang="ko-KR" altLang="en-US" sz="1600" dirty="0">
                <a:solidFill>
                  <a:schemeClr val="tx1"/>
                </a:solidFill>
              </a:rPr>
              <a:t>가이드 베인 장치</a:t>
            </a:r>
            <a:r>
              <a:rPr lang="en-US" altLang="ko-KR" sz="1600" dirty="0">
                <a:solidFill>
                  <a:schemeClr val="tx1"/>
                </a:solidFill>
              </a:rPr>
              <a:t>(15),</a:t>
            </a:r>
          </a:p>
          <a:p>
            <a:r>
              <a:rPr lang="ko-KR" altLang="en-US" sz="1600" dirty="0">
                <a:solidFill>
                  <a:schemeClr val="tx1"/>
                </a:solidFill>
              </a:rPr>
              <a:t>상기 </a:t>
            </a:r>
            <a:r>
              <a:rPr lang="ko-KR" altLang="en-US" sz="1600" dirty="0" err="1">
                <a:solidFill>
                  <a:schemeClr val="tx1"/>
                </a:solidFill>
              </a:rPr>
              <a:t>하우징</a:t>
            </a:r>
            <a:r>
              <a:rPr lang="ko-KR" altLang="en-US" sz="1600" dirty="0">
                <a:solidFill>
                  <a:schemeClr val="tx1"/>
                </a:solidFill>
              </a:rPr>
              <a:t> 요소</a:t>
            </a:r>
            <a:r>
              <a:rPr lang="en-US" altLang="ko-KR" sz="1600" dirty="0">
                <a:solidFill>
                  <a:schemeClr val="tx1"/>
                </a:solidFill>
              </a:rPr>
              <a:t>(12, 13)</a:t>
            </a:r>
            <a:r>
              <a:rPr lang="ko-KR" altLang="en-US" sz="1600" dirty="0">
                <a:solidFill>
                  <a:schemeClr val="tx1"/>
                </a:solidFill>
              </a:rPr>
              <a:t>에 상기 </a:t>
            </a:r>
            <a:r>
              <a:rPr lang="en-US" altLang="ko-KR" sz="1600" dirty="0">
                <a:solidFill>
                  <a:schemeClr val="tx1"/>
                </a:solidFill>
              </a:rPr>
              <a:t>VTG-</a:t>
            </a:r>
            <a:r>
              <a:rPr lang="ko-KR" altLang="en-US" sz="1600" dirty="0">
                <a:solidFill>
                  <a:schemeClr val="tx1"/>
                </a:solidFill>
              </a:rPr>
              <a:t>가이드 베인 장치</a:t>
            </a:r>
            <a:r>
              <a:rPr lang="en-US" altLang="ko-KR" sz="1600" dirty="0">
                <a:solidFill>
                  <a:schemeClr val="tx1"/>
                </a:solidFill>
              </a:rPr>
              <a:t>(15)</a:t>
            </a:r>
            <a:r>
              <a:rPr lang="ko-KR" altLang="en-US" sz="1600" dirty="0">
                <a:solidFill>
                  <a:schemeClr val="tx1"/>
                </a:solidFill>
              </a:rPr>
              <a:t>를 고정하기 위해 </a:t>
            </a:r>
            <a:r>
              <a:rPr lang="ko-KR" altLang="en-US" sz="1600" b="1" dirty="0">
                <a:solidFill>
                  <a:schemeClr val="tx1"/>
                </a:solidFill>
              </a:rPr>
              <a:t>제 </a:t>
            </a:r>
            <a:r>
              <a:rPr lang="en-US" altLang="ko-KR" sz="1600" b="1" dirty="0">
                <a:solidFill>
                  <a:schemeClr val="tx1"/>
                </a:solidFill>
              </a:rPr>
              <a:t>1 </a:t>
            </a:r>
            <a:r>
              <a:rPr lang="ko-KR" altLang="en-US" sz="1600" b="1" dirty="0">
                <a:solidFill>
                  <a:schemeClr val="tx1"/>
                </a:solidFill>
              </a:rPr>
              <a:t>항 내지 제 </a:t>
            </a:r>
            <a:r>
              <a:rPr lang="en-US" altLang="ko-KR" sz="1600" b="1" dirty="0">
                <a:solidFill>
                  <a:schemeClr val="tx1"/>
                </a:solidFill>
              </a:rPr>
              <a:t>8 </a:t>
            </a:r>
            <a:r>
              <a:rPr lang="ko-KR" altLang="en-US" sz="1600" b="1" dirty="0">
                <a:solidFill>
                  <a:schemeClr val="tx1"/>
                </a:solidFill>
              </a:rPr>
              <a:t>항 중 어느 한 항에 따른 고정 요소</a:t>
            </a:r>
            <a:r>
              <a:rPr lang="en-US" altLang="ko-KR" sz="1600" b="1" dirty="0">
                <a:solidFill>
                  <a:schemeClr val="tx1"/>
                </a:solidFill>
              </a:rPr>
              <a:t>(1)</a:t>
            </a:r>
            <a:r>
              <a:rPr lang="ko-KR" altLang="en-US" sz="1600" dirty="0">
                <a:solidFill>
                  <a:schemeClr val="tx1"/>
                </a:solidFill>
              </a:rPr>
              <a:t>를 하나 이상 포함하고</a:t>
            </a:r>
            <a:r>
              <a:rPr lang="en-US" altLang="ko-KR" sz="1600" dirty="0">
                <a:solidFill>
                  <a:schemeClr val="tx1"/>
                </a:solidFill>
              </a:rPr>
              <a:t>,</a:t>
            </a:r>
          </a:p>
          <a:p>
            <a:r>
              <a:rPr lang="ko-KR" altLang="en-US" sz="1600" dirty="0">
                <a:solidFill>
                  <a:schemeClr val="tx1"/>
                </a:solidFill>
              </a:rPr>
              <a:t>상기 고정 요소</a:t>
            </a:r>
            <a:r>
              <a:rPr lang="en-US" altLang="ko-KR" sz="1600" dirty="0">
                <a:solidFill>
                  <a:schemeClr val="tx1"/>
                </a:solidFill>
              </a:rPr>
              <a:t>(1)</a:t>
            </a:r>
            <a:r>
              <a:rPr lang="ko-KR" altLang="en-US" sz="1600" dirty="0">
                <a:solidFill>
                  <a:schemeClr val="tx1"/>
                </a:solidFill>
              </a:rPr>
              <a:t>가 상기 </a:t>
            </a:r>
            <a:r>
              <a:rPr lang="en-US" altLang="ko-KR" sz="1600" dirty="0">
                <a:solidFill>
                  <a:schemeClr val="tx1"/>
                </a:solidFill>
              </a:rPr>
              <a:t>VTG-</a:t>
            </a:r>
            <a:r>
              <a:rPr lang="ko-KR" altLang="en-US" sz="1600" dirty="0">
                <a:solidFill>
                  <a:schemeClr val="tx1"/>
                </a:solidFill>
              </a:rPr>
              <a:t>가이드 베인 장치</a:t>
            </a:r>
            <a:r>
              <a:rPr lang="en-US" altLang="ko-KR" sz="1600" dirty="0">
                <a:solidFill>
                  <a:schemeClr val="tx1"/>
                </a:solidFill>
              </a:rPr>
              <a:t>(15)</a:t>
            </a:r>
            <a:r>
              <a:rPr lang="ko-KR" altLang="en-US" sz="1600" dirty="0">
                <a:solidFill>
                  <a:schemeClr val="tx1"/>
                </a:solidFill>
              </a:rPr>
              <a:t>의 상기 </a:t>
            </a:r>
            <a:r>
              <a:rPr lang="ko-KR" altLang="en-US" sz="1600" dirty="0" err="1">
                <a:solidFill>
                  <a:schemeClr val="tx1"/>
                </a:solidFill>
              </a:rPr>
              <a:t>리세스</a:t>
            </a:r>
            <a:r>
              <a:rPr lang="en-US" altLang="ko-KR" sz="1600" dirty="0">
                <a:solidFill>
                  <a:schemeClr val="tx1"/>
                </a:solidFill>
              </a:rPr>
              <a:t>(16)</a:t>
            </a:r>
            <a:r>
              <a:rPr lang="ko-KR" altLang="en-US" sz="1600" dirty="0">
                <a:solidFill>
                  <a:schemeClr val="tx1"/>
                </a:solidFill>
              </a:rPr>
              <a:t>를 통해 상기 </a:t>
            </a:r>
            <a:r>
              <a:rPr lang="ko-KR" altLang="en-US" sz="1600" dirty="0" err="1">
                <a:solidFill>
                  <a:schemeClr val="tx1"/>
                </a:solidFill>
              </a:rPr>
              <a:t>하우징</a:t>
            </a:r>
            <a:r>
              <a:rPr lang="ko-KR" altLang="en-US" sz="1600" dirty="0">
                <a:solidFill>
                  <a:schemeClr val="tx1"/>
                </a:solidFill>
              </a:rPr>
              <a:t> 요소</a:t>
            </a:r>
            <a:r>
              <a:rPr lang="en-US" altLang="ko-KR" sz="1600" dirty="0">
                <a:solidFill>
                  <a:schemeClr val="tx1"/>
                </a:solidFill>
              </a:rPr>
              <a:t>(12, 13)</a:t>
            </a:r>
            <a:r>
              <a:rPr lang="ko-KR" altLang="en-US" sz="1600" dirty="0">
                <a:solidFill>
                  <a:schemeClr val="tx1"/>
                </a:solidFill>
              </a:rPr>
              <a:t>의 상기 연결 포인트</a:t>
            </a:r>
            <a:r>
              <a:rPr lang="en-US" altLang="ko-KR" sz="1600" dirty="0">
                <a:solidFill>
                  <a:schemeClr val="tx1"/>
                </a:solidFill>
              </a:rPr>
              <a:t>(14)</a:t>
            </a:r>
            <a:r>
              <a:rPr lang="ko-KR" altLang="en-US" sz="1600" dirty="0">
                <a:solidFill>
                  <a:schemeClr val="tx1"/>
                </a:solidFill>
              </a:rPr>
              <a:t>에 곧바로 고정되는</a:t>
            </a:r>
          </a:p>
          <a:p>
            <a:r>
              <a:rPr lang="ko-KR" altLang="en-US" sz="1600" dirty="0">
                <a:solidFill>
                  <a:schemeClr val="tx1"/>
                </a:solidFill>
              </a:rPr>
              <a:t>가변식 터빈 구조를 갖는 배기 가스 </a:t>
            </a:r>
            <a:r>
              <a:rPr lang="ko-KR" altLang="en-US" sz="1600" dirty="0" err="1">
                <a:solidFill>
                  <a:schemeClr val="tx1"/>
                </a:solidFill>
              </a:rPr>
              <a:t>터보차저</a:t>
            </a:r>
            <a:r>
              <a:rPr lang="en-US" altLang="ko-KR" sz="1600" dirty="0">
                <a:solidFill>
                  <a:schemeClr val="tx1"/>
                </a:solidFill>
              </a:rPr>
              <a:t>.</a:t>
            </a:r>
            <a:endParaRPr lang="en-US" altLang="ko-KR" sz="1600" dirty="0" smtClean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6667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그림 3" descr="메인 copy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329754" y="2321644"/>
            <a:ext cx="8418710" cy="1000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5700" b="1" dirty="0" smtClean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감사합니다</a:t>
            </a:r>
            <a:endParaRPr kumimoji="0" lang="ko-KR" altLang="en-US" sz="5700" b="1" dirty="0">
              <a:solidFill>
                <a:schemeClr val="tx1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-141734" y="1916832"/>
            <a:ext cx="7594054" cy="639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300" b="1" dirty="0">
              <a:solidFill>
                <a:srgbClr val="C00000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42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15127</TotalTime>
  <Words>3353</Words>
  <Application>Microsoft Office PowerPoint</Application>
  <PresentationFormat>화면 슬라이드 쇼(4:3)</PresentationFormat>
  <Paragraphs>299</Paragraphs>
  <Slides>19</Slides>
  <Notes>19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aaaa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aaa</dc:creator>
  <cp:lastModifiedBy>Administrator</cp:lastModifiedBy>
  <cp:revision>1201</cp:revision>
  <cp:lastPrinted>2014-10-09T15:10:43Z</cp:lastPrinted>
  <dcterms:created xsi:type="dcterms:W3CDTF">2010-01-19T03:17:51Z</dcterms:created>
  <dcterms:modified xsi:type="dcterms:W3CDTF">2015-07-22T06:44:13Z</dcterms:modified>
</cp:coreProperties>
</file>