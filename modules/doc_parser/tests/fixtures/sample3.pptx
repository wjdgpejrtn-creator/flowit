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notesMasterIdLst>
    <p:notesMasterId r:id="rId2"/>
  </p:notesMasterIdLst>
  <p:sldIdLst>
    <p:sldId id="256" r:id="rId3"/>
    <p:sldId id="258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854" y="10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presProps" Target="presProps.xml"  /><Relationship Id="rId39" Type="http://schemas.openxmlformats.org/officeDocument/2006/relationships/viewProps" Target="viewProps.xml"  /><Relationship Id="rId4" Type="http://schemas.openxmlformats.org/officeDocument/2006/relationships/slide" Target="slides/slide2.xml"  /><Relationship Id="rId40" Type="http://schemas.openxmlformats.org/officeDocument/2006/relationships/theme" Target="theme/theme1.xml"  /><Relationship Id="rId41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F89F70-6E30-4E09-842B-D7B92A0BCDB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31AFAFF-5F38-49B3-B6C4-1A2D293E573D}">
      <dgm:prSet phldrT="[텍스트]" custT="1"/>
      <dgm:spPr/>
      <dgm:t>
        <a:bodyPr/>
        <a:lstStyle/>
        <a:p>
          <a:pPr latinLnBrk="1"/>
          <a:r>
            <a:rPr lang="ko-KR" altLang="en-US" sz="3200" dirty="0"/>
            <a:t>국민의식</a:t>
          </a:r>
        </a:p>
      </dgm:t>
    </dgm:pt>
    <dgm:pt modelId="{8AB55508-5A6B-477E-A44E-23903E3E76CF}" type="parTrans" cxnId="{0B06C4B7-1DCF-4D47-A7FD-3263ABB6DF10}">
      <dgm:prSet/>
      <dgm:spPr/>
      <dgm:t>
        <a:bodyPr/>
        <a:lstStyle/>
        <a:p>
          <a:pPr latinLnBrk="1"/>
          <a:endParaRPr lang="ko-KR" altLang="en-US"/>
        </a:p>
      </dgm:t>
    </dgm:pt>
    <dgm:pt modelId="{7DA067E7-C6AE-4125-B1E2-26E72B65678F}" type="sibTrans" cxnId="{0B06C4B7-1DCF-4D47-A7FD-3263ABB6DF10}">
      <dgm:prSet/>
      <dgm:spPr/>
      <dgm:t>
        <a:bodyPr/>
        <a:lstStyle/>
        <a:p>
          <a:pPr latinLnBrk="1"/>
          <a:endParaRPr lang="ko-KR" altLang="en-US"/>
        </a:p>
      </dgm:t>
    </dgm:pt>
    <dgm:pt modelId="{CF84875E-B0C1-41DE-B572-63665CB4A866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고구려 역사 </a:t>
          </a:r>
          <a:r>
            <a:rPr lang="ko-KR" altLang="en-US" sz="1600" dirty="0" err="1">
              <a:latin typeface="궁서" panose="02030600000101010101" pitchFamily="18" charset="-127"/>
              <a:ea typeface="궁서" panose="02030600000101010101" pitchFamily="18" charset="-127"/>
            </a:rPr>
            <a:t>체험장에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 대한 관심 유도 및 일본 역사 교과서 왜곡에 따른 민족사관을 고취하여 중국의 고구려 역사 왜곡 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– 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동북공정에 대응하고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, 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시간과 공간을 초월하여 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1,600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년 전으로 테마 여행</a:t>
          </a:r>
        </a:p>
      </dgm:t>
    </dgm:pt>
    <dgm:pt modelId="{69131AB7-A3B3-4D5E-8134-4D449BD9064F}" type="parTrans" cxnId="{8724937E-B807-4009-8CA3-DDFCB559046F}">
      <dgm:prSet/>
      <dgm:spPr/>
      <dgm:t>
        <a:bodyPr/>
        <a:lstStyle/>
        <a:p>
          <a:pPr latinLnBrk="1"/>
          <a:endParaRPr lang="ko-KR" altLang="en-US"/>
        </a:p>
      </dgm:t>
    </dgm:pt>
    <dgm:pt modelId="{86BB1D77-EE16-44AE-8F60-DF3931C95166}" type="sibTrans" cxnId="{8724937E-B807-4009-8CA3-DDFCB559046F}">
      <dgm:prSet/>
      <dgm:spPr/>
      <dgm:t>
        <a:bodyPr/>
        <a:lstStyle/>
        <a:p>
          <a:pPr latinLnBrk="1"/>
          <a:endParaRPr lang="ko-KR" altLang="en-US"/>
        </a:p>
      </dgm:t>
    </dgm:pt>
    <dgm:pt modelId="{62A67470-3859-4A82-9C5E-7A49B691224E}">
      <dgm:prSet phldrT="[텍스트]" custT="1"/>
      <dgm:spPr/>
      <dgm:t>
        <a:bodyPr/>
        <a:lstStyle/>
        <a:p>
          <a:pPr latinLnBrk="1"/>
          <a:r>
            <a:rPr lang="ko-KR" altLang="en-US" sz="3200" dirty="0"/>
            <a:t>사회적 환경</a:t>
          </a:r>
        </a:p>
      </dgm:t>
    </dgm:pt>
    <dgm:pt modelId="{4FD1DF6D-02D8-4519-95C3-ADB3743A44D8}" type="parTrans" cxnId="{9140472B-0373-4B5C-827B-A4739FCA8051}">
      <dgm:prSet/>
      <dgm:spPr/>
      <dgm:t>
        <a:bodyPr/>
        <a:lstStyle/>
        <a:p>
          <a:pPr latinLnBrk="1"/>
          <a:endParaRPr lang="ko-KR" altLang="en-US"/>
        </a:p>
      </dgm:t>
    </dgm:pt>
    <dgm:pt modelId="{0075D3F7-38AB-423E-9B46-2F4E5FD900C9}" type="sibTrans" cxnId="{9140472B-0373-4B5C-827B-A4739FCA8051}">
      <dgm:prSet/>
      <dgm:spPr/>
      <dgm:t>
        <a:bodyPr/>
        <a:lstStyle/>
        <a:p>
          <a:pPr latinLnBrk="1"/>
          <a:endParaRPr lang="ko-KR" altLang="en-US"/>
        </a:p>
      </dgm:t>
    </dgm:pt>
    <dgm:pt modelId="{D062D6D6-BD33-4142-85F5-7FBE8422782C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테마 </a:t>
          </a:r>
          <a:r>
            <a:rPr lang="ko-KR" altLang="en-US" sz="1600" dirty="0" err="1">
              <a:latin typeface="궁서" panose="02030600000101010101" pitchFamily="18" charset="-127"/>
              <a:ea typeface="궁서" panose="02030600000101010101" pitchFamily="18" charset="-127"/>
            </a:rPr>
            <a:t>파크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 관광화 인식변화</a:t>
          </a:r>
        </a:p>
      </dgm:t>
    </dgm:pt>
    <dgm:pt modelId="{AFBCFD2A-142C-45A8-BF30-1A2505BD7FE0}" type="parTrans" cxnId="{9A30A105-BB4E-4D7E-90F3-86BEA41AB566}">
      <dgm:prSet/>
      <dgm:spPr/>
      <dgm:t>
        <a:bodyPr/>
        <a:lstStyle/>
        <a:p>
          <a:pPr latinLnBrk="1"/>
          <a:endParaRPr lang="ko-KR" altLang="en-US"/>
        </a:p>
      </dgm:t>
    </dgm:pt>
    <dgm:pt modelId="{215F54D4-7316-4411-AD29-42F565F1BF6D}" type="sibTrans" cxnId="{9A30A105-BB4E-4D7E-90F3-86BEA41AB566}">
      <dgm:prSet/>
      <dgm:spPr/>
      <dgm:t>
        <a:bodyPr/>
        <a:lstStyle/>
        <a:p>
          <a:pPr latinLnBrk="1"/>
          <a:endParaRPr lang="ko-KR" altLang="en-US"/>
        </a:p>
      </dgm:t>
    </dgm:pt>
    <dgm:pt modelId="{5A331A39-0FE7-4B86-8888-074F4329E95F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역사놀이를 체험하는 다양한 </a:t>
          </a:r>
          <a:r>
            <a:rPr lang="ko-KR" altLang="en-US" sz="1600" dirty="0" err="1">
              <a:latin typeface="궁서" panose="02030600000101010101" pitchFamily="18" charset="-127"/>
              <a:ea typeface="궁서" panose="02030600000101010101" pitchFamily="18" charset="-127"/>
            </a:rPr>
            <a:t>즐길거리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 제공</a:t>
          </a:r>
        </a:p>
      </dgm:t>
    </dgm:pt>
    <dgm:pt modelId="{4BE3D849-F3D8-4965-B094-3F35382F35EB}" type="parTrans" cxnId="{42BF2BC1-1F8C-4736-8078-A7A6016E5D5C}">
      <dgm:prSet/>
      <dgm:spPr/>
      <dgm:t>
        <a:bodyPr/>
        <a:lstStyle/>
        <a:p>
          <a:pPr latinLnBrk="1"/>
          <a:endParaRPr lang="ko-KR" altLang="en-US"/>
        </a:p>
      </dgm:t>
    </dgm:pt>
    <dgm:pt modelId="{FAE1D5D7-A665-4100-BC84-89C3AA620A9F}" type="sibTrans" cxnId="{42BF2BC1-1F8C-4736-8078-A7A6016E5D5C}">
      <dgm:prSet/>
      <dgm:spPr/>
      <dgm:t>
        <a:bodyPr/>
        <a:lstStyle/>
        <a:p>
          <a:pPr latinLnBrk="1"/>
          <a:endParaRPr lang="ko-KR" altLang="en-US"/>
        </a:p>
      </dgm:t>
    </dgm:pt>
    <dgm:pt modelId="{C438FE3F-CA4B-4B57-882F-E163F58996C1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민족문화에 대한 인식변화 유도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.</a:t>
          </a:r>
          <a:endParaRPr lang="ko-KR" altLang="en-US" sz="1600" dirty="0">
            <a:latin typeface="궁서" panose="02030600000101010101" pitchFamily="18" charset="-127"/>
            <a:ea typeface="궁서" panose="02030600000101010101" pitchFamily="18" charset="-127"/>
          </a:endParaRPr>
        </a:p>
      </dgm:t>
    </dgm:pt>
    <dgm:pt modelId="{E1A017B7-0011-4A19-B4E0-C740CF7188AF}" type="parTrans" cxnId="{1FBF93C4-26E4-4B74-8539-79A83986156E}">
      <dgm:prSet/>
      <dgm:spPr/>
      <dgm:t>
        <a:bodyPr/>
        <a:lstStyle/>
        <a:p>
          <a:pPr latinLnBrk="1"/>
          <a:endParaRPr lang="ko-KR" altLang="en-US"/>
        </a:p>
      </dgm:t>
    </dgm:pt>
    <dgm:pt modelId="{B7E291AC-8397-4B3C-85D8-12566F613428}" type="sibTrans" cxnId="{1FBF93C4-26E4-4B74-8539-79A83986156E}">
      <dgm:prSet/>
      <dgm:spPr/>
      <dgm:t>
        <a:bodyPr/>
        <a:lstStyle/>
        <a:p>
          <a:pPr latinLnBrk="1"/>
          <a:endParaRPr lang="ko-KR" altLang="en-US"/>
        </a:p>
      </dgm:t>
    </dgm:pt>
    <dgm:pt modelId="{F28DA324-A4A7-4D76-A997-33EB8A077D7C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역사 체험의 현장 행사에 따른 민족의식 고취</a:t>
          </a:r>
        </a:p>
      </dgm:t>
    </dgm:pt>
    <dgm:pt modelId="{3268A4DA-005D-4FD8-9FA0-359D0AD43872}" type="parTrans" cxnId="{C882264C-0DEB-4EC1-8BC7-FCB45B3FDC9A}">
      <dgm:prSet/>
      <dgm:spPr/>
      <dgm:t>
        <a:bodyPr/>
        <a:lstStyle/>
        <a:p>
          <a:pPr latinLnBrk="1"/>
          <a:endParaRPr lang="ko-KR" altLang="en-US"/>
        </a:p>
      </dgm:t>
    </dgm:pt>
    <dgm:pt modelId="{183A5144-CE5F-4791-A9FE-C9CFEC34A483}" type="sibTrans" cxnId="{C882264C-0DEB-4EC1-8BC7-FCB45B3FDC9A}">
      <dgm:prSet/>
      <dgm:spPr/>
      <dgm:t>
        <a:bodyPr/>
        <a:lstStyle/>
        <a:p>
          <a:pPr latinLnBrk="1"/>
          <a:endParaRPr lang="ko-KR" altLang="en-US"/>
        </a:p>
      </dgm:t>
    </dgm:pt>
    <dgm:pt modelId="{91CAD7D3-85BE-4EB2-9084-EB87C88F08A7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주 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5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일 근무로 인한 새로운 관광상품 개발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.</a:t>
          </a:r>
          <a:endParaRPr lang="ko-KR" altLang="en-US" sz="1600" dirty="0">
            <a:latin typeface="궁서" panose="02030600000101010101" pitchFamily="18" charset="-127"/>
            <a:ea typeface="궁서" panose="02030600000101010101" pitchFamily="18" charset="-127"/>
          </a:endParaRPr>
        </a:p>
      </dgm:t>
    </dgm:pt>
    <dgm:pt modelId="{BEF743A4-68FA-4653-AEA2-CFE330368065}" type="parTrans" cxnId="{BBE1AB50-197C-4AF7-BB6B-506CCD602B0E}">
      <dgm:prSet/>
      <dgm:spPr/>
      <dgm:t>
        <a:bodyPr/>
        <a:lstStyle/>
        <a:p>
          <a:pPr latinLnBrk="1"/>
          <a:endParaRPr lang="ko-KR" altLang="en-US"/>
        </a:p>
      </dgm:t>
    </dgm:pt>
    <dgm:pt modelId="{01B8027E-2F43-4B19-ACA0-72D7BBC30592}" type="sibTrans" cxnId="{BBE1AB50-197C-4AF7-BB6B-506CCD602B0E}">
      <dgm:prSet/>
      <dgm:spPr/>
      <dgm:t>
        <a:bodyPr/>
        <a:lstStyle/>
        <a:p>
          <a:pPr latinLnBrk="1"/>
          <a:endParaRPr lang="ko-KR" altLang="en-US"/>
        </a:p>
      </dgm:t>
    </dgm:pt>
    <dgm:pt modelId="{50B4ED3A-9A0A-486C-ABF1-96C457959ABA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각 나라 각 민족들은 선민사상을 주장하고 있으나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,</a:t>
          </a:r>
          <a:r>
            <a:rPr lang="ko-KR" altLang="en-US" sz="1600" dirty="0">
              <a:latin typeface="궁서" panose="02030600000101010101" pitchFamily="18" charset="-127"/>
              <a:ea typeface="궁서" panose="02030600000101010101" pitchFamily="18" charset="-127"/>
            </a:rPr>
            <a:t> 우리 한민족은 천손민족으로서 신의 자손임을 전 세계에 선포하노라</a:t>
          </a:r>
          <a:r>
            <a:rPr lang="en-US" altLang="ko-KR" sz="1600" dirty="0">
              <a:latin typeface="궁서" panose="02030600000101010101" pitchFamily="18" charset="-127"/>
              <a:ea typeface="궁서" panose="02030600000101010101" pitchFamily="18" charset="-127"/>
            </a:rPr>
            <a:t>.</a:t>
          </a:r>
          <a:endParaRPr lang="ko-KR" altLang="en-US" sz="1600" dirty="0">
            <a:latin typeface="궁서" panose="02030600000101010101" pitchFamily="18" charset="-127"/>
            <a:ea typeface="궁서" panose="02030600000101010101" pitchFamily="18" charset="-127"/>
          </a:endParaRPr>
        </a:p>
      </dgm:t>
    </dgm:pt>
    <dgm:pt modelId="{9FD33B4F-EA6A-4763-9EB9-F3DC13D322CC}" type="parTrans" cxnId="{4CC14982-9B8C-4C36-B7E6-7653DA6AA158}">
      <dgm:prSet/>
      <dgm:spPr/>
      <dgm:t>
        <a:bodyPr/>
        <a:lstStyle/>
        <a:p>
          <a:pPr latinLnBrk="1"/>
          <a:endParaRPr lang="ko-KR" altLang="en-US"/>
        </a:p>
      </dgm:t>
    </dgm:pt>
    <dgm:pt modelId="{54AEC242-A184-4200-9D7A-49FAB50C5FC5}" type="sibTrans" cxnId="{4CC14982-9B8C-4C36-B7E6-7653DA6AA158}">
      <dgm:prSet/>
      <dgm:spPr/>
      <dgm:t>
        <a:bodyPr/>
        <a:lstStyle/>
        <a:p>
          <a:pPr latinLnBrk="1"/>
          <a:endParaRPr lang="ko-KR" altLang="en-US"/>
        </a:p>
      </dgm:t>
    </dgm:pt>
    <dgm:pt modelId="{B99BF593-7F28-4C78-AED4-4B42A5F6F6D8}" type="pres">
      <dgm:prSet presAssocID="{15F89F70-6E30-4E09-842B-D7B92A0BCDB7}" presName="Name0" presStyleCnt="0">
        <dgm:presLayoutVars>
          <dgm:dir/>
          <dgm:animLvl val="lvl"/>
          <dgm:resizeHandles val="exact"/>
        </dgm:presLayoutVars>
      </dgm:prSet>
      <dgm:spPr/>
    </dgm:pt>
    <dgm:pt modelId="{2A4F4935-3891-4B06-A8A5-512048B26598}" type="pres">
      <dgm:prSet presAssocID="{B31AFAFF-5F38-49B3-B6C4-1A2D293E573D}" presName="linNode" presStyleCnt="0"/>
      <dgm:spPr/>
    </dgm:pt>
    <dgm:pt modelId="{3A288409-AF7D-43E9-B88F-0B8393E3B285}" type="pres">
      <dgm:prSet presAssocID="{B31AFAFF-5F38-49B3-B6C4-1A2D293E573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CBFB070-EA80-433F-AFA2-85A4DA77EFEE}" type="pres">
      <dgm:prSet presAssocID="{B31AFAFF-5F38-49B3-B6C4-1A2D293E573D}" presName="descendantText" presStyleLbl="alignAccFollowNode1" presStyleIdx="0" presStyleCnt="2">
        <dgm:presLayoutVars>
          <dgm:bulletEnabled val="1"/>
        </dgm:presLayoutVars>
      </dgm:prSet>
      <dgm:spPr/>
    </dgm:pt>
    <dgm:pt modelId="{70E0368A-3F51-42B5-924A-3CB0538DCF0F}" type="pres">
      <dgm:prSet presAssocID="{7DA067E7-C6AE-4125-B1E2-26E72B65678F}" presName="sp" presStyleCnt="0"/>
      <dgm:spPr/>
    </dgm:pt>
    <dgm:pt modelId="{CDCBC6BE-476F-4AD0-8707-0EEF9A0EC5A1}" type="pres">
      <dgm:prSet presAssocID="{62A67470-3859-4A82-9C5E-7A49B691224E}" presName="linNode" presStyleCnt="0"/>
      <dgm:spPr/>
    </dgm:pt>
    <dgm:pt modelId="{CD0073EF-4C1C-43CF-8956-F707F29C4BEC}" type="pres">
      <dgm:prSet presAssocID="{62A67470-3859-4A82-9C5E-7A49B691224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A28B53E-00D1-4B30-B293-A2E3AE60B260}" type="pres">
      <dgm:prSet presAssocID="{62A67470-3859-4A82-9C5E-7A49B691224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A30A105-BB4E-4D7E-90F3-86BEA41AB566}" srcId="{62A67470-3859-4A82-9C5E-7A49B691224E}" destId="{D062D6D6-BD33-4142-85F5-7FBE8422782C}" srcOrd="0" destOrd="0" parTransId="{AFBCFD2A-142C-45A8-BF30-1A2505BD7FE0}" sibTransId="{215F54D4-7316-4411-AD29-42F565F1BF6D}"/>
    <dgm:cxn modelId="{7D3C7606-82AE-4768-959B-5ABF358762E1}" type="presOf" srcId="{62A67470-3859-4A82-9C5E-7A49B691224E}" destId="{CD0073EF-4C1C-43CF-8956-F707F29C4BEC}" srcOrd="0" destOrd="0" presId="urn:microsoft.com/office/officeart/2005/8/layout/vList5"/>
    <dgm:cxn modelId="{EBCC8014-CCC4-47D9-8E60-ABC60359E5CB}" type="presOf" srcId="{15F89F70-6E30-4E09-842B-D7B92A0BCDB7}" destId="{B99BF593-7F28-4C78-AED4-4B42A5F6F6D8}" srcOrd="0" destOrd="0" presId="urn:microsoft.com/office/officeart/2005/8/layout/vList5"/>
    <dgm:cxn modelId="{9140472B-0373-4B5C-827B-A4739FCA8051}" srcId="{15F89F70-6E30-4E09-842B-D7B92A0BCDB7}" destId="{62A67470-3859-4A82-9C5E-7A49B691224E}" srcOrd="1" destOrd="0" parTransId="{4FD1DF6D-02D8-4519-95C3-ADB3743A44D8}" sibTransId="{0075D3F7-38AB-423E-9B46-2F4E5FD900C9}"/>
    <dgm:cxn modelId="{62C1E65E-0697-48D2-B226-FFEF55F5B433}" type="presOf" srcId="{B31AFAFF-5F38-49B3-B6C4-1A2D293E573D}" destId="{3A288409-AF7D-43E9-B88F-0B8393E3B285}" srcOrd="0" destOrd="0" presId="urn:microsoft.com/office/officeart/2005/8/layout/vList5"/>
    <dgm:cxn modelId="{2889E14A-4189-4AC8-89E9-51C9F1E4A1FD}" type="presOf" srcId="{91CAD7D3-85BE-4EB2-9084-EB87C88F08A7}" destId="{FA28B53E-00D1-4B30-B293-A2E3AE60B260}" srcOrd="0" destOrd="4" presId="urn:microsoft.com/office/officeart/2005/8/layout/vList5"/>
    <dgm:cxn modelId="{C882264C-0DEB-4EC1-8BC7-FCB45B3FDC9A}" srcId="{62A67470-3859-4A82-9C5E-7A49B691224E}" destId="{F28DA324-A4A7-4D76-A997-33EB8A077D7C}" srcOrd="3" destOrd="0" parTransId="{3268A4DA-005D-4FD8-9FA0-359D0AD43872}" sibTransId="{183A5144-CE5F-4791-A9FE-C9CFEC34A483}"/>
    <dgm:cxn modelId="{BBE1AB50-197C-4AF7-BB6B-506CCD602B0E}" srcId="{62A67470-3859-4A82-9C5E-7A49B691224E}" destId="{91CAD7D3-85BE-4EB2-9084-EB87C88F08A7}" srcOrd="4" destOrd="0" parTransId="{BEF743A4-68FA-4653-AEA2-CFE330368065}" sibTransId="{01B8027E-2F43-4B19-ACA0-72D7BBC30592}"/>
    <dgm:cxn modelId="{8724937E-B807-4009-8CA3-DDFCB559046F}" srcId="{B31AFAFF-5F38-49B3-B6C4-1A2D293E573D}" destId="{CF84875E-B0C1-41DE-B572-63665CB4A866}" srcOrd="0" destOrd="0" parTransId="{69131AB7-A3B3-4D5E-8134-4D449BD9064F}" sibTransId="{86BB1D77-EE16-44AE-8F60-DF3931C95166}"/>
    <dgm:cxn modelId="{4CC14982-9B8C-4C36-B7E6-7653DA6AA158}" srcId="{B31AFAFF-5F38-49B3-B6C4-1A2D293E573D}" destId="{50B4ED3A-9A0A-486C-ABF1-96C457959ABA}" srcOrd="1" destOrd="0" parTransId="{9FD33B4F-EA6A-4763-9EB9-F3DC13D322CC}" sibTransId="{54AEC242-A184-4200-9D7A-49FAB50C5FC5}"/>
    <dgm:cxn modelId="{ED4AA0A5-4255-4864-BC9E-7A92EF0EFFC9}" type="presOf" srcId="{5A331A39-0FE7-4B86-8888-074F4329E95F}" destId="{FA28B53E-00D1-4B30-B293-A2E3AE60B260}" srcOrd="0" destOrd="1" presId="urn:microsoft.com/office/officeart/2005/8/layout/vList5"/>
    <dgm:cxn modelId="{0B06C4B7-1DCF-4D47-A7FD-3263ABB6DF10}" srcId="{15F89F70-6E30-4E09-842B-D7B92A0BCDB7}" destId="{B31AFAFF-5F38-49B3-B6C4-1A2D293E573D}" srcOrd="0" destOrd="0" parTransId="{8AB55508-5A6B-477E-A44E-23903E3E76CF}" sibTransId="{7DA067E7-C6AE-4125-B1E2-26E72B65678F}"/>
    <dgm:cxn modelId="{42BF2BC1-1F8C-4736-8078-A7A6016E5D5C}" srcId="{62A67470-3859-4A82-9C5E-7A49B691224E}" destId="{5A331A39-0FE7-4B86-8888-074F4329E95F}" srcOrd="1" destOrd="0" parTransId="{4BE3D849-F3D8-4965-B094-3F35382F35EB}" sibTransId="{FAE1D5D7-A665-4100-BC84-89C3AA620A9F}"/>
    <dgm:cxn modelId="{762FF2C2-0656-4BAC-AD41-8DD06059035A}" type="presOf" srcId="{D062D6D6-BD33-4142-85F5-7FBE8422782C}" destId="{FA28B53E-00D1-4B30-B293-A2E3AE60B260}" srcOrd="0" destOrd="0" presId="urn:microsoft.com/office/officeart/2005/8/layout/vList5"/>
    <dgm:cxn modelId="{1FBF93C4-26E4-4B74-8539-79A83986156E}" srcId="{62A67470-3859-4A82-9C5E-7A49B691224E}" destId="{C438FE3F-CA4B-4B57-882F-E163F58996C1}" srcOrd="2" destOrd="0" parTransId="{E1A017B7-0011-4A19-B4E0-C740CF7188AF}" sibTransId="{B7E291AC-8397-4B3C-85D8-12566F613428}"/>
    <dgm:cxn modelId="{16E553D2-BDC3-45EC-A609-8835BE057C7C}" type="presOf" srcId="{F28DA324-A4A7-4D76-A997-33EB8A077D7C}" destId="{FA28B53E-00D1-4B30-B293-A2E3AE60B260}" srcOrd="0" destOrd="3" presId="urn:microsoft.com/office/officeart/2005/8/layout/vList5"/>
    <dgm:cxn modelId="{60835CD3-7D4C-49F7-9D94-9331312E79B7}" type="presOf" srcId="{50B4ED3A-9A0A-486C-ABF1-96C457959ABA}" destId="{0CBFB070-EA80-433F-AFA2-85A4DA77EFEE}" srcOrd="0" destOrd="1" presId="urn:microsoft.com/office/officeart/2005/8/layout/vList5"/>
    <dgm:cxn modelId="{0BEA7FD8-6962-4CD6-9549-96D5D0C91EFD}" type="presOf" srcId="{CF84875E-B0C1-41DE-B572-63665CB4A866}" destId="{0CBFB070-EA80-433F-AFA2-85A4DA77EFEE}" srcOrd="0" destOrd="0" presId="urn:microsoft.com/office/officeart/2005/8/layout/vList5"/>
    <dgm:cxn modelId="{5C4FFAF7-74D5-4CA8-8EC6-EB04C4C764CF}" type="presOf" srcId="{C438FE3F-CA4B-4B57-882F-E163F58996C1}" destId="{FA28B53E-00D1-4B30-B293-A2E3AE60B260}" srcOrd="0" destOrd="2" presId="urn:microsoft.com/office/officeart/2005/8/layout/vList5"/>
    <dgm:cxn modelId="{2CBE2D64-9249-4734-AAF7-17118FC26098}" type="presParOf" srcId="{B99BF593-7F28-4C78-AED4-4B42A5F6F6D8}" destId="{2A4F4935-3891-4B06-A8A5-512048B26598}" srcOrd="0" destOrd="0" presId="urn:microsoft.com/office/officeart/2005/8/layout/vList5"/>
    <dgm:cxn modelId="{5923FE9B-57A0-48D6-AF02-A1DDDA2EF852}" type="presParOf" srcId="{2A4F4935-3891-4B06-A8A5-512048B26598}" destId="{3A288409-AF7D-43E9-B88F-0B8393E3B285}" srcOrd="0" destOrd="0" presId="urn:microsoft.com/office/officeart/2005/8/layout/vList5"/>
    <dgm:cxn modelId="{401D4103-62B0-4167-B51A-BFC375DB2954}" type="presParOf" srcId="{2A4F4935-3891-4B06-A8A5-512048B26598}" destId="{0CBFB070-EA80-433F-AFA2-85A4DA77EFEE}" srcOrd="1" destOrd="0" presId="urn:microsoft.com/office/officeart/2005/8/layout/vList5"/>
    <dgm:cxn modelId="{82A39365-62B3-4FA8-BEDB-1B8DE39D2E1A}" type="presParOf" srcId="{B99BF593-7F28-4C78-AED4-4B42A5F6F6D8}" destId="{70E0368A-3F51-42B5-924A-3CB0538DCF0F}" srcOrd="1" destOrd="0" presId="urn:microsoft.com/office/officeart/2005/8/layout/vList5"/>
    <dgm:cxn modelId="{165C258E-8A83-4747-A8DA-CA71E1906858}" type="presParOf" srcId="{B99BF593-7F28-4C78-AED4-4B42A5F6F6D8}" destId="{CDCBC6BE-476F-4AD0-8707-0EEF9A0EC5A1}" srcOrd="2" destOrd="0" presId="urn:microsoft.com/office/officeart/2005/8/layout/vList5"/>
    <dgm:cxn modelId="{ED864333-FA1D-496B-8D17-542AC1423A17}" type="presParOf" srcId="{CDCBC6BE-476F-4AD0-8707-0EEF9A0EC5A1}" destId="{CD0073EF-4C1C-43CF-8956-F707F29C4BEC}" srcOrd="0" destOrd="0" presId="urn:microsoft.com/office/officeart/2005/8/layout/vList5"/>
    <dgm:cxn modelId="{F6E2FC7A-D053-4A04-896A-06BA9B799E11}" type="presParOf" srcId="{CDCBC6BE-476F-4AD0-8707-0EEF9A0EC5A1}" destId="{FA28B53E-00D1-4B30-B293-A2E3AE60B26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FB070-EA80-433F-AFA2-85A4DA77EFEE}">
      <dsp:nvSpPr>
        <dsp:cNvPr id="0" name=""/>
        <dsp:cNvSpPr/>
      </dsp:nvSpPr>
      <dsp:spPr>
        <a:xfrm rot="5400000">
          <a:off x="4690423" y="-1501284"/>
          <a:ext cx="181140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고구려 역사 </a:t>
          </a:r>
          <a:r>
            <a:rPr lang="ko-KR" altLang="en-US" sz="1600" kern="1200" dirty="0" err="1">
              <a:latin typeface="궁서" panose="02030600000101010101" pitchFamily="18" charset="-127"/>
              <a:ea typeface="궁서" panose="02030600000101010101" pitchFamily="18" charset="-127"/>
            </a:rPr>
            <a:t>체험장에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 대한 관심 유도 및 일본 역사 교과서 왜곡에 따른 민족사관을 고취하여 중국의 고구려 역사 왜곡 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– 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동북공정에 대응하고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, 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시간과 공간을 초월하여 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1,600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년 전으로 테마 여행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각 나라 각 민족들은 선민사상을 주장하고 있으나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,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 우리 한민족은 천손민족으로서 신의 자손임을 전 세계에 선포하노라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.</a:t>
          </a:r>
          <a:endParaRPr lang="ko-KR" altLang="en-US" sz="1600" kern="1200" dirty="0">
            <a:latin typeface="궁서" panose="02030600000101010101" pitchFamily="18" charset="-127"/>
            <a:ea typeface="궁서" panose="02030600000101010101" pitchFamily="18" charset="-127"/>
          </a:endParaRPr>
        </a:p>
      </dsp:txBody>
      <dsp:txXfrm rot="-5400000">
        <a:off x="2962656" y="314909"/>
        <a:ext cx="5178518" cy="1634557"/>
      </dsp:txXfrm>
    </dsp:sp>
    <dsp:sp modelId="{3A288409-AF7D-43E9-B88F-0B8393E3B285}">
      <dsp:nvSpPr>
        <dsp:cNvPr id="0" name=""/>
        <dsp:cNvSpPr/>
      </dsp:nvSpPr>
      <dsp:spPr>
        <a:xfrm>
          <a:off x="0" y="56"/>
          <a:ext cx="2962656" cy="22642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국민의식</a:t>
          </a:r>
        </a:p>
      </dsp:txBody>
      <dsp:txXfrm>
        <a:off x="110532" y="110588"/>
        <a:ext cx="2741592" cy="2043197"/>
      </dsp:txXfrm>
    </dsp:sp>
    <dsp:sp modelId="{FA28B53E-00D1-4B30-B293-A2E3AE60B260}">
      <dsp:nvSpPr>
        <dsp:cNvPr id="0" name=""/>
        <dsp:cNvSpPr/>
      </dsp:nvSpPr>
      <dsp:spPr>
        <a:xfrm rot="5400000">
          <a:off x="4690423" y="876190"/>
          <a:ext cx="181140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테마 </a:t>
          </a:r>
          <a:r>
            <a:rPr lang="ko-KR" altLang="en-US" sz="1600" kern="1200" dirty="0" err="1">
              <a:latin typeface="궁서" panose="02030600000101010101" pitchFamily="18" charset="-127"/>
              <a:ea typeface="궁서" panose="02030600000101010101" pitchFamily="18" charset="-127"/>
            </a:rPr>
            <a:t>파크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 관광화 인식변화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역사놀이를 체험하는 다양한 </a:t>
          </a:r>
          <a:r>
            <a:rPr lang="ko-KR" altLang="en-US" sz="1600" kern="1200" dirty="0" err="1">
              <a:latin typeface="궁서" panose="02030600000101010101" pitchFamily="18" charset="-127"/>
              <a:ea typeface="궁서" panose="02030600000101010101" pitchFamily="18" charset="-127"/>
            </a:rPr>
            <a:t>즐길거리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 제공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민족문화에 대한 인식변화 유도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.</a:t>
          </a:r>
          <a:endParaRPr lang="ko-KR" altLang="en-US" sz="1600" kern="1200" dirty="0">
            <a:latin typeface="궁서" panose="02030600000101010101" pitchFamily="18" charset="-127"/>
            <a:ea typeface="궁서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역사 체험의 현장 행사에 따른 민족의식 고취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- 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주 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5</a:t>
          </a:r>
          <a:r>
            <a:rPr lang="ko-KR" altLang="en-US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일 근무로 인한 새로운 관광상품 개발</a:t>
          </a:r>
          <a:r>
            <a:rPr lang="en-US" altLang="ko-KR" sz="1600" kern="1200" dirty="0">
              <a:latin typeface="궁서" panose="02030600000101010101" pitchFamily="18" charset="-127"/>
              <a:ea typeface="궁서" panose="02030600000101010101" pitchFamily="18" charset="-127"/>
            </a:rPr>
            <a:t>.</a:t>
          </a:r>
          <a:endParaRPr lang="ko-KR" altLang="en-US" sz="1600" kern="1200" dirty="0">
            <a:latin typeface="궁서" panose="02030600000101010101" pitchFamily="18" charset="-127"/>
            <a:ea typeface="궁서" panose="02030600000101010101" pitchFamily="18" charset="-127"/>
          </a:endParaRPr>
        </a:p>
      </dsp:txBody>
      <dsp:txXfrm rot="-5400000">
        <a:off x="2962656" y="2692383"/>
        <a:ext cx="5178518" cy="1634557"/>
      </dsp:txXfrm>
    </dsp:sp>
    <dsp:sp modelId="{CD0073EF-4C1C-43CF-8956-F707F29C4BEC}">
      <dsp:nvSpPr>
        <dsp:cNvPr id="0" name=""/>
        <dsp:cNvSpPr/>
      </dsp:nvSpPr>
      <dsp:spPr>
        <a:xfrm>
          <a:off x="0" y="2377531"/>
          <a:ext cx="2962656" cy="22642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사회적 환경</a:t>
          </a:r>
        </a:p>
      </dsp:txBody>
      <dsp:txXfrm>
        <a:off x="110532" y="2488063"/>
        <a:ext cx="2741592" cy="2043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F5EFA96E-714F-47C3-803E-98CF25378B8C}" type="datetime1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4CDAC97-5537-49A5-90CF-50DCB7DEE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6185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5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6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7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8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0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2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DAC97-5537-49A5-90CF-50DCB7DEEAD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388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13" Type="http://schemas.openxmlformats.org/officeDocument/2006/relationships/image" Target="../media/image1.jpe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F2E10F6-7BFA-4E19-83D7-506A294EC441}" type="datetimeFigureOut">
              <a:rPr lang="ko-KR" altLang="en-US" smtClean="0"/>
              <a:t>2021-07-16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5AB6819-CF8E-48AE-A0D8-DADF3DE7AEC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diagramData" Target="../diagrams/data1.xml"  /><Relationship Id="rId3" Type="http://schemas.openxmlformats.org/officeDocument/2006/relationships/diagramLayout" Target="../diagrams/layout1.xml"  /><Relationship Id="rId4" Type="http://schemas.openxmlformats.org/officeDocument/2006/relationships/diagramQuickStyle" Target="../diagrams/quickStyle1.xml"  /><Relationship Id="rId5" Type="http://schemas.openxmlformats.org/officeDocument/2006/relationships/diagramColors" Target="../diagrams/colors1.xml"  /><Relationship Id="rId6" Type="http://schemas.microsoft.com/office/2007/relationships/diagramDrawing" Target="../diagrams/drawing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package" Target="../embeddings/oleObject1.xlsx"  /><Relationship Id="rId4" Type="http://schemas.openxmlformats.org/officeDocument/2006/relationships/image" Target="../media/image5.emf"  /><Relationship Id="rId5" Type="http://schemas.openxmlformats.org/officeDocument/2006/relationships/package" Target="../embeddings/oleObject2.xlsx"  /><Relationship Id="rId6" Type="http://schemas.openxmlformats.org/officeDocument/2006/relationships/image" Target="../media/image6.emf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package" Target="../embeddings/oleObject3.xlsx"  /><Relationship Id="rId4" Type="http://schemas.openxmlformats.org/officeDocument/2006/relationships/image" Target="../media/image7.emf"  /><Relationship Id="rId5" Type="http://schemas.openxmlformats.org/officeDocument/2006/relationships/package" Target="../embeddings/oleObject4.xlsx"  /><Relationship Id="rId6" Type="http://schemas.openxmlformats.org/officeDocument/2006/relationships/image" Target="../media/image8.emf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Relationship Id="rId3" Type="http://schemas.openxmlformats.org/officeDocument/2006/relationships/package" Target="../embeddings/oleObject5.xlsx"  /><Relationship Id="rId4" Type="http://schemas.openxmlformats.org/officeDocument/2006/relationships/image" Target="../media/image9.emf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0.jpe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9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11.jpeg"  /><Relationship Id="rId4" Type="http://schemas.openxmlformats.org/officeDocument/2006/relationships/image" Target="../media/image12.jpe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467544" y="260648"/>
            <a:ext cx="8424936" cy="86409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>
                <a:latin typeface="휴먼옛체"/>
                <a:ea typeface="휴먼옛체"/>
              </a:rPr>
              <a:t>역사놀이공원 </a:t>
            </a:r>
            <a:r>
              <a:rPr lang="en-US" altLang="ko-KR" sz="2400">
                <a:latin typeface="휴먼옛체"/>
                <a:ea typeface="휴먼옛체"/>
              </a:rPr>
              <a:t>(</a:t>
            </a:r>
            <a:r>
              <a:rPr lang="ko-KR" altLang="en-US" sz="2400">
                <a:latin typeface="휴먼옛체"/>
                <a:ea typeface="휴먼옛체"/>
              </a:rPr>
              <a:t>고구려 역사문화 체험의 장</a:t>
            </a:r>
            <a:r>
              <a:rPr lang="en-US" altLang="ko-KR" sz="2400">
                <a:latin typeface="휴먼옛체"/>
                <a:ea typeface="휴먼옛체"/>
              </a:rPr>
              <a:t>)</a:t>
            </a:r>
            <a:r>
              <a:rPr lang="ko-KR" altLang="en-US" sz="2400">
                <a:latin typeface="휴먼옛체"/>
                <a:ea typeface="휴먼옛체"/>
              </a:rPr>
              <a:t> </a:t>
            </a:r>
            <a:endParaRPr lang="ko-KR" altLang="en-US" sz="2400">
              <a:latin typeface="휴먼옛체"/>
              <a:ea typeface="휴먼옛체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16831"/>
            <a:ext cx="3528392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355976" y="4980456"/>
            <a:ext cx="4392488" cy="64807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광개토대왕 </a:t>
            </a:r>
            <a:r>
              <a:rPr lang="ko-KR" altLang="en-US" sz="3200" dirty="0" err="1">
                <a:latin typeface="휴먼옛체" panose="02030504000101010101" pitchFamily="18" charset="-127"/>
                <a:ea typeface="휴먼옛체" panose="02030504000101010101" pitchFamily="18" charset="-127"/>
              </a:rPr>
              <a:t>테마파크</a:t>
            </a:r>
            <a:endParaRPr lang="ko-KR" altLang="en-US" sz="3200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55976" y="5877272"/>
            <a:ext cx="3960440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㈜ 광개토대왕 테마파크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43" y="1940629"/>
            <a:ext cx="2650886" cy="26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37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64903"/>
          </a:xfrm>
        </p:spPr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ko-KR" altLang="en-US" sz="3600">
                <a:latin typeface="휴먼옛체"/>
                <a:ea typeface="휴먼옛체"/>
              </a:rPr>
              <a:t>고구려 역사놀이공원</a:t>
            </a:r>
            <a:endParaRPr lang="ko-KR" altLang="en-US" sz="3600">
              <a:latin typeface="휴먼옛체"/>
              <a:ea typeface="휴먼옛체"/>
            </a:endParaRPr>
          </a:p>
          <a:p>
            <a:pPr marL="0" indent="0" algn="ctr">
              <a:buNone/>
              <a:defRPr/>
            </a:pPr>
            <a:endParaRPr lang="en-US" altLang="ko-KR" sz="2400">
              <a:latin typeface="휴먼옛체"/>
              <a:ea typeface="휴먼옛체"/>
            </a:endParaRPr>
          </a:p>
          <a:p>
            <a:pPr marL="0" indent="0" algn="ctr">
              <a:buNone/>
              <a:defRPr/>
            </a:pPr>
            <a:r>
              <a:rPr lang="ko-KR" altLang="en-US" sz="2400">
                <a:latin typeface="휴먼옛체"/>
                <a:ea typeface="휴먼옛체"/>
              </a:rPr>
              <a:t>고구려 역사놀이공원 </a:t>
            </a:r>
            <a:r>
              <a:rPr lang="en-US" altLang="ko-KR" sz="2400">
                <a:latin typeface="휴먼옛체"/>
                <a:ea typeface="휴먼옛체"/>
              </a:rPr>
              <a:t>(</a:t>
            </a:r>
            <a:r>
              <a:rPr lang="ko-KR" altLang="en-US" sz="2400">
                <a:latin typeface="휴먼옛체"/>
                <a:ea typeface="휴먼옛체"/>
              </a:rPr>
              <a:t>한민족 역사문화 민족사업</a:t>
            </a:r>
            <a:r>
              <a:rPr lang="en-US" altLang="ko-KR" sz="2400">
                <a:latin typeface="휴먼옛체"/>
                <a:ea typeface="휴먼옛체"/>
              </a:rPr>
              <a:t>)</a:t>
            </a:r>
            <a:endParaRPr lang="en-US" altLang="ko-KR" sz="2400">
              <a:latin typeface="휴먼옛체"/>
              <a:ea typeface="휴먼옛체"/>
            </a:endParaRPr>
          </a:p>
          <a:p>
            <a:pPr marL="0" indent="0" algn="just">
              <a:buNone/>
              <a:defRPr/>
            </a:pPr>
            <a:endParaRPr lang="en-US" altLang="ko-KR" sz="2400">
              <a:latin typeface="휴먼옛체"/>
              <a:ea typeface="휴먼옛체"/>
            </a:endParaRPr>
          </a:p>
          <a:p>
            <a:pPr marL="0" indent="0" algn="ctr">
              <a:buNone/>
              <a:defRPr/>
            </a:pPr>
            <a:r>
              <a:rPr lang="ko-KR" altLang="en-US" sz="2400">
                <a:latin typeface="휴먼옛체"/>
                <a:ea typeface="휴먼옛체"/>
              </a:rPr>
              <a:t> 국민 청소년 승마장 겸</a:t>
            </a:r>
            <a:r>
              <a:rPr lang="en-US" altLang="ko-KR" sz="2400">
                <a:latin typeface="휴먼옛체"/>
                <a:ea typeface="휴먼옛체"/>
              </a:rPr>
              <a:t>,</a:t>
            </a:r>
            <a:endParaRPr lang="en-US" altLang="ko-KR" sz="2400">
              <a:latin typeface="휴먼옛체"/>
              <a:ea typeface="휴먼옛체"/>
            </a:endParaRPr>
          </a:p>
          <a:p>
            <a:pPr marL="0" indent="0" algn="ctr">
              <a:buNone/>
              <a:defRPr/>
            </a:pPr>
            <a:r>
              <a:rPr lang="ko-KR" altLang="en-US" sz="2400">
                <a:latin typeface="휴먼옛체"/>
                <a:ea typeface="휴먼옛체"/>
              </a:rPr>
              <a:t>한민족 역사 문화 수련장 </a:t>
            </a:r>
            <a:endParaRPr lang="ko-KR" altLang="en-US" sz="2400">
              <a:latin typeface="휴먼옛체"/>
              <a:ea typeface="휴먼옛체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</p:spPr>
        <p:txBody>
          <a:bodyPr/>
          <a:lstStyle/>
          <a:p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          사 업 계 획 서 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/>
          <p:nvPr/>
        </p:nvSpPr>
        <p:spPr>
          <a:xfrm>
            <a:off x="457200" y="4725144"/>
            <a:ext cx="8229600" cy="85010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000">
                <a:latin typeface="휴먼옛체"/>
                <a:ea typeface="휴먼옛체"/>
              </a:rPr>
              <a:t>영원히 해가 지지 않을 대고구려 제국을 건설할 것이다</a:t>
            </a:r>
            <a:r>
              <a:rPr lang="en-US" altLang="ko-KR" sz="2000">
                <a:latin typeface="휴먼옛체"/>
                <a:ea typeface="휴먼옛체"/>
              </a:rPr>
              <a:t>.</a:t>
            </a:r>
            <a:r>
              <a:rPr lang="ko-KR" altLang="en-US" sz="2000">
                <a:latin typeface="휴먼옛체"/>
                <a:ea typeface="휴먼옛체"/>
              </a:rPr>
              <a:t> </a:t>
            </a:r>
            <a:endParaRPr lang="ko-KR" altLang="en-US" sz="2000">
              <a:latin typeface="휴먼옛체"/>
              <a:ea typeface="휴먼옛체"/>
            </a:endParaRPr>
          </a:p>
        </p:txBody>
      </p:sp>
    </p:spTree>
    <p:extLst>
      <p:ext uri="{BB962C8B-B14F-4D97-AF65-F5344CB8AC3E}">
        <p14:creationId xmlns:p14="http://schemas.microsoft.com/office/powerpoint/2010/main" val="4238330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기획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회사운용 및 설립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사업 내용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 err="1">
                <a:latin typeface="휴먼옛체" panose="02030504000101010101" pitchFamily="18" charset="-127"/>
                <a:ea typeface="휴먼옛체" panose="02030504000101010101" pitchFamily="18" charset="-127"/>
              </a:rPr>
              <a:t>테마파크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총 사업비 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시장분석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개발환경분석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개발 </a:t>
            </a:r>
            <a:r>
              <a:rPr lang="en-US" altLang="ko-KR" dirty="0">
                <a:latin typeface="Baskerville Old Face" panose="02020602080505020303" pitchFamily="18" charset="0"/>
                <a:ea typeface="휴먼옛체" panose="02030504000101010101" pitchFamily="18" charset="-127"/>
              </a:rPr>
              <a:t>Concept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 </a:t>
            </a: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마케팅 전략</a:t>
            </a:r>
            <a:endParaRPr lang="en-US" altLang="ko-KR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이미지 자료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INDEX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30046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l"/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본 사업의 목적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모서리가 둥근 직사각형 4"/>
          <p:cNvSpPr/>
          <p:nvPr/>
        </p:nvSpPr>
        <p:spPr>
          <a:xfrm>
            <a:off x="467544" y="1556792"/>
            <a:ext cx="8352928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대조선의 유구한 문화와 역사를 간직한 우리 한민족은 어느 나라와 비교해도 손색이 없을 정도로 위대하고 찬란한 고유의 전통문화가 있다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이 훌륭한 역사와 문화를 자손만대에 온전히 보전하고 전세계에 한민족의 우수성을 널리 알리고자 한다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</a:p>
          <a:p>
            <a:pPr algn="just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이러한 숭고한 뜻을 받들어 ㈜ 광개토대왕 테마파크는 고구려의 찬란한 기마민족의 민족문화를 체험할 수 있는 한민족 역사놀이공원을 건립하여 세계 명품 역사관광지로 개발하여 그 우수성을 세계만방에 알리고자 함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49528" y="3717032"/>
            <a:ext cx="8352928" cy="1512168"/>
          </a:xfrm>
          <a:prstGeom prst="roundRect">
            <a:avLst>
              <a:gd name="adj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고구려 역사놀이공원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광개토대왕 테마파크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에 고구려 평양성을 그대로 재현하여 고유의 건축양식을 통해 국내뿐 아니라 전세계 관광객에게 많은 볼거리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놀거리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먹을거리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살거리 등 만족감을 주고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K- Pop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물결에 선구자가 되어 우리 한민족 특유의 역사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문화유산을 전세계에 알릴 계획임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 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49528" y="5373216"/>
            <a:ext cx="8370944" cy="10584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다양한 프로그램을 통해 이 강토와 역사의 미래 주역인 초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중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고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대학생들에게 한민족 고구려의 위대한 역사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문화 유산을 체험하고 보존케 하여 감히 외세들이 범할 수 없게 만들고자 함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662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768871"/>
              </p:ext>
            </p:extLst>
          </p:nvPr>
        </p:nvGraphicFramePr>
        <p:xfrm>
          <a:off x="457200" y="1484313"/>
          <a:ext cx="8229600" cy="4641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altLang="ko-KR" dirty="0">
                <a:latin typeface="Baskerville Old Face" panose="02020602080505020303" pitchFamily="18" charset="0"/>
              </a:rPr>
              <a:t>2.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기획 배경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60196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3.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기획방향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611560" y="1628800"/>
            <a:ext cx="252028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궁서" panose="02030600000101010101" pitchFamily="18" charset="-127"/>
                <a:ea typeface="궁서" panose="02030600000101010101" pitchFamily="18" charset="-127"/>
              </a:rPr>
              <a:t>영화 제작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3438552" y="1628800"/>
            <a:ext cx="252028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궁서" panose="02030600000101010101" pitchFamily="18" charset="-127"/>
                <a:ea typeface="궁서" panose="02030600000101010101" pitchFamily="18" charset="-127"/>
              </a:rPr>
              <a:t>광개토대왕 </a:t>
            </a:r>
            <a:endParaRPr lang="en-US" altLang="ko-KR" sz="20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ctr"/>
            <a:r>
              <a:rPr lang="ko-KR" altLang="en-US" sz="2000" dirty="0" err="1">
                <a:latin typeface="궁서" panose="02030600000101010101" pitchFamily="18" charset="-127"/>
                <a:ea typeface="궁서" panose="02030600000101010101" pitchFamily="18" charset="-127"/>
              </a:rPr>
              <a:t>테마파크</a:t>
            </a:r>
            <a:r>
              <a:rPr lang="ko-KR" altLang="en-US" sz="2000" dirty="0">
                <a:latin typeface="궁서" panose="02030600000101010101" pitchFamily="18" charset="-127"/>
                <a:ea typeface="궁서" panose="02030600000101010101" pitchFamily="18" charset="-127"/>
              </a:rPr>
              <a:t> 건립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1560" y="2564904"/>
            <a:ext cx="2520280" cy="302433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광개토대왕의     세발까마귀</a:t>
            </a:r>
            <a:r>
              <a:rPr lang="en-US" altLang="ko-KR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</a:t>
            </a: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endParaRPr lang="en-US" altLang="ko-KR" sz="20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영화 제작</a:t>
            </a:r>
            <a:endParaRPr lang="en-US" altLang="ko-KR" sz="20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촬영 후</a:t>
            </a:r>
            <a:r>
              <a:rPr lang="en-US" altLang="ko-KR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촬영장을 역사    </a:t>
            </a:r>
            <a:endParaRPr lang="en-US" altLang="ko-KR" sz="20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체험의 장으로 </a:t>
            </a:r>
            <a:endParaRPr lang="en-US" altLang="ko-KR" sz="20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r>
              <a:rPr lang="ko-KR" altLang="en-US" sz="20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개발 </a:t>
            </a:r>
            <a:endParaRPr lang="en-US" altLang="ko-KR" sz="20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300192" y="2564904"/>
            <a:ext cx="2520280" cy="3024336"/>
          </a:xfrm>
          <a:prstGeom prst="roundRect">
            <a:avLst>
              <a:gd name="adj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Arial"/>
              <a:buChar char="•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지역경제 활성화 </a:t>
            </a:r>
            <a:endParaRPr lang="ko-KR" altLang="en-US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지역 특화된 관광산업 개발</a:t>
            </a:r>
            <a:endParaRPr lang="ko-KR" altLang="en-US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청년 일자리 및  중장년 일자리 만들기</a:t>
            </a:r>
            <a:endParaRPr lang="ko-KR" altLang="en-US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>
              <a:buFont typeface="Arial"/>
              <a:buChar char="•"/>
              <a:defRPr/>
            </a:pPr>
            <a:endParaRPr lang="ko-KR" altLang="en-US">
              <a:latin typeface="궁서"/>
              <a:ea typeface="궁서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438552" y="2564904"/>
            <a:ext cx="2520280" cy="302433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고구려 </a:t>
            </a:r>
            <a:r>
              <a:rPr lang="ko-KR" altLang="en-US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광개토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대왕의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</a:p>
          <a:p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- </a:t>
            </a:r>
            <a:r>
              <a:rPr lang="ko-KR" altLang="en-US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광개토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정신으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 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로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</a:t>
            </a:r>
          </a:p>
          <a:p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>
              <a:buFont typeface="Arial" charset="0"/>
              <a:buChar char="•"/>
            </a:pPr>
            <a:r>
              <a:rPr lang="ko-KR" altLang="en-US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광개토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연합구성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>
              <a:buFont typeface="Arial" charset="0"/>
              <a:buChar char="•"/>
            </a:pP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>
              <a:buFont typeface="Arial" charset="0"/>
              <a:buChar char="•"/>
            </a:pPr>
            <a:r>
              <a:rPr lang="ko-KR" altLang="en-US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체험형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고구려 역사놀이  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공원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300192" y="1628800"/>
            <a:ext cx="252028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dirty="0">
                <a:solidFill>
                  <a:schemeClr val="bg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 </a:t>
            </a:r>
            <a:r>
              <a:rPr lang="ko-KR" altLang="en-US" sz="2000" dirty="0">
                <a:solidFill>
                  <a:schemeClr val="bg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국토 균형 발전</a:t>
            </a:r>
            <a:endParaRPr lang="en-US" altLang="ko-KR" sz="2000" dirty="0">
              <a:solidFill>
                <a:schemeClr val="bg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207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4.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기대효과 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모서리가 둥근 직사각형 4"/>
          <p:cNvSpPr/>
          <p:nvPr/>
        </p:nvSpPr>
        <p:spPr>
          <a:xfrm>
            <a:off x="323528" y="1484784"/>
            <a:ext cx="8496944" cy="5112568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just">
              <a:buFont typeface="Arial"/>
              <a:buNone/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광개토대왕 테마</a:t>
            </a:r>
            <a:r>
              <a:rPr lang="ko-KR" altLang="en-US" sz="1600">
                <a:latin typeface="Baskerville Old Face"/>
                <a:ea typeface="궁서"/>
              </a:rPr>
              <a:t>파크</a:t>
            </a:r>
            <a:r>
              <a:rPr lang="en-US" altLang="ko-KR" sz="1600">
                <a:latin typeface="궁서"/>
                <a:ea typeface="궁서"/>
              </a:rPr>
              <a:t> (</a:t>
            </a:r>
            <a:r>
              <a:rPr lang="ko-KR" altLang="en-US" sz="1600">
                <a:latin typeface="궁서"/>
                <a:ea typeface="궁서"/>
              </a:rPr>
              <a:t>체험형 역사놀이공원</a:t>
            </a:r>
            <a:r>
              <a:rPr lang="en-US" altLang="ko-KR" sz="1600">
                <a:latin typeface="궁서"/>
                <a:ea typeface="궁서"/>
              </a:rPr>
              <a:t>)</a:t>
            </a:r>
            <a:r>
              <a:rPr lang="ko-KR" altLang="en-US" sz="1600">
                <a:latin typeface="궁서"/>
                <a:ea typeface="궁서"/>
              </a:rPr>
              <a:t>를</a:t>
            </a:r>
            <a:r>
              <a:rPr lang="en-US" altLang="ko-KR" sz="1600">
                <a:latin typeface="궁서"/>
                <a:ea typeface="궁서"/>
              </a:rPr>
              <a:t> </a:t>
            </a:r>
            <a:r>
              <a:rPr lang="ko-KR" altLang="en-US" sz="1600">
                <a:latin typeface="궁서"/>
                <a:ea typeface="궁서"/>
              </a:rPr>
              <a:t>세계적인 명품 관광지로 개발</a:t>
            </a:r>
            <a:r>
              <a:rPr lang="en-US" altLang="ko-KR" sz="1600">
                <a:latin typeface="궁서"/>
                <a:ea typeface="궁서"/>
              </a:rPr>
              <a:t>, </a:t>
            </a: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latin typeface="궁서"/>
                <a:ea typeface="궁서"/>
              </a:rPr>
              <a:t>   </a:t>
            </a:r>
            <a:r>
              <a:rPr lang="ko-KR" altLang="en-US" sz="1600">
                <a:latin typeface="궁서"/>
                <a:ea typeface="궁서"/>
              </a:rPr>
              <a:t>한민족의 고유문화 유산을 천년</a:t>
            </a:r>
            <a:r>
              <a:rPr lang="en-US" altLang="ko-KR" sz="1600">
                <a:latin typeface="궁서"/>
                <a:ea typeface="궁서"/>
              </a:rPr>
              <a:t> </a:t>
            </a:r>
            <a:r>
              <a:rPr lang="ko-KR" altLang="en-US" sz="1600">
                <a:latin typeface="궁서"/>
                <a:ea typeface="궁서"/>
              </a:rPr>
              <a:t>만년 후손들에게 물려주기 위해 역사 바로알기와   </a:t>
            </a:r>
            <a:endParaRPr lang="ko-KR" altLang="en-US" sz="1600">
              <a:latin typeface="궁서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latin typeface="궁서"/>
                <a:ea typeface="궁서"/>
              </a:rPr>
              <a:t>   </a:t>
            </a:r>
            <a:r>
              <a:rPr lang="ko-KR" altLang="en-US" sz="1600">
                <a:latin typeface="궁서"/>
                <a:ea typeface="궁서"/>
              </a:rPr>
              <a:t>관광 세계화에 경쟁력 높임</a:t>
            </a:r>
            <a:r>
              <a:rPr lang="en-US" altLang="ko-KR" sz="1600">
                <a:latin typeface="궁서"/>
                <a:ea typeface="궁서"/>
              </a:rPr>
              <a:t>. </a:t>
            </a: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국내 초</a:t>
            </a:r>
            <a:r>
              <a:rPr lang="en-US" altLang="ko-KR" sz="1600">
                <a:latin typeface="궁서"/>
                <a:ea typeface="궁서"/>
              </a:rPr>
              <a:t>, </a:t>
            </a:r>
            <a:r>
              <a:rPr lang="ko-KR" altLang="en-US" sz="1600">
                <a:latin typeface="궁서"/>
                <a:ea typeface="궁서"/>
              </a:rPr>
              <a:t>중</a:t>
            </a:r>
            <a:r>
              <a:rPr lang="en-US" altLang="ko-KR" sz="1600">
                <a:latin typeface="궁서"/>
                <a:ea typeface="궁서"/>
              </a:rPr>
              <a:t>, </a:t>
            </a:r>
            <a:r>
              <a:rPr lang="ko-KR" altLang="en-US" sz="1600">
                <a:latin typeface="궁서"/>
                <a:ea typeface="궁서"/>
              </a:rPr>
              <a:t>고</a:t>
            </a:r>
            <a:r>
              <a:rPr lang="en-US" altLang="ko-KR" sz="1600">
                <a:latin typeface="궁서"/>
                <a:ea typeface="궁서"/>
              </a:rPr>
              <a:t>,</a:t>
            </a:r>
            <a:r>
              <a:rPr lang="ko-KR" altLang="en-US" sz="1600">
                <a:latin typeface="궁서"/>
                <a:ea typeface="궁서"/>
              </a:rPr>
              <a:t> 대학생 및 일반인들의 관심 유도</a:t>
            </a:r>
            <a:r>
              <a:rPr lang="en-US" altLang="ko-KR" sz="1600">
                <a:latin typeface="궁서"/>
                <a:ea typeface="궁서"/>
              </a:rPr>
              <a:t>.</a:t>
            </a: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latin typeface="궁서"/>
                <a:ea typeface="궁서"/>
              </a:rPr>
              <a:t>* </a:t>
            </a:r>
            <a:r>
              <a:rPr lang="ko-KR" altLang="en-US" sz="1600">
                <a:latin typeface="궁서"/>
                <a:ea typeface="궁서"/>
              </a:rPr>
              <a:t>국내</a:t>
            </a:r>
            <a:r>
              <a:rPr lang="en-US" altLang="ko-KR" sz="1600">
                <a:latin typeface="궁서"/>
                <a:ea typeface="궁서"/>
              </a:rPr>
              <a:t>, </a:t>
            </a:r>
            <a:r>
              <a:rPr lang="ko-KR" altLang="en-US" sz="1600">
                <a:latin typeface="궁서"/>
                <a:ea typeface="궁서"/>
              </a:rPr>
              <a:t>외 관광객 및 차별화된 전략과 특화된 서비스로 관광산업 육성</a:t>
            </a:r>
            <a:r>
              <a:rPr lang="en-US" altLang="ko-KR" sz="1600">
                <a:latin typeface="궁서"/>
                <a:ea typeface="궁서"/>
              </a:rPr>
              <a:t>.</a:t>
            </a:r>
            <a:endParaRPr lang="en-US" altLang="ko-KR" sz="1600">
              <a:latin typeface="궁서"/>
              <a:ea typeface="궁서"/>
            </a:endParaRPr>
          </a:p>
          <a:p>
            <a:pPr marL="0" indent="0" algn="just">
              <a:buFont typeface="Arial"/>
              <a:buNone/>
              <a:defRPr/>
            </a:pPr>
            <a:endParaRPr lang="ko-KR" altLang="en-US" sz="1600">
              <a:latin typeface="궁서"/>
              <a:ea typeface="궁서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역사 체험의 장을 통해 다양한 연출로 집객 유도 </a:t>
            </a:r>
            <a:r>
              <a:rPr lang="en-US" altLang="ko-KR" sz="1600">
                <a:latin typeface="궁서"/>
                <a:ea typeface="궁서"/>
              </a:rPr>
              <a:t>– </a:t>
            </a:r>
            <a:r>
              <a:rPr lang="ko-KR" altLang="en-US" sz="1600">
                <a:latin typeface="궁서"/>
                <a:ea typeface="궁서"/>
              </a:rPr>
              <a:t>국내</a:t>
            </a:r>
            <a:r>
              <a:rPr lang="en-US" altLang="ko-KR" sz="1600">
                <a:latin typeface="궁서"/>
                <a:ea typeface="궁서"/>
              </a:rPr>
              <a:t>, </a:t>
            </a:r>
            <a:r>
              <a:rPr lang="ko-KR" altLang="en-US" sz="1600">
                <a:latin typeface="궁서"/>
                <a:ea typeface="궁서"/>
              </a:rPr>
              <a:t>외</a:t>
            </a:r>
            <a:endParaRPr lang="ko-KR" altLang="en-US" sz="1600">
              <a:latin typeface="궁서"/>
              <a:ea typeface="궁서"/>
            </a:endParaRPr>
          </a:p>
          <a:p>
            <a:pPr marL="285750" indent="-285750" algn="just">
              <a:buFont typeface="Arial"/>
              <a:buChar char="•"/>
              <a:defRPr/>
            </a:pPr>
            <a:endParaRPr lang="en-US" altLang="ko-KR" sz="1600">
              <a:latin typeface="궁서"/>
              <a:ea typeface="궁서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영화 제작 및 상영 </a:t>
            </a:r>
            <a:r>
              <a:rPr lang="en-US" altLang="ko-KR" sz="1600">
                <a:latin typeface="궁서"/>
                <a:ea typeface="궁서"/>
              </a:rPr>
              <a:t>/ </a:t>
            </a:r>
            <a:r>
              <a:rPr lang="ko-KR" altLang="en-US" sz="1600">
                <a:latin typeface="궁서"/>
                <a:ea typeface="궁서"/>
              </a:rPr>
              <a:t>참여 업체 및 기업광고 극대화로 특성화 기업 활성화</a:t>
            </a:r>
            <a:r>
              <a:rPr lang="en-US" altLang="ko-KR" sz="1600">
                <a:latin typeface="궁서"/>
                <a:ea typeface="궁서"/>
              </a:rPr>
              <a:t>.</a:t>
            </a:r>
            <a:endParaRPr lang="en-US" altLang="ko-KR" sz="1600">
              <a:latin typeface="궁서"/>
              <a:ea typeface="궁서"/>
            </a:endParaRPr>
          </a:p>
          <a:p>
            <a:pPr marL="285750" indent="-285750" algn="just">
              <a:buFont typeface="Arial"/>
              <a:buChar char="•"/>
              <a:defRPr/>
            </a:pPr>
            <a:endParaRPr lang="en-US" altLang="ko-KR" sz="1600">
              <a:latin typeface="궁서"/>
              <a:ea typeface="궁서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광개토대왕 테마파크</a:t>
            </a:r>
            <a:r>
              <a:rPr lang="en-US" altLang="ko-KR" sz="1600">
                <a:latin typeface="궁서"/>
                <a:ea typeface="궁서"/>
              </a:rPr>
              <a:t> </a:t>
            </a:r>
            <a:r>
              <a:rPr lang="ko-KR" altLang="en-US" sz="1600">
                <a:latin typeface="궁서"/>
                <a:ea typeface="궁서"/>
              </a:rPr>
              <a:t>건립을 통하여 지방자치단체의 관광특화도시 위상 확립</a:t>
            </a:r>
            <a:r>
              <a:rPr lang="en-US" altLang="ko-KR" sz="1600">
                <a:latin typeface="궁서"/>
                <a:ea typeface="궁서"/>
              </a:rPr>
              <a:t>.</a:t>
            </a: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endParaRPr lang="en-US" altLang="ko-KR" sz="1600">
              <a:latin typeface="궁서"/>
              <a:ea typeface="궁서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자연과 어우러지는 환경 친화적으로 건설 예정으로 자연을 파괴 하지 않는 공법</a:t>
            </a:r>
            <a:r>
              <a:rPr lang="en-US" altLang="ko-KR" sz="1600">
                <a:latin typeface="궁서"/>
                <a:ea typeface="궁서"/>
              </a:rPr>
              <a:t>, </a:t>
            </a:r>
            <a:endParaRPr lang="en-US" altLang="ko-KR" sz="1600">
              <a:latin typeface="궁서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latin typeface="궁서"/>
                <a:ea typeface="궁서"/>
              </a:rPr>
              <a:t>   </a:t>
            </a:r>
            <a:r>
              <a:rPr lang="ko-KR" altLang="en-US" sz="1600">
                <a:latin typeface="궁서"/>
                <a:ea typeface="궁서"/>
              </a:rPr>
              <a:t>환경 파괴 거부 </a:t>
            </a:r>
            <a:endParaRPr lang="ko-KR" altLang="en-US" sz="1600">
              <a:latin typeface="궁서"/>
              <a:ea typeface="궁서"/>
            </a:endParaRPr>
          </a:p>
          <a:p>
            <a:pPr marL="285750" indent="-285750" algn="just">
              <a:buFont typeface="Arial"/>
              <a:buChar char="•"/>
              <a:defRPr/>
            </a:pPr>
            <a:endParaRPr lang="en-US" altLang="ko-KR" sz="1600">
              <a:latin typeface="궁서"/>
              <a:ea typeface="궁서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altLang="ko-KR" sz="1600">
                <a:latin typeface="궁서"/>
                <a:ea typeface="궁서"/>
              </a:rPr>
              <a:t>*</a:t>
            </a:r>
            <a:r>
              <a:rPr lang="ko-KR" altLang="en-US" sz="1600">
                <a:latin typeface="궁서"/>
                <a:ea typeface="궁서"/>
              </a:rPr>
              <a:t> 명품 역사관광 상품 실현</a:t>
            </a:r>
            <a:r>
              <a:rPr lang="en-US" altLang="ko-KR" sz="1600">
                <a:latin typeface="궁서"/>
                <a:ea typeface="궁서"/>
              </a:rPr>
              <a:t>.</a:t>
            </a:r>
            <a:r>
              <a:rPr lang="ko-KR" altLang="en-US" sz="1600">
                <a:latin typeface="궁서"/>
                <a:ea typeface="궁서"/>
              </a:rPr>
              <a:t> </a:t>
            </a:r>
            <a:endParaRPr lang="ko-KR" altLang="en-US" sz="1600">
              <a:latin typeface="궁서"/>
              <a:ea typeface="궁서"/>
            </a:endParaRPr>
          </a:p>
          <a:p>
            <a:pPr algn="just">
              <a:defRPr/>
            </a:pPr>
            <a:r>
              <a:rPr lang="ko-KR" altLang="en-US" sz="1600">
                <a:latin typeface="궁서"/>
                <a:ea typeface="궁서"/>
              </a:rPr>
              <a:t> </a:t>
            </a:r>
            <a:endParaRPr lang="ko-KR" altLang="en-US" sz="1600">
              <a:latin typeface="궁서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70089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5.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업무 방향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440013" y="1484784"/>
            <a:ext cx="446449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광개토대왕 테마파크 역사관광 개발 </a:t>
            </a:r>
          </a:p>
        </p:txBody>
      </p:sp>
      <p:sp>
        <p:nvSpPr>
          <p:cNvPr id="10" name="타원 9"/>
          <p:cNvSpPr/>
          <p:nvPr/>
        </p:nvSpPr>
        <p:spPr>
          <a:xfrm>
            <a:off x="323528" y="2314870"/>
            <a:ext cx="1800200" cy="91440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차별화된 전략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240213" y="2434036"/>
            <a:ext cx="6840760" cy="1845912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역사 명품관광 상품 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-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스포츠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레저 관광상품과의 차별화된 전략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1,600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년 전의 고구려 황궁 건립 및 성곽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고분벽화 재현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전통가옥 등 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300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여 채 건립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고구려 역사 </a:t>
            </a:r>
            <a:r>
              <a:rPr lang="ko-KR" altLang="en-US" sz="1600" dirty="0" err="1">
                <a:latin typeface="궁서" panose="02030600000101010101" pitchFamily="18" charset="-127"/>
                <a:ea typeface="궁서" panose="02030600000101010101" pitchFamily="18" charset="-127"/>
              </a:rPr>
              <a:t>체험장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 마련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시공을 초월한 고구려 역사 문화 속에서 그 시대의 복장을 입고 체험하는 역사의 체험 장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다양한 볼거리를 통한 명품관광 특화 산업 </a:t>
            </a:r>
            <a:endParaRPr lang="en-US" altLang="ko-KR" sz="16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23528" y="4653136"/>
            <a:ext cx="1800200" cy="91440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특화된 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서비스 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240213" y="4588566"/>
            <a:ext cx="6840760" cy="1845912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광개토대왕 영화 제작 계획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청소년 층을 주 관광객으로 국민 청소년 승마장 겸 민족문화 역사  체험 수련장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세계 전통문화 축제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참가국에 따라 문화의 날로 지정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sz="1600" dirty="0" err="1">
                <a:latin typeface="궁서" panose="02030600000101010101" pitchFamily="18" charset="-127"/>
                <a:ea typeface="궁서" panose="02030600000101010101" pitchFamily="18" charset="-127"/>
              </a:rPr>
              <a:t>행사팀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 초청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각국의 전통 기마병 </a:t>
            </a:r>
            <a:r>
              <a:rPr lang="ko-KR" altLang="en-US" sz="1600" dirty="0" err="1">
                <a:latin typeface="궁서" panose="02030600000101010101" pitchFamily="18" charset="-127"/>
                <a:ea typeface="궁서" panose="02030600000101010101" pitchFamily="18" charset="-127"/>
              </a:rPr>
              <a:t>열병식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전통 무희 의상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전통 무술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600" dirty="0">
                <a:latin typeface="궁서" panose="02030600000101010101" pitchFamily="18" charset="-127"/>
                <a:ea typeface="궁서" panose="02030600000101010101" pitchFamily="18" charset="-127"/>
              </a:rPr>
              <a:t>전통 악기 공연 등</a:t>
            </a:r>
            <a:r>
              <a:rPr lang="en-US" altLang="ko-KR" sz="16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0879013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1. </a:t>
            </a:r>
            <a:r>
              <a:rPr lang="ko-KR" altLang="en-US" sz="1600">
                <a:latin typeface="휴먼옛체"/>
                <a:ea typeface="휴먼옛체"/>
              </a:rPr>
              <a:t>회사의 설립 및 주관은 ㈜ 광개토대왕 테마파크가 한다</a:t>
            </a:r>
            <a:r>
              <a:rPr lang="en-US" altLang="ko-KR" sz="1600">
                <a:latin typeface="휴먼옛체"/>
                <a:ea typeface="휴먼옛체"/>
              </a:rPr>
              <a:t>.</a:t>
            </a: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2. </a:t>
            </a:r>
            <a:r>
              <a:rPr lang="ko-KR" altLang="en-US" sz="1600">
                <a:latin typeface="휴먼옛체"/>
                <a:ea typeface="휴먼옛체"/>
              </a:rPr>
              <a:t>내부 구성은 고구려 식으로 명칭하며 대대로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막리지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대모달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말객 등</a:t>
            </a:r>
            <a:endParaRPr lang="ko-KR" altLang="en-US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이조 </a:t>
            </a:r>
            <a:r>
              <a:rPr lang="en-US" altLang="ko-KR" sz="1600">
                <a:latin typeface="휴먼옛체"/>
                <a:ea typeface="휴먼옛체"/>
              </a:rPr>
              <a:t>– </a:t>
            </a:r>
            <a:r>
              <a:rPr lang="ko-KR" altLang="en-US" sz="1600">
                <a:latin typeface="휴먼옛체"/>
                <a:ea typeface="휴먼옛체"/>
              </a:rPr>
              <a:t>인사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노사 관리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직원 채용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행정 처리 등</a:t>
            </a:r>
            <a:r>
              <a:rPr lang="en-US" altLang="ko-KR" sz="1600">
                <a:latin typeface="휴먼옛체"/>
                <a:ea typeface="휴먼옛체"/>
              </a:rPr>
              <a:t>.</a:t>
            </a: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호조 </a:t>
            </a:r>
            <a:r>
              <a:rPr lang="en-US" altLang="ko-KR" sz="1600">
                <a:latin typeface="휴먼옛체"/>
                <a:ea typeface="휴먼옛체"/>
              </a:rPr>
              <a:t>- </a:t>
            </a:r>
            <a:r>
              <a:rPr lang="ko-KR" altLang="en-US" sz="1600">
                <a:latin typeface="휴먼옛체"/>
                <a:ea typeface="휴먼옛체"/>
              </a:rPr>
              <a:t>회계 및 세금 처리 </a:t>
            </a:r>
            <a:endParaRPr lang="ko-KR" altLang="en-US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예조 </a:t>
            </a:r>
            <a:r>
              <a:rPr lang="en-US" altLang="ko-KR" sz="1600">
                <a:latin typeface="휴먼옛체"/>
                <a:ea typeface="휴먼옛체"/>
              </a:rPr>
              <a:t>– </a:t>
            </a:r>
            <a:r>
              <a:rPr lang="ko-KR" altLang="en-US" sz="1600">
                <a:latin typeface="휴먼옛체"/>
                <a:ea typeface="휴먼옛체"/>
              </a:rPr>
              <a:t>행사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의전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객주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환경 홍보 등</a:t>
            </a:r>
            <a:r>
              <a:rPr lang="en-US" altLang="ko-KR" sz="1600">
                <a:latin typeface="휴먼옛체"/>
                <a:ea typeface="휴먼옛체"/>
              </a:rPr>
              <a:t>.</a:t>
            </a: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병조 </a:t>
            </a:r>
            <a:r>
              <a:rPr lang="en-US" altLang="ko-KR" sz="1600">
                <a:latin typeface="휴먼옛체"/>
                <a:ea typeface="휴먼옛체"/>
              </a:rPr>
              <a:t>– </a:t>
            </a:r>
            <a:r>
              <a:rPr lang="ko-KR" altLang="en-US" sz="1600">
                <a:latin typeface="휴먼옛체"/>
                <a:ea typeface="휴먼옛체"/>
              </a:rPr>
              <a:t>성문 관리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운용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경비 등</a:t>
            </a:r>
            <a:r>
              <a:rPr lang="en-US" altLang="ko-KR" sz="1600">
                <a:latin typeface="휴먼옛체"/>
                <a:ea typeface="휴먼옛체"/>
              </a:rPr>
              <a:t>.</a:t>
            </a: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형조 </a:t>
            </a:r>
            <a:r>
              <a:rPr lang="en-US" altLang="ko-KR" sz="1600">
                <a:latin typeface="휴먼옛체"/>
                <a:ea typeface="휴먼옛체"/>
              </a:rPr>
              <a:t>– </a:t>
            </a:r>
            <a:r>
              <a:rPr lang="ko-KR" altLang="en-US" sz="1600" b="1">
                <a:latin typeface="휴먼옛체"/>
                <a:ea typeface="휴먼옛체"/>
              </a:rPr>
              <a:t>刑 </a:t>
            </a:r>
            <a:r>
              <a:rPr lang="ko-KR" altLang="en-US" sz="1600">
                <a:latin typeface="휴먼옛체"/>
                <a:ea typeface="휴먼옛체"/>
              </a:rPr>
              <a:t>관련 관람객 행사 </a:t>
            </a:r>
            <a:endParaRPr lang="ko-KR" altLang="en-US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공조 </a:t>
            </a:r>
            <a:r>
              <a:rPr lang="en-US" altLang="ko-KR" sz="1600">
                <a:latin typeface="휴먼옛체"/>
                <a:ea typeface="휴먼옛체"/>
              </a:rPr>
              <a:t>– </a:t>
            </a:r>
            <a:r>
              <a:rPr lang="ko-KR" altLang="en-US" sz="1600">
                <a:latin typeface="휴먼옛체"/>
                <a:ea typeface="휴먼옛체"/>
              </a:rPr>
              <a:t>물품 구매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자재 관리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시설 관리 등</a:t>
            </a:r>
            <a:r>
              <a:rPr lang="en-US" altLang="ko-KR" sz="1600">
                <a:latin typeface="휴먼옛체"/>
                <a:ea typeface="휴먼옛체"/>
              </a:rPr>
              <a:t>.</a:t>
            </a: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감찰 </a:t>
            </a:r>
            <a:r>
              <a:rPr lang="en-US" altLang="ko-KR" sz="1600">
                <a:latin typeface="휴먼옛체"/>
                <a:ea typeface="휴먼옛체"/>
              </a:rPr>
              <a:t>– </a:t>
            </a:r>
            <a:r>
              <a:rPr lang="ko-KR" altLang="en-US" sz="1600">
                <a:latin typeface="휴먼옛체"/>
                <a:ea typeface="휴먼옛체"/>
              </a:rPr>
              <a:t>업무</a:t>
            </a:r>
            <a:r>
              <a:rPr lang="en-US" altLang="ko-KR" sz="1600">
                <a:latin typeface="휴먼옛체"/>
                <a:ea typeface="휴먼옛체"/>
              </a:rPr>
              <a:t>, </a:t>
            </a:r>
            <a:r>
              <a:rPr lang="ko-KR" altLang="en-US" sz="1600">
                <a:latin typeface="휴먼옛체"/>
                <a:ea typeface="휴먼옛체"/>
              </a:rPr>
              <a:t>청렴 </a:t>
            </a:r>
            <a:r>
              <a:rPr lang="en-US" altLang="ko-KR" sz="1600">
                <a:latin typeface="휴먼옛체"/>
                <a:ea typeface="휴먼옛체"/>
              </a:rPr>
              <a:t>/ </a:t>
            </a:r>
            <a:endParaRPr lang="en-US" altLang="ko-KR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r>
              <a:rPr lang="en-US" altLang="ko-KR" sz="1600">
                <a:latin typeface="휴먼옛체"/>
                <a:ea typeface="휴먼옛체"/>
              </a:rPr>
              <a:t>	</a:t>
            </a:r>
            <a:r>
              <a:rPr lang="ko-KR" altLang="en-US" sz="1600">
                <a:latin typeface="휴먼옛체"/>
                <a:ea typeface="휴먼옛체"/>
              </a:rPr>
              <a:t>어림군 </a:t>
            </a:r>
            <a:r>
              <a:rPr lang="en-US" altLang="ko-KR" sz="1600">
                <a:latin typeface="휴먼옛체"/>
                <a:ea typeface="휴먼옛체"/>
              </a:rPr>
              <a:t>- </a:t>
            </a:r>
            <a:r>
              <a:rPr lang="ko-KR" altLang="en-US" sz="1600">
                <a:latin typeface="휴먼옛체"/>
                <a:ea typeface="휴먼옛체"/>
              </a:rPr>
              <a:t>비서실</a:t>
            </a:r>
            <a:endParaRPr lang="ko-KR" altLang="en-US" sz="1600">
              <a:latin typeface="휴먼옛체"/>
              <a:ea typeface="휴먼옛체"/>
            </a:endParaRPr>
          </a:p>
          <a:p>
            <a:pPr marL="0" indent="0">
              <a:buNone/>
              <a:defRPr/>
            </a:pPr>
            <a:endParaRPr lang="en-US" altLang="ko-KR" sz="1600">
              <a:latin typeface="휴먼옛체"/>
              <a:ea typeface="휴먼옛체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6.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회사 설립 운영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805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6-1.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조직도</a:t>
            </a:r>
            <a:r>
              <a:rPr lang="ko-KR" altLang="en-US" dirty="0">
                <a:latin typeface="Baskerville Old Face" panose="02020602080505020303" pitchFamily="18" charset="0"/>
              </a:rPr>
              <a:t>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3707904" y="1772816"/>
            <a:ext cx="2088232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대표이사</a:t>
            </a:r>
            <a:r>
              <a:rPr lang="ko-KR" altLang="en-US" dirty="0"/>
              <a:t> 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6012160" y="2024844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6588224" y="3356992"/>
            <a:ext cx="2088232" cy="50405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전략개발부</a:t>
            </a:r>
            <a:r>
              <a:rPr lang="ko-KR" altLang="en-US" dirty="0"/>
              <a:t> 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3726584" y="3356992"/>
            <a:ext cx="2088232" cy="50405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경영진</a:t>
            </a:r>
            <a:r>
              <a:rPr lang="ko-KR" altLang="en-US" dirty="0"/>
              <a:t> 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83568" y="3356992"/>
            <a:ext cx="2088232" cy="50405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자문위원</a:t>
            </a:r>
            <a:r>
              <a:rPr lang="ko-KR" altLang="en-US" dirty="0"/>
              <a:t> 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742825" y="1772816"/>
            <a:ext cx="1645599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궁서" panose="02030600000101010101" pitchFamily="18" charset="-127"/>
                <a:ea typeface="궁서" panose="02030600000101010101" pitchFamily="18" charset="-127"/>
              </a:rPr>
              <a:t>이사회</a:t>
            </a:r>
            <a:r>
              <a:rPr lang="ko-KR" altLang="en-US"/>
              <a:t> 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6152415" y="5160570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915816" y="3609020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5931344" y="3609020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4782575" y="2437308"/>
            <a:ext cx="1" cy="775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415284" y="4811382"/>
            <a:ext cx="2644547" cy="7729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궁서" panose="02030600000101010101" pitchFamily="18" charset="-127"/>
                <a:ea typeface="궁서" panose="02030600000101010101" pitchFamily="18" charset="-127"/>
              </a:rPr>
              <a:t>테마파크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 err="1">
                <a:latin typeface="궁서" panose="02030600000101010101" pitchFamily="18" charset="-127"/>
                <a:ea typeface="궁서" panose="02030600000101010101" pitchFamily="18" charset="-127"/>
              </a:rPr>
              <a:t>운영부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</a:p>
        </p:txBody>
      </p:sp>
      <p:sp>
        <p:nvSpPr>
          <p:cNvPr id="21" name="타원 20"/>
          <p:cNvSpPr/>
          <p:nvPr/>
        </p:nvSpPr>
        <p:spPr>
          <a:xfrm>
            <a:off x="3510560" y="4811382"/>
            <a:ext cx="2672680" cy="698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영화제작부 </a:t>
            </a:r>
          </a:p>
        </p:txBody>
      </p:sp>
      <p:sp>
        <p:nvSpPr>
          <p:cNvPr id="22" name="타원 21"/>
          <p:cNvSpPr/>
          <p:nvPr/>
        </p:nvSpPr>
        <p:spPr>
          <a:xfrm>
            <a:off x="6554775" y="4811383"/>
            <a:ext cx="2457080" cy="698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캐릭터 사업부 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2934496" y="5160570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4782576" y="3998903"/>
            <a:ext cx="0" cy="7262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60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7-1.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사업내용 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1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67544" y="1628800"/>
            <a:ext cx="2664296" cy="5760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영 화 제 작</a:t>
            </a:r>
          </a:p>
        </p:txBody>
      </p:sp>
      <p:sp>
        <p:nvSpPr>
          <p:cNvPr id="7" name="대각선 방향의 모서리가 둥근 사각형 6"/>
          <p:cNvSpPr/>
          <p:nvPr/>
        </p:nvSpPr>
        <p:spPr>
          <a:xfrm>
            <a:off x="1341984" y="2477073"/>
            <a:ext cx="7344816" cy="3384376"/>
          </a:xfrm>
          <a:prstGeom prst="round2Diag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광개토대왕의 세발까마귀 </a:t>
            </a:r>
            <a:r>
              <a:rPr lang="en-US" altLang="ko-KR" sz="28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800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三足烏</a:t>
            </a:r>
            <a:r>
              <a:rPr lang="en-US" altLang="ko-KR" sz="28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en-US" altLang="ko-KR" sz="2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just"/>
            <a:endParaRPr lang="en-US" altLang="ko-KR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광개토대왕의 정신을 대조선 제국의 한민족 역사와 문화에 접목하여 재미있는 역사 소재로 영화 제작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역사적인 소재의 발굴로 예술적 감각으로 제작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영화제작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just"/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민족문화 창달에 한민족을 전세계에 알릴 고구려 역사와 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just"/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세발까마귀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三足烏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를 활용한 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K- Pop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의 세계화 </a:t>
            </a:r>
          </a:p>
        </p:txBody>
      </p:sp>
    </p:spTree>
    <p:extLst>
      <p:ext uri="{BB962C8B-B14F-4D97-AF65-F5344CB8AC3E}">
        <p14:creationId xmlns:p14="http://schemas.microsoft.com/office/powerpoint/2010/main" val="264627426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7-2.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사업내용 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2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67544" y="1628800"/>
            <a:ext cx="2664296" cy="5760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테마파크</a:t>
            </a:r>
            <a:r>
              <a:rPr lang="en-US" altLang="ko-KR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 </a:t>
            </a:r>
            <a:r>
              <a:rPr lang="ko-KR" altLang="en-US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설립</a:t>
            </a:r>
          </a:p>
        </p:txBody>
      </p:sp>
      <p:sp>
        <p:nvSpPr>
          <p:cNvPr id="7" name="대각선 방향의 모서리가 둥근 사각형 6"/>
          <p:cNvSpPr/>
          <p:nvPr/>
        </p:nvSpPr>
        <p:spPr>
          <a:xfrm>
            <a:off x="1619672" y="2636912"/>
            <a:ext cx="7344816" cy="3384376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약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33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만 평방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m2(10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만평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부지 위에 고구려의 옛 성벽을 쌓고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1,600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년 전의 고구려 역사의 재현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고구려 시대의 도시 건물 및 왕릉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민가 등 건립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입장객에게 당시의 복장을 입히고 시대를 돌아간 생활을 통한 역사 체험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  2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박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3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일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3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박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4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일 등의 프로그램을 통한 역사 체험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청소년 수련장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승마장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활쏘기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도공예 체험장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한학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경당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배움의 장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농사짓기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농기구 만들기 등 체험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동맹축제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 단오제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견우와 직녀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(7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월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7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석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등 다양한 이벤트 개최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전세계 각국의 동시대의 군사 초청하여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기마병 열병식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궁중 무희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전통 무술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전통 악기 축제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330823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7.3.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사업내용 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3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67544" y="1628800"/>
            <a:ext cx="2664296" cy="5760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캐릭터 산업 </a:t>
            </a:r>
          </a:p>
        </p:txBody>
      </p:sp>
      <p:sp>
        <p:nvSpPr>
          <p:cNvPr id="7" name="대각선 방향의 모서리가 둥근 사각형 6"/>
          <p:cNvSpPr/>
          <p:nvPr/>
        </p:nvSpPr>
        <p:spPr>
          <a:xfrm>
            <a:off x="899592" y="2636913"/>
            <a:ext cx="7920880" cy="2016223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세발까마귀 캐릭터 사업 추진</a:t>
            </a:r>
            <a:r>
              <a:rPr lang="en-US" altLang="ko-KR">
                <a:solidFill>
                  <a:schemeClr val="tx1"/>
                </a:solidFill>
                <a:latin typeface="궁서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다양한 모양의 캐릭터 상품 개발</a:t>
            </a:r>
            <a:r>
              <a:rPr lang="en-US" altLang="ko-KR">
                <a:solidFill>
                  <a:schemeClr val="tx1"/>
                </a:solidFill>
                <a:latin typeface="궁서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lvl="0" indent="-285750">
              <a:buFont typeface="Arial"/>
              <a:buChar char="•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특허청</a:t>
            </a:r>
            <a:r>
              <a:rPr lang="en-US" altLang="ko-KR">
                <a:solidFill>
                  <a:schemeClr val="tx1"/>
                </a:solidFill>
                <a:latin typeface="궁서"/>
                <a:ea typeface="궁서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상표 등록</a:t>
            </a:r>
            <a:r>
              <a:rPr lang="en-US" altLang="ko-KR">
                <a:solidFill>
                  <a:schemeClr val="tx1"/>
                </a:solidFill>
                <a:latin typeface="궁서"/>
                <a:ea typeface="궁서"/>
              </a:rPr>
              <a:t>, </a:t>
            </a: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서비스표 등록</a:t>
            </a:r>
            <a:endParaRPr lang="ko-KR" altLang="en-US">
              <a:solidFill>
                <a:schemeClr val="tx1"/>
              </a:solidFill>
              <a:latin typeface="궁서"/>
              <a:ea typeface="궁서"/>
            </a:endParaRPr>
          </a:p>
          <a:p>
            <a:pPr algn="just"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궁서"/>
                <a:ea typeface="궁서"/>
              </a:rPr>
              <a:t>광개토대왕 테마파크와 세발까마귀</a:t>
            </a:r>
            <a:r>
              <a:rPr lang="en-US" altLang="ko-KR">
                <a:solidFill>
                  <a:schemeClr val="tx1"/>
                </a:solidFill>
                <a:latin typeface="궁서"/>
                <a:ea typeface="궁서"/>
              </a:rPr>
              <a:t>.</a:t>
            </a: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55576" y="5013176"/>
            <a:ext cx="820891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/>
              <a:t>참고사항</a:t>
            </a:r>
            <a:r>
              <a:rPr lang="en-US" altLang="ko-KR" sz="1400" dirty="0"/>
              <a:t>: </a:t>
            </a:r>
            <a:r>
              <a:rPr lang="ko-KR" altLang="en-US" sz="1400" dirty="0"/>
              <a:t>일본의 축구협회</a:t>
            </a:r>
            <a:r>
              <a:rPr lang="en-US" altLang="ko-KR" sz="1400" dirty="0"/>
              <a:t>(JFA) </a:t>
            </a:r>
            <a:r>
              <a:rPr lang="ko-KR" altLang="en-US" sz="1400" dirty="0" err="1"/>
              <a:t>엠불럼이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삼족오</a:t>
            </a:r>
            <a:r>
              <a:rPr lang="ko-KR" altLang="en-US" sz="1400" dirty="0"/>
              <a:t> 문양을 도용하여 사용하고 있음</a:t>
            </a:r>
            <a:r>
              <a:rPr lang="en-US" altLang="ko-KR" sz="1400" dirty="0"/>
              <a:t>. </a:t>
            </a:r>
          </a:p>
          <a:p>
            <a:pPr algn="just"/>
            <a:r>
              <a:rPr lang="ko-KR" altLang="en-US" sz="1400" dirty="0"/>
              <a:t>일본에 항의하여 그 紋章을 가져와야 함</a:t>
            </a:r>
            <a:r>
              <a:rPr lang="en-US" altLang="ko-KR" sz="1400" dirty="0"/>
              <a:t>. </a:t>
            </a:r>
          </a:p>
          <a:p>
            <a:pPr algn="just"/>
            <a:r>
              <a:rPr lang="ko-KR" altLang="en-US" sz="1400" dirty="0"/>
              <a:t>일본은 일제강점기 때 만주지역의 고구려 고분 벽화를</a:t>
            </a:r>
            <a:r>
              <a:rPr lang="en-US" altLang="ko-KR" sz="1400" dirty="0"/>
              <a:t> </a:t>
            </a:r>
            <a:r>
              <a:rPr lang="ko-KR" altLang="en-US" sz="1400" dirty="0"/>
              <a:t>도굴하여 무단 사용하고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060" y="1445636"/>
            <a:ext cx="1120412" cy="111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3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8.1.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건립 위치 및 조건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459160" y="1700808"/>
          <a:ext cx="8285157" cy="4208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/>
                <a:gridCol w="3316605"/>
                <a:gridCol w="3168352"/>
              </a:tblGrid>
              <a:tr h="298832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구   분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지 자 체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지   역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endParaRPr lang="en-US" altLang="ko-KR">
                        <a:latin typeface="Baskerville Old Face"/>
                        <a:ea typeface="휴먼옛체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>
                        <a:latin typeface="Baskerville Old Face"/>
                        <a:ea typeface="휴먼옛체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>
                        <a:latin typeface="Baskerville Old Face"/>
                        <a:ea typeface="휴먼옛체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Baskerville Old Face"/>
                          <a:ea typeface="휴먼옛체"/>
                        </a:rPr>
                        <a:t>개   요 </a:t>
                      </a:r>
                      <a:endParaRPr lang="ko-KR" altLang="en-US">
                        <a:latin typeface="Baskerville Old Face"/>
                        <a:ea typeface="휴먼옛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342900" indent="-342900" latinLnBrk="1">
                        <a:buAutoNum type="arabicPeriod"/>
                        <a:defRPr/>
                      </a:pP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고구려 역사 연고 지역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.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2.   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역사 관광특구로 지정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.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       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        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indent="0" latinLnBrk="1">
                        <a:buNone/>
                        <a:defRPr/>
                      </a:pP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1.</a:t>
                      </a:r>
                      <a:r>
                        <a:rPr lang="en-US" altLang="ko-KR" sz="1600" baseline="0">
                          <a:latin typeface="Baskerville Old Face"/>
                          <a:ea typeface="궁서"/>
                        </a:rPr>
                        <a:t> 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관광 특성화에 적합한 지역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.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 startAt="2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산악 관광진흥구역 지정 및  운영에 관한 법률 적용 가능한 지역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 startAt="3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군사 보호지역 해제             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  <a:p>
                      <a:pPr marL="0" indent="0" latinLnBrk="1">
                        <a:buNone/>
                        <a:defRPr/>
                      </a:pP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      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조   건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현대 건축물이 없는 곳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철탑 등 기타 건축물이 없는 곳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항공기 항로 제외 지역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.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군 사격장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,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공군 전투기 사격장이 없는 지역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.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산을 배경으로 하고 강을</a:t>
                      </a:r>
                      <a:r>
                        <a:rPr lang="ko-KR" altLang="en-US" sz="1600" baseline="0">
                          <a:latin typeface="Baskerville Old Face"/>
                          <a:ea typeface="궁서"/>
                        </a:rPr>
                        <a:t>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낀 곳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적극적인 지원을 할 수 있는 광역 단체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,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지자체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지역특화발전특구법 적용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  <a:p>
                      <a:pPr marL="342900" indent="-342900" latinLnBrk="1">
                        <a:buAutoNum type="arabicPeriod"/>
                        <a:defRPr/>
                      </a:pP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09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8.2.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운영 계획 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대각선 방향의 모서리가 둥근 사각형 6"/>
          <p:cNvSpPr/>
          <p:nvPr/>
        </p:nvSpPr>
        <p:spPr>
          <a:xfrm>
            <a:off x="323528" y="1700808"/>
            <a:ext cx="8496944" cy="4248471"/>
          </a:xfrm>
          <a:prstGeom prst="round2Diag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1,600 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년 전 시공간을 초월한 테마 여행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고구려 시대의 복장으로 입장하여 코스튬 플레이 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(Costume Play)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고구려 </a:t>
            </a:r>
            <a:r>
              <a:rPr lang="ko-KR" altLang="en-US" dirty="0" err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평양성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국내성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으로는 병사의 인도를 받으며 입장하여 마차로 이동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테마 </a:t>
            </a:r>
            <a:r>
              <a:rPr lang="ko-KR" altLang="en-US" dirty="0" err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파크의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법규를 위반하는 사람들을 벌하는 형장 재현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이벤트 행사 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– 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영화의 한 장면을 매일 공연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소년 광개토대왕 선발대회 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– 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청소년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국민 청소년 수련장으로 운영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097554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8.3.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고용 창출 효과 </a:t>
            </a:r>
            <a:r>
              <a:rPr lang="ko-KR" altLang="en-US" dirty="0">
                <a:latin typeface="Baskerville Old Face" panose="02020602080505020303" pitchFamily="18" charset="0"/>
              </a:rPr>
              <a:t>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67544" y="1628800"/>
            <a:ext cx="3528392" cy="5760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atin typeface="휴먼옛체" panose="02030504000101010101" pitchFamily="18" charset="-127"/>
                <a:ea typeface="휴먼옛체" panose="02030504000101010101" pitchFamily="18" charset="-127"/>
              </a:rPr>
              <a:t>해당 지역내의 인력 활용 </a:t>
            </a:r>
            <a:endParaRPr lang="ko-KR" altLang="en-US" sz="2000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</p:txBody>
      </p:sp>
      <p:sp>
        <p:nvSpPr>
          <p:cNvPr id="7" name="대각선 방향의 모서리가 둥근 사각형 6"/>
          <p:cNvSpPr/>
          <p:nvPr/>
        </p:nvSpPr>
        <p:spPr>
          <a:xfrm>
            <a:off x="467544" y="2343863"/>
            <a:ext cx="6192688" cy="2885336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해당 지역내의 인력으로 회사직원 채용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. (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약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720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여 명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전통점포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– 60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개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(1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점포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약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3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명의 인력 필요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, 180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명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숙박시설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– 40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개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여각 당 약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6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명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240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명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420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명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x 160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만 원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인건비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=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변동 적임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) </a:t>
            </a: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      =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입장객 수입의 </a:t>
            </a:r>
            <a:r>
              <a:rPr lang="en-US" altLang="ko-KR">
                <a:solidFill>
                  <a:schemeClr val="tx1"/>
                </a:solidFill>
                <a:latin typeface="Baskerville Old Face"/>
                <a:ea typeface="궁서"/>
              </a:rPr>
              <a:t>1/3. </a:t>
            </a: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청년 일자리뿐만 아니라</a:t>
            </a:r>
            <a:endParaRPr lang="ko-KR" altLang="en-US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         중장년 일자리  </a:t>
            </a:r>
            <a:endParaRPr lang="ko-KR" altLang="en-US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ko-KR" altLang="en-US">
                <a:solidFill>
                  <a:schemeClr val="tx1"/>
                </a:solidFill>
                <a:latin typeface="Baskerville Old Face"/>
                <a:ea typeface="궁서"/>
              </a:rPr>
              <a:t>해당 지역내의 건설사 및 토목회사 투입</a:t>
            </a:r>
            <a:endParaRPr lang="ko-KR" altLang="en-US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Tx/>
              <a:buChar char="-"/>
              <a:defRPr/>
            </a:pPr>
            <a:endParaRPr lang="en-US" altLang="ko-KR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  <p:sp>
        <p:nvSpPr>
          <p:cNvPr id="9" name="대각선 방향의 모서리가 둥근 사각형 8"/>
          <p:cNvSpPr/>
          <p:nvPr/>
        </p:nvSpPr>
        <p:spPr>
          <a:xfrm>
            <a:off x="5652120" y="4365104"/>
            <a:ext cx="3312368" cy="2206190"/>
          </a:xfrm>
          <a:prstGeom prst="round2Diag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Tx/>
              <a:buChar char="-"/>
            </a:pPr>
            <a:r>
              <a:rPr lang="ko-KR" altLang="en-US" sz="24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특허청 상표권 등록</a:t>
            </a:r>
            <a:endParaRPr lang="en-US" altLang="ko-KR" sz="24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algn="just"/>
            <a:endParaRPr lang="en-US" altLang="ko-KR" sz="24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상표권 및 </a:t>
            </a:r>
            <a:r>
              <a:rPr lang="ko-KR" altLang="en-US" dirty="0" err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서비스권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등록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해당 지역에서 제조  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909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9. 1.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총 사업비 및 자금 조달 계획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39552" y="1772816"/>
          <a:ext cx="8142257" cy="4838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/>
                <a:gridCol w="4536504"/>
                <a:gridCol w="1373505"/>
              </a:tblGrid>
              <a:tr h="392282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내  역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금      액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비    고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92282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영화 제작비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ko-KR" altLang="en-US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추후 결정</a:t>
                      </a:r>
                      <a:endParaRPr lang="ko-KR" altLang="en-US" b="0" baseline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92282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테마파크 건립비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450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억 원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(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예정 금액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)</a:t>
                      </a:r>
                      <a:endParaRPr lang="en-US" altLang="ko-KR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92282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부지 매입비 제외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제작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,</a:t>
                      </a:r>
                      <a:r>
                        <a:rPr lang="en-US" altLang="ko-KR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</a:t>
                      </a:r>
                      <a:r>
                        <a:rPr lang="ko-KR" altLang="en-US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건설기간  </a:t>
                      </a:r>
                      <a:r>
                        <a:rPr lang="en-US" altLang="ko-KR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3 </a:t>
                      </a:r>
                      <a:r>
                        <a:rPr lang="ko-KR" altLang="en-US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년 예상</a:t>
                      </a:r>
                      <a:endParaRPr lang="ko-KR" altLang="en-US" b="0" baseline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450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억 원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483636">
                <a:tc gridSpan="3"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sz="2400" b="0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자 금 조 달 계 획 </a:t>
                      </a:r>
                      <a:endParaRPr lang="ko-KR" altLang="en-US" sz="2400" b="0">
                        <a:solidFill>
                          <a:srgbClr val="ff0000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870544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외국 자본 유치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342900" indent="-342900" algn="just" latinLnBrk="1">
                        <a:buAutoNum type="arabicPeriod"/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억 달러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(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약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1,200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억 원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,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환율 변동 사항 있음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)</a:t>
                      </a:r>
                      <a:endParaRPr lang="en-US" altLang="ko-KR" sz="1600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  <a:p>
                      <a:pPr marL="342900" indent="-342900" algn="just" latinLnBrk="1">
                        <a:buAutoNum type="arabicPeriod"/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은행 대출 시 부지매입 동시에 담보 설정 </a:t>
                      </a:r>
                      <a:endParaRPr lang="ko-KR" altLang="en-US" sz="1600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  <a:p>
                      <a:pPr marL="342900" indent="-342900" algn="just" latinLnBrk="1">
                        <a:buAutoNum type="arabicPeriod"/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이색펀드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: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증권사 및 자산운용사와의 연계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지상권후치 담보 설정</a:t>
                      </a:r>
                      <a:endParaRPr lang="ko-KR" altLang="en-US" sz="1600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92282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연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,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기금 활용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1.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지방소멸 대응기금 활용  </a:t>
                      </a:r>
                      <a:endParaRPr lang="en-US" altLang="ko-KR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  <a:p>
                      <a:pPr algn="just" latinLnBrk="1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2.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중소벤처기업부 지방펀드 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  <a:p>
                      <a:pPr algn="just" latinLnBrk="1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3.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군인 공제회 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4.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교직원 공제회 등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612605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회원 모집 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342900" indent="-342900" algn="just" latinLnBrk="1">
                        <a:buAutoNum type="arabicPeriod"/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인당 회원 비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10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만원</a:t>
                      </a:r>
                      <a:r>
                        <a:rPr lang="ko-KR" altLang="en-US" sz="1600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</a:t>
                      </a:r>
                      <a:r>
                        <a:rPr kumimoji="0" lang="en-US" altLang="ko-KR" sz="18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skerville Old Face"/>
                          <a:ea typeface="궁서"/>
                        </a:rPr>
                        <a:t>x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100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만 명 </a:t>
                      </a:r>
                      <a:endParaRPr lang="ko-KR" altLang="en-US" sz="1600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  <a:p>
                      <a:pPr marL="342900" indent="-342900" algn="just" latinLnBrk="1">
                        <a:buAutoNum type="arabicPeriod"/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10</a:t>
                      </a:r>
                      <a:r>
                        <a:rPr lang="ko-KR" altLang="en-US" sz="1600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 만 원 </a:t>
                      </a:r>
                      <a:r>
                        <a:rPr lang="en-US" altLang="ko-KR" sz="1600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– </a:t>
                      </a:r>
                      <a:r>
                        <a:rPr lang="ko-KR" altLang="en-US" sz="1600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이동 통신사 회원 연계 </a:t>
                      </a:r>
                      <a:r>
                        <a:rPr lang="en-US" altLang="ko-KR" sz="1600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– 100 </a:t>
                      </a:r>
                      <a:r>
                        <a:rPr lang="ko-KR" altLang="en-US" sz="1600" b="0" baseline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만 명</a:t>
                      </a:r>
                      <a:endParaRPr lang="en-US" altLang="ko-KR" sz="1600" b="0" baseline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just" latinLnBrk="1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1,000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Baskerville Old Face"/>
                          <a:ea typeface="궁서"/>
                        </a:rPr>
                        <a:t>억 원</a:t>
                      </a: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92282">
                <a:tc gridSpan="3"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회원의 권리는 별도의 사업 계획서 </a:t>
                      </a:r>
                      <a:r>
                        <a:rPr lang="en-US" altLang="ko-KR" b="0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– </a:t>
                      </a:r>
                      <a:r>
                        <a:rPr lang="ko-KR" altLang="en-US" b="0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추후 홈페이지 공개 </a:t>
                      </a:r>
                      <a:endParaRPr lang="ko-KR" altLang="en-US" b="0">
                        <a:solidFill>
                          <a:srgbClr val="ff0000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46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9.2.  </a:t>
            </a:r>
            <a:r>
              <a:rPr lang="ko-KR" altLang="en-US" dirty="0" err="1">
                <a:latin typeface="휴먼옛체" panose="02030504000101010101" pitchFamily="18" charset="-127"/>
                <a:ea typeface="휴먼옛체" panose="02030504000101010101" pitchFamily="18" charset="-127"/>
              </a:rPr>
              <a:t>건립비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내역서 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67544" y="1484784"/>
            <a:ext cx="3528392" cy="576064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000">
                <a:latin typeface="휴먼옛체"/>
                <a:ea typeface="휴먼옛체"/>
              </a:rPr>
              <a:t>테마파크 건립비 </a:t>
            </a:r>
            <a:r>
              <a:rPr lang="en-US" altLang="ko-KR" sz="2000">
                <a:latin typeface="휴먼옛체"/>
                <a:ea typeface="휴먼옛체"/>
              </a:rPr>
              <a:t>: 450 </a:t>
            </a:r>
            <a:r>
              <a:rPr lang="ko-KR" altLang="en-US" sz="2000">
                <a:latin typeface="휴먼옛체"/>
                <a:ea typeface="휴먼옛체"/>
              </a:rPr>
              <a:t>억 원</a:t>
            </a:r>
            <a:endParaRPr lang="ko-KR" altLang="en-US" sz="2000">
              <a:latin typeface="휴먼옛체"/>
              <a:ea typeface="휴먼옛체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37890" y="2420888"/>
          <a:ext cx="4234110" cy="3585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757"/>
                <a:gridCol w="1656184"/>
                <a:gridCol w="1512169"/>
              </a:tblGrid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내  역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금  액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휴먼옛체"/>
                          <a:ea typeface="휴먼옛체"/>
                        </a:rPr>
                        <a:t>비  고 </a:t>
                      </a:r>
                      <a:endParaRPr lang="ko-KR" altLang="en-US">
                        <a:latin typeface="휴먼옛체"/>
                        <a:ea typeface="휴먼옛체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Baskerville Old Face"/>
                          <a:ea typeface="궁서"/>
                        </a:rPr>
                        <a:t>황 궁 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latin typeface="Baskerville Old Face"/>
                          <a:ea typeface="궁서"/>
                        </a:rPr>
                        <a:t>70 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억 원 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Baskerville Old Face"/>
                          <a:ea typeface="궁서"/>
                        </a:rPr>
                        <a:t>지하릉 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latin typeface="Baskerville Old Face"/>
                          <a:ea typeface="궁서"/>
                        </a:rPr>
                        <a:t>30 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억 원 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관가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, </a:t>
                      </a:r>
                      <a:endParaRPr lang="en-US" altLang="ko-KR" sz="1600">
                        <a:latin typeface="Baskerville Old Face"/>
                        <a:ea typeface="궁서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점포 등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latin typeface="Baskerville Old Face"/>
                          <a:ea typeface="궁서"/>
                        </a:rPr>
                        <a:t>0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 </a:t>
                      </a:r>
                      <a:r>
                        <a:rPr lang="en-US" altLang="ko-KR">
                          <a:latin typeface="Baskerville Old Face"/>
                          <a:ea typeface="궁서"/>
                        </a:rPr>
                        <a:t>0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억 원 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300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동 </a:t>
                      </a:r>
                      <a:r>
                        <a:rPr kumimoji="0" lang="en-US" altLang="ko-KR" sz="18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skerville Old Face"/>
                          <a:ea typeface="궁서"/>
                        </a:rPr>
                        <a:t>x </a:t>
                      </a:r>
                      <a:r>
                        <a:rPr lang="en-US" altLang="ko-KR" sz="1600">
                          <a:latin typeface="Baskerville Old Face"/>
                          <a:ea typeface="궁서"/>
                        </a:rPr>
                        <a:t>1.5 </a:t>
                      </a: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억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말 구입비 및 막사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latin typeface="Baskerville Old Face"/>
                          <a:ea typeface="궁서"/>
                        </a:rPr>
                        <a:t>50 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억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latin typeface="Baskerville Old Face"/>
                          <a:ea typeface="궁서"/>
                        </a:rPr>
                        <a:t>토목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latin typeface="Baskerville Old Face"/>
                          <a:ea typeface="궁서"/>
                        </a:rPr>
                        <a:t>100 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억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latin typeface="Baskerville Old Face"/>
                          <a:ea typeface="궁서"/>
                        </a:rPr>
                        <a:t>인건비 및 예비비 </a:t>
                      </a:r>
                      <a:endParaRPr lang="ko-KR" altLang="en-US" sz="1600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latin typeface="Baskerville Old Face"/>
                          <a:ea typeface="궁서"/>
                        </a:rPr>
                        <a:t>100 </a:t>
                      </a:r>
                      <a:r>
                        <a:rPr lang="ko-KR" altLang="en-US">
                          <a:latin typeface="Baskerville Old Face"/>
                          <a:ea typeface="궁서"/>
                        </a:rPr>
                        <a:t>억 </a:t>
                      </a: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atinLnBrk="1">
                        <a:defRPr/>
                      </a:pP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  <a:tr h="370840">
                <a:tc gridSpan="2"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합 계 </a:t>
                      </a:r>
                      <a:endParaRPr lang="ko-KR" altLang="en-US">
                        <a:solidFill>
                          <a:srgbClr val="ff0000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450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  <a:latin typeface="Baskerville Old Face"/>
                          <a:ea typeface="궁서"/>
                        </a:rPr>
                        <a:t>억 원 </a:t>
                      </a:r>
                      <a:endParaRPr lang="ko-KR" altLang="en-US">
                        <a:solidFill>
                          <a:srgbClr val="ff0000"/>
                        </a:solidFill>
                        <a:latin typeface="Baskerville Old Face"/>
                        <a:ea typeface="궁서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0" name="모서리가 둥근 직사각형 9"/>
          <p:cNvSpPr/>
          <p:nvPr/>
        </p:nvSpPr>
        <p:spPr>
          <a:xfrm>
            <a:off x="5004048" y="1489222"/>
            <a:ext cx="3528392" cy="57606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관가 포함 시설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95021"/>
              </p:ext>
            </p:extLst>
          </p:nvPr>
        </p:nvGraphicFramePr>
        <p:xfrm>
          <a:off x="4651189" y="2420888"/>
          <a:ext cx="4278943" cy="360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휴먼옛체" panose="02030504000101010101" pitchFamily="18" charset="-127"/>
                          <a:ea typeface="휴먼옛체" panose="02030504000101010101" pitchFamily="18" charset="-127"/>
                        </a:rPr>
                        <a:t>시  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휴먼옛체" panose="02030504000101010101" pitchFamily="18" charset="-127"/>
                          <a:ea typeface="휴먼옛체" panose="02030504000101010101" pitchFamily="18" charset="-127"/>
                        </a:rPr>
                        <a:t>시 설 계 획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볼 거 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황궁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지상릉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지하릉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비석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관가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성루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 성곽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전투 훈련장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저자거리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ko-KR" dirty="0"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  <a:p>
                      <a:pPr algn="ctr"/>
                      <a:r>
                        <a:rPr lang="ko-KR" altLang="en-US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놀 거 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승마장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국궁장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각 공연장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질그릇</a:t>
                      </a:r>
                      <a:r>
                        <a:rPr lang="en-US" altLang="ko-KR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만들기 </a:t>
                      </a:r>
                      <a:r>
                        <a:rPr lang="ko-KR" altLang="en-US" sz="1400" baseline="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체험장</a:t>
                      </a:r>
                      <a:r>
                        <a:rPr lang="en-US" altLang="ko-KR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형 </a:t>
                      </a:r>
                      <a:r>
                        <a:rPr lang="ko-KR" altLang="en-US" sz="1400" baseline="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집행장</a:t>
                      </a:r>
                      <a:r>
                        <a:rPr lang="en-US" altLang="ko-KR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승마장</a:t>
                      </a:r>
                      <a:r>
                        <a:rPr lang="en-US" altLang="ko-KR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고분  벽화 등</a:t>
                      </a:r>
                      <a:r>
                        <a:rPr lang="en-US" altLang="ko-KR" sz="1400" baseline="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먹 을 거 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고구려 전통 음식점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전통 찻집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</a:p>
                    <a:p>
                      <a:pPr algn="just" latinLnBrk="1"/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전통 주점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고급 주점 등</a:t>
                      </a:r>
                      <a:endParaRPr lang="en-US" altLang="ko-KR" sz="1400" dirty="0"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  <a:p>
                      <a:pPr algn="just" latinLnBrk="1"/>
                      <a:endParaRPr lang="ko-KR" altLang="en-US" sz="1400" dirty="0"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ko-KR" dirty="0"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  <a:p>
                      <a:pPr algn="ctr"/>
                      <a:r>
                        <a:rPr lang="ko-KR" altLang="en-US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살 거 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목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공예점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대나무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공예점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칠기도공예점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전통 </a:t>
                      </a:r>
                      <a:r>
                        <a:rPr lang="ko-KR" altLang="en-US" sz="1400" dirty="0" err="1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의상점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캐릭터 상품 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교 육 시 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청소년 수련장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황궁전통 예절관</a:t>
                      </a:r>
                      <a:r>
                        <a:rPr lang="en-US" altLang="ko-KR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, </a:t>
                      </a:r>
                      <a:r>
                        <a:rPr lang="ko-KR" altLang="en-US" sz="1400" dirty="0"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국학 경당 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464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1879" y="260648"/>
            <a:ext cx="8229600" cy="706090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9.3.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수지 분석 및 원금 상환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467544" y="1052736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564128"/>
              </p:ext>
            </p:extLst>
          </p:nvPr>
        </p:nvGraphicFramePr>
        <p:xfrm>
          <a:off x="611560" y="1187879"/>
          <a:ext cx="8208912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3" imgW="6515023" imgH="3181437" progId="Excel.Sheet.12">
                  <p:embed/>
                </p:oleObj>
              </mc:Choice>
              <mc:Fallback>
                <p:oleObj name="워크시트" r:id="rId3" imgW="6515023" imgH="318143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187879"/>
                        <a:ext cx="8208912" cy="2376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663261"/>
              </p:ext>
            </p:extLst>
          </p:nvPr>
        </p:nvGraphicFramePr>
        <p:xfrm>
          <a:off x="647253" y="3640190"/>
          <a:ext cx="8137525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5" imgW="7448685" imgH="2609760" progId="Excel.Sheet.12">
                  <p:embed/>
                </p:oleObj>
              </mc:Choice>
              <mc:Fallback>
                <p:oleObj name="워크시트" r:id="rId5" imgW="7448685" imgH="26097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253" y="3640190"/>
                        <a:ext cx="8137525" cy="230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모서리가 둥근 직사각형 9"/>
          <p:cNvSpPr/>
          <p:nvPr/>
        </p:nvSpPr>
        <p:spPr>
          <a:xfrm>
            <a:off x="467544" y="6021288"/>
            <a:ext cx="8424936" cy="576064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원금 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450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억 원의 상환 후 매년 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120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억 원의 순이익 발생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. 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원금 상환 후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, 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원칙적으로 투자자가 </a:t>
            </a:r>
            <a:endParaRPr lang="ko-KR" altLang="en-US" sz="1400">
              <a:solidFill>
                <a:srgbClr val="ff0000"/>
              </a:solidFill>
              <a:latin typeface="궁서"/>
              <a:ea typeface="궁서"/>
            </a:endParaRPr>
          </a:p>
          <a:p>
            <a:pPr algn="ctr">
              <a:defRPr/>
            </a:pP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토지 소유를 원칙으로 하며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, 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투자자와 제작자 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0.0 %, 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운영사 </a:t>
            </a:r>
            <a:r>
              <a:rPr lang="en-US" altLang="ko-KR" sz="1400">
                <a:solidFill>
                  <a:srgbClr val="ff0000"/>
                </a:solidFill>
                <a:latin typeface="궁서"/>
                <a:ea typeface="궁서"/>
              </a:rPr>
              <a:t>0.0 % </a:t>
            </a:r>
            <a:r>
              <a:rPr lang="ko-KR" altLang="en-US" sz="1400">
                <a:solidFill>
                  <a:srgbClr val="ff0000"/>
                </a:solidFill>
                <a:latin typeface="궁서"/>
                <a:ea typeface="궁서"/>
              </a:rPr>
              <a:t>이익 분배 예정임 </a:t>
            </a:r>
            <a:endParaRPr lang="ko-KR" altLang="en-US" sz="1400">
              <a:solidFill>
                <a:srgbClr val="ff0000"/>
              </a:solidFill>
              <a:latin typeface="궁서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2824941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10.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시장 분석 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79512" y="1494594"/>
            <a:ext cx="280831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분 석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27584" y="2132856"/>
            <a:ext cx="7669360" cy="42386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궁서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궁서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궁서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1.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유사한 업체와의 차별화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				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 33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만 평방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m2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의 광활한 대지에 대조선 제국의 부활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 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 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고구려 제국 역사 현장 체험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 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고구려 역사놀이공원 겸 국민 청소년 승마장 역사체험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대형야외공연장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2.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체험형 테마파크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역사놀이공원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				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단순한 관람으로 그치는 것이 아닌 관람객 취향에 맞는 다양한 프로그램을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직접 체험하는 테마파크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 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국내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외 타 지역은 물론 세계에서 유래를 찾아 볼 수 없는 테마파크형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역사놀이공원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3.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관광객 유치 방안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수도권에서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2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시간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30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분 이내의 거리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           주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5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일 근무제 적극 활용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이 나라 한민족을 이끌어갈 청소년들에게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           호연지기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(</a:t>
            </a:r>
            <a:r>
              <a:rPr lang="ko-KR" altLang="en-US" sz="1600" b="1">
                <a:solidFill>
                  <a:schemeClr val="tx1"/>
                </a:solidFill>
                <a:latin typeface="Baskerville Old Face"/>
                <a:ea typeface="궁서"/>
              </a:rPr>
              <a:t>浩然之氣</a:t>
            </a:r>
            <a:r>
              <a:rPr lang="en-US" altLang="ko-KR" sz="1600" b="1">
                <a:solidFill>
                  <a:schemeClr val="tx1"/>
                </a:solidFill>
                <a:latin typeface="Baskerville Old Face"/>
                <a:ea typeface="궁서"/>
              </a:rPr>
              <a:t>)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를 키울 수 있는 역사관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수련장 운영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수학 여행단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           교육부와 연계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교육적 효과를 높임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>
              <a:solidFill>
                <a:schemeClr val="tx1"/>
              </a:solidFill>
              <a:latin typeface="궁서"/>
              <a:ea typeface="궁서"/>
            </a:endParaRPr>
          </a:p>
          <a:p>
            <a:pPr algn="just">
              <a:defRPr/>
            </a:pPr>
            <a:endParaRPr lang="ko-KR" altLang="en-US">
              <a:solidFill>
                <a:schemeClr val="tx1"/>
              </a:solidFill>
              <a:latin typeface="궁서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379257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10.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시장 비교 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79512" y="1494594"/>
            <a:ext cx="280831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비 교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국내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외 비교  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63080" y="1926642"/>
            <a:ext cx="7669360" cy="42386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궁서"/>
              <a:ea typeface="궁서"/>
            </a:endParaRPr>
          </a:p>
          <a:p>
            <a:pPr algn="just">
              <a:defRPr/>
            </a:pPr>
            <a:endParaRPr lang="en-US" altLang="ko-KR" sz="1600">
              <a:solidFill>
                <a:schemeClr val="tx1"/>
              </a:solidFill>
              <a:latin typeface="궁서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설치물 없는 곳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	1)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안동 하회 마을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(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기존 시설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) 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영국 여왕 방문 후 부각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 startAt="2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설치물 있는 곳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	1)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왕건 세트장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방송사 드라마로 급 부상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문경시에서 부지를 제공하여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	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공동 사업으로 추진하였으며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2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만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3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천 평의 대지 위에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250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억 투자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 	 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         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지자체에서 직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간접적으로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600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억 원 규모의 경제 효과 발생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	</a:t>
            </a:r>
            <a:r>
              <a:rPr lang="en-US" altLang="ko-KR" sz="1600" b="1">
                <a:solidFill>
                  <a:schemeClr val="tx1"/>
                </a:solidFill>
                <a:latin typeface="Baskerville Old Face"/>
                <a:ea typeface="궁서"/>
              </a:rPr>
              <a:t>*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문제점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제대로 된 자재를 쓰지 않았으며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1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회용 드라마 세트로 건립하였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	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기에 건물 수명이 다 해 감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3.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중국 항주의 각 왕조의 성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진시황궁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한나라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당나라 궁 등을 실제 크기로 만들어       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근래까지도 영웅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명장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삼국지연의 등을 이곳에서 촬영하였음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4.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프랑스  퓌듀푸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(Puy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du Fou)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대형 야외공연장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  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  역사 관광 테마파크는 각 나라와 각 지역에 여러 군데 있으나  체험형 테마파크는  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   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본 사업 이외에는 존재하지 않음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 typeface="Arial"/>
              <a:buChar char="•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285750" indent="-285750" algn="just">
              <a:buFont typeface="Arial"/>
              <a:buChar char="•"/>
              <a:defRPr/>
            </a:pPr>
            <a:endParaRPr lang="ko-KR" altLang="en-US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1988788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11.1.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개발 환경 분석 및 배치 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(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배치도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)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379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11.2. </a:t>
            </a:r>
            <a:r>
              <a:rPr lang="ko-KR" altLang="en-US" dirty="0" err="1">
                <a:latin typeface="휴먼옛체" panose="02030504000101010101" pitchFamily="18" charset="-127"/>
                <a:ea typeface="휴먼옛체" panose="02030504000101010101" pitchFamily="18" charset="-127"/>
              </a:rPr>
              <a:t>사업지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개요 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–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위치 및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분류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457200" y="1268760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544990"/>
              </p:ext>
            </p:extLst>
          </p:nvPr>
        </p:nvGraphicFramePr>
        <p:xfrm>
          <a:off x="467544" y="1484784"/>
          <a:ext cx="5904656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3" imgW="5238742" imgH="2524149" progId="Excel.Sheet.12">
                  <p:embed/>
                </p:oleObj>
              </mc:Choice>
              <mc:Fallback>
                <p:oleObj name="워크시트" r:id="rId3" imgW="5238742" imgH="25241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1484784"/>
                        <a:ext cx="5904656" cy="252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138825"/>
              </p:ext>
            </p:extLst>
          </p:nvPr>
        </p:nvGraphicFramePr>
        <p:xfrm>
          <a:off x="1979712" y="4293096"/>
          <a:ext cx="6336704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5" imgW="4857856" imgH="1847965" progId="Excel.Sheet.12">
                  <p:embed/>
                </p:oleObj>
              </mc:Choice>
              <mc:Fallback>
                <p:oleObj name="워크시트" r:id="rId5" imgW="4857856" imgH="184796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4293096"/>
                        <a:ext cx="6336704" cy="184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2733530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11.3.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교통 환경 분석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539552" y="1484784"/>
            <a:ext cx="8136904" cy="453650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n-US" altLang="ko-KR" sz="2000">
                <a:latin typeface="Baskerville Old Face"/>
                <a:ea typeface="궁서"/>
              </a:rPr>
              <a:t>1.   </a:t>
            </a:r>
            <a:r>
              <a:rPr lang="ko-KR" altLang="en-US" sz="2000">
                <a:latin typeface="Baskerville Old Face"/>
                <a:ea typeface="궁서"/>
              </a:rPr>
              <a:t>사업장소와 중앙 고속도로가 바로 인접</a:t>
            </a:r>
            <a:r>
              <a:rPr lang="en-US" altLang="ko-KR" sz="2000">
                <a:latin typeface="Baskerville Old Face"/>
                <a:ea typeface="궁서"/>
              </a:rPr>
              <a:t>.</a:t>
            </a:r>
            <a:endParaRPr lang="en-US" altLang="ko-KR" sz="2000">
              <a:latin typeface="Baskerville Old Face"/>
              <a:ea typeface="궁서"/>
            </a:endParaRPr>
          </a:p>
          <a:p>
            <a:pPr algn="just">
              <a:defRPr/>
            </a:pPr>
            <a:endParaRPr lang="en-US" altLang="ko-KR" sz="2000"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2000">
                <a:latin typeface="Baskerville Old Face"/>
                <a:ea typeface="궁서"/>
              </a:rPr>
              <a:t>2.   </a:t>
            </a:r>
            <a:r>
              <a:rPr lang="ko-KR" altLang="en-US" sz="2000">
                <a:latin typeface="Baskerville Old Face"/>
                <a:ea typeface="궁서"/>
              </a:rPr>
              <a:t>경부 고속도로에서 </a:t>
            </a:r>
            <a:r>
              <a:rPr lang="en-US" altLang="ko-KR" sz="2000">
                <a:latin typeface="Baskerville Old Face"/>
                <a:ea typeface="궁서"/>
              </a:rPr>
              <a:t>2</a:t>
            </a:r>
            <a:r>
              <a:rPr lang="ko-KR" altLang="en-US" sz="2000">
                <a:latin typeface="Baskerville Old Face"/>
                <a:ea typeface="궁서"/>
              </a:rPr>
              <a:t>시간 </a:t>
            </a:r>
            <a:r>
              <a:rPr lang="en-US" altLang="ko-KR" sz="2000">
                <a:latin typeface="Baskerville Old Face"/>
                <a:ea typeface="궁서"/>
              </a:rPr>
              <a:t>30</a:t>
            </a:r>
            <a:r>
              <a:rPr lang="ko-KR" altLang="en-US" sz="2000">
                <a:latin typeface="Baskerville Old Face"/>
                <a:ea typeface="궁서"/>
              </a:rPr>
              <a:t>분 거리에 위치</a:t>
            </a:r>
            <a:r>
              <a:rPr lang="en-US" altLang="ko-KR" sz="2000">
                <a:latin typeface="Baskerville Old Face"/>
                <a:ea typeface="궁서"/>
              </a:rPr>
              <a:t>.</a:t>
            </a:r>
            <a:endParaRPr lang="en-US" altLang="ko-KR" sz="2000">
              <a:latin typeface="Baskerville Old Face"/>
              <a:ea typeface="궁서"/>
            </a:endParaRPr>
          </a:p>
          <a:p>
            <a:pPr marL="457200" indent="-457200" algn="just">
              <a:buAutoNum type="arabicPeriod" startAt="2"/>
              <a:defRPr/>
            </a:pPr>
            <a:endParaRPr lang="en-US" altLang="ko-KR" sz="2000"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2000">
                <a:latin typeface="Baskerville Old Face"/>
                <a:ea typeface="궁서"/>
              </a:rPr>
              <a:t>3.   </a:t>
            </a:r>
            <a:r>
              <a:rPr lang="ko-KR" altLang="en-US" sz="2000">
                <a:latin typeface="Baskerville Old Face"/>
                <a:ea typeface="궁서"/>
              </a:rPr>
              <a:t>지방 고속도로와 연결</a:t>
            </a:r>
            <a:r>
              <a:rPr lang="en-US" altLang="ko-KR" sz="2000">
                <a:latin typeface="Baskerville Old Face"/>
                <a:ea typeface="궁서"/>
              </a:rPr>
              <a:t>.</a:t>
            </a:r>
            <a:endParaRPr lang="en-US" altLang="ko-KR" sz="2000">
              <a:latin typeface="Baskerville Old Face"/>
              <a:ea typeface="궁서"/>
            </a:endParaRPr>
          </a:p>
          <a:p>
            <a:pPr marL="457200" indent="-457200" algn="just">
              <a:buAutoNum type="arabicPeriod" startAt="2"/>
              <a:defRPr/>
            </a:pPr>
            <a:endParaRPr lang="en-US" altLang="ko-KR" sz="2000"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2000">
                <a:latin typeface="Baskerville Old Face"/>
                <a:ea typeface="궁서"/>
              </a:rPr>
              <a:t>4.   </a:t>
            </a:r>
            <a:r>
              <a:rPr lang="ko-KR" altLang="en-US" sz="2000">
                <a:latin typeface="Baskerville Old Face"/>
                <a:ea typeface="궁서"/>
              </a:rPr>
              <a:t>사통팔달의 도로망으로 관광하기 편리성 가짐</a:t>
            </a:r>
            <a:r>
              <a:rPr lang="en-US" altLang="ko-KR" sz="2000">
                <a:latin typeface="Baskerville Old Face"/>
                <a:ea typeface="궁서"/>
              </a:rPr>
              <a:t>.</a:t>
            </a:r>
            <a:endParaRPr lang="en-US" altLang="ko-KR" sz="2000">
              <a:latin typeface="Baskerville Old Face"/>
              <a:ea typeface="궁서"/>
            </a:endParaRPr>
          </a:p>
          <a:p>
            <a:pPr marL="457200" indent="-457200" algn="just">
              <a:buAutoNum type="arabicPeriod" startAt="2"/>
              <a:defRPr/>
            </a:pPr>
            <a:endParaRPr lang="en-US" altLang="ko-KR" sz="2000"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2000">
                <a:latin typeface="Baskerville Old Face"/>
                <a:ea typeface="궁서"/>
              </a:rPr>
              <a:t>5.   </a:t>
            </a:r>
            <a:r>
              <a:rPr lang="ko-KR" altLang="en-US" sz="2000">
                <a:latin typeface="Baskerville Old Face"/>
                <a:ea typeface="궁서"/>
              </a:rPr>
              <a:t>수도권에서 </a:t>
            </a:r>
            <a:r>
              <a:rPr lang="en-US" altLang="ko-KR" sz="2000">
                <a:latin typeface="Baskerville Old Face"/>
                <a:ea typeface="궁서"/>
              </a:rPr>
              <a:t>2</a:t>
            </a:r>
            <a:r>
              <a:rPr lang="ko-KR" altLang="en-US" sz="2000">
                <a:latin typeface="Baskerville Old Face"/>
                <a:ea typeface="궁서"/>
              </a:rPr>
              <a:t>시간 </a:t>
            </a:r>
            <a:r>
              <a:rPr lang="en-US" altLang="ko-KR" sz="2000">
                <a:latin typeface="Baskerville Old Face"/>
                <a:ea typeface="궁서"/>
              </a:rPr>
              <a:t>30</a:t>
            </a:r>
            <a:r>
              <a:rPr lang="ko-KR" altLang="en-US" sz="2000">
                <a:latin typeface="Baskerville Old Face"/>
                <a:ea typeface="궁서"/>
              </a:rPr>
              <a:t>분 거리에 위치하고 있음</a:t>
            </a:r>
            <a:r>
              <a:rPr lang="en-US" altLang="ko-KR" sz="2000">
                <a:latin typeface="Baskerville Old Face"/>
                <a:ea typeface="궁서"/>
              </a:rPr>
              <a:t>.</a:t>
            </a:r>
            <a:endParaRPr lang="en-US" altLang="ko-KR" sz="2000">
              <a:latin typeface="Baskerville Old Face"/>
              <a:ea typeface="궁서"/>
            </a:endParaRPr>
          </a:p>
          <a:p>
            <a:pPr marL="457200" indent="-457200" algn="just">
              <a:buAutoNum type="arabicPeriod" startAt="2"/>
              <a:defRPr/>
            </a:pPr>
            <a:endParaRPr lang="en-US" altLang="ko-KR" sz="2000">
              <a:latin typeface="Baskerville Old Face"/>
              <a:ea typeface="궁서"/>
            </a:endParaRPr>
          </a:p>
          <a:p>
            <a:pPr algn="just">
              <a:defRPr/>
            </a:pPr>
            <a:r>
              <a:rPr lang="en-US" altLang="ko-KR" sz="2000">
                <a:latin typeface="Baskerville Old Face"/>
                <a:ea typeface="궁서"/>
              </a:rPr>
              <a:t>6.   </a:t>
            </a:r>
            <a:r>
              <a:rPr lang="ko-KR" altLang="en-US" sz="2000">
                <a:latin typeface="Baskerville Old Face"/>
                <a:ea typeface="궁서"/>
              </a:rPr>
              <a:t>관광버스</a:t>
            </a:r>
            <a:r>
              <a:rPr lang="en-US" altLang="ko-KR" sz="2000">
                <a:latin typeface="Baskerville Old Face"/>
                <a:ea typeface="궁서"/>
              </a:rPr>
              <a:t>, </a:t>
            </a:r>
            <a:r>
              <a:rPr lang="ko-KR" altLang="en-US" sz="2000">
                <a:latin typeface="Baskerville Old Face"/>
                <a:ea typeface="궁서"/>
              </a:rPr>
              <a:t>승용차로</a:t>
            </a:r>
            <a:r>
              <a:rPr lang="en-US" altLang="ko-KR" sz="2000">
                <a:latin typeface="Baskerville Old Face"/>
                <a:ea typeface="궁서"/>
              </a:rPr>
              <a:t>, </a:t>
            </a:r>
            <a:r>
              <a:rPr lang="ko-KR" altLang="en-US" sz="2000">
                <a:latin typeface="Baskerville Old Face"/>
                <a:ea typeface="궁서"/>
              </a:rPr>
              <a:t>낭만적인 테마</a:t>
            </a:r>
            <a:r>
              <a:rPr lang="en-US" altLang="ko-KR" sz="2000">
                <a:latin typeface="Baskerville Old Face"/>
                <a:ea typeface="궁서"/>
              </a:rPr>
              <a:t>, </a:t>
            </a:r>
            <a:r>
              <a:rPr lang="ko-KR" altLang="en-US" sz="2000">
                <a:latin typeface="Baskerville Old Face"/>
                <a:ea typeface="궁서"/>
              </a:rPr>
              <a:t>가족여행을 즐길 수 있음</a:t>
            </a:r>
            <a:r>
              <a:rPr lang="en-US" altLang="ko-KR" sz="2000">
                <a:latin typeface="Baskerville Old Face"/>
                <a:ea typeface="궁서"/>
              </a:rPr>
              <a:t>.</a:t>
            </a:r>
            <a:endParaRPr lang="ko-KR" altLang="en-US" sz="2000">
              <a:latin typeface="Baskerville Old Face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1774524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12.1.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개발 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Concept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 개요</a:t>
            </a:r>
            <a:r>
              <a:rPr lang="en-US" altLang="ko-KR" dirty="0">
                <a:latin typeface="휴먼옛체" panose="02030504000101010101" pitchFamily="18" charset="-127"/>
                <a:ea typeface="휴먼옛체" panose="02030504000101010101" pitchFamily="18" charset="-127"/>
              </a:rPr>
              <a:t>,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목적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467544" y="1556792"/>
            <a:ext cx="1080120" cy="432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관 광 객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691680" y="1567813"/>
            <a:ext cx="7200800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eriod"/>
            </a:pP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현 한국 내에서 관광 유동 인구는 년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약 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2,000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만 명으로 추산되며 </a:t>
            </a:r>
            <a:endParaRPr lang="en-US" altLang="ko-KR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algn="just"/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     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이 숫자는 향후 약 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2,500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만 명으로 증가할 것으로 예상 되고 있다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</a:p>
          <a:p>
            <a:pPr algn="just"/>
            <a:endParaRPr lang="en-US" altLang="ko-KR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algn="just"/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2.  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주 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5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일 근무와 가족 단위의 관광객이 늘면서 이는 자연스럽게 역사      </a:t>
            </a:r>
            <a:endParaRPr lang="en-US" altLang="ko-KR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algn="just"/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    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관광 테마로 이어져 가고 있다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.</a:t>
            </a:r>
            <a:endParaRPr lang="ko-KR" altLang="en-US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67544" y="3323523"/>
            <a:ext cx="3168352" cy="432048"/>
          </a:xfrm>
          <a:prstGeom prst="roundRect">
            <a:avLst>
              <a:gd name="adj" fmla="val 406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계획의 배경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범위 목적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691680" y="3902122"/>
            <a:ext cx="7200800" cy="2376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대형 야외 공연장 조성과 대상지는 관광 상품화 하기 위하여 부지 일대를 종합적으로 관리하고 개발할 수 있는 계획이 요구됨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지역 관광산업의 특성화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청소년 수련장 등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다양한 볼거리와 먹을거리로 수학여행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가족 단위의 여행 코스로 활용될 수 있다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공간적 범위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지자체 시군 고구려 역사 연고지역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시간적 범위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계획 기준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: 2022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년 도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/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목표 년도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: 2025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년 도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</p:spTree>
    <p:extLst>
      <p:ext uri="{BB962C8B-B14F-4D97-AF65-F5344CB8AC3E}">
        <p14:creationId xmlns:p14="http://schemas.microsoft.com/office/powerpoint/2010/main" val="294387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12.2.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단계 및 계획의 구성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338741" y="1628800"/>
            <a:ext cx="2664296" cy="60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시장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자원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지역 조사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635896" y="4545124"/>
            <a:ext cx="1872208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수익 창출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666451" y="3584964"/>
            <a:ext cx="1893224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운영 단계 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3614880" y="2665487"/>
            <a:ext cx="1893224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건설 단계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635896" y="1760967"/>
            <a:ext cx="1872208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계획 단계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23528" y="2544804"/>
            <a:ext cx="2664296" cy="60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디자인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모델링 색채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3528" y="3474958"/>
            <a:ext cx="2664296" cy="60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인재교육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입장객 관리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156176" y="1640284"/>
            <a:ext cx="2664296" cy="601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아이디어 발안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컨설팅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38741" y="4438901"/>
            <a:ext cx="2664296" cy="60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전통 음식점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객주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여각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159513" y="4424441"/>
            <a:ext cx="2664296" cy="601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캐릭터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자산관리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156176" y="3584964"/>
            <a:ext cx="2664296" cy="601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마케팅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이벤트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156176" y="2625527"/>
            <a:ext cx="2664296" cy="601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설계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조경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의상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3003037" y="1940987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029701" y="3784537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3003037" y="2834023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8" idx="2"/>
            <a:endCxn id="17" idx="0"/>
          </p:cNvCxnSpPr>
          <p:nvPr/>
        </p:nvCxnSpPr>
        <p:spPr>
          <a:xfrm flipH="1">
            <a:off x="4561492" y="2121007"/>
            <a:ext cx="10508" cy="544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2987824" y="4707167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5528754" y="4712909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5541818" y="3775661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5508104" y="2861129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5559675" y="1959759"/>
            <a:ext cx="632859" cy="11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>
            <a:stCxn id="17" idx="2"/>
          </p:cNvCxnSpPr>
          <p:nvPr/>
        </p:nvCxnSpPr>
        <p:spPr>
          <a:xfrm flipH="1">
            <a:off x="4534539" y="3025527"/>
            <a:ext cx="26953" cy="55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>
            <a:off x="4547026" y="3991117"/>
            <a:ext cx="10508" cy="544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875770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  <a:ea typeface="휴먼옛체" panose="02030504000101010101" pitchFamily="18" charset="-127"/>
              </a:rPr>
              <a:t>12.3.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개발 사업의 구성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/>
          <p:cNvSpPr/>
          <p:nvPr/>
        </p:nvSpPr>
        <p:spPr>
          <a:xfrm>
            <a:off x="3168222" y="1556792"/>
            <a:ext cx="2448272" cy="936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영화 제작사 </a:t>
            </a:r>
          </a:p>
        </p:txBody>
      </p:sp>
      <p:sp>
        <p:nvSpPr>
          <p:cNvPr id="5" name="타원 4"/>
          <p:cNvSpPr/>
          <p:nvPr/>
        </p:nvSpPr>
        <p:spPr>
          <a:xfrm>
            <a:off x="3168222" y="3005324"/>
            <a:ext cx="2953084" cy="1512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2800">
                <a:solidFill>
                  <a:schemeClr val="tx1"/>
                </a:solidFill>
                <a:latin typeface="Baskerville Old Face"/>
              </a:rPr>
              <a:t>Project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대형 야외 공연장</a:t>
            </a:r>
            <a:r>
              <a:rPr lang="en-US" altLang="ko-KR">
                <a:solidFill>
                  <a:schemeClr val="tx1"/>
                </a:solidFill>
              </a:rPr>
              <a:t>/ 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수련원 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6588224" y="3284984"/>
            <a:ext cx="2052514" cy="936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홍 보 사  </a:t>
            </a:r>
          </a:p>
        </p:txBody>
      </p:sp>
      <p:sp>
        <p:nvSpPr>
          <p:cNvPr id="7" name="타원 6"/>
          <p:cNvSpPr/>
          <p:nvPr/>
        </p:nvSpPr>
        <p:spPr>
          <a:xfrm>
            <a:off x="3347864" y="5013176"/>
            <a:ext cx="2448272" cy="936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특화 숙박시설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객주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여각</a:t>
            </a:r>
          </a:p>
        </p:txBody>
      </p:sp>
      <p:sp>
        <p:nvSpPr>
          <p:cNvPr id="8" name="타원 7"/>
          <p:cNvSpPr/>
          <p:nvPr/>
        </p:nvSpPr>
        <p:spPr>
          <a:xfrm>
            <a:off x="323529" y="3284984"/>
            <a:ext cx="2304256" cy="936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시 행 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㈜ 광개토대왕  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테마파크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왼쪽/오른쪽 화살표 9"/>
          <p:cNvSpPr/>
          <p:nvPr/>
        </p:nvSpPr>
        <p:spPr>
          <a:xfrm>
            <a:off x="2663788" y="3614528"/>
            <a:ext cx="504434" cy="250688"/>
          </a:xfrm>
          <a:prstGeom prst="left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/오른쪽 화살표 10"/>
          <p:cNvSpPr/>
          <p:nvPr/>
        </p:nvSpPr>
        <p:spPr>
          <a:xfrm rot="5400000">
            <a:off x="4319783" y="4644365"/>
            <a:ext cx="504434" cy="250688"/>
          </a:xfrm>
          <a:prstGeom prst="left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왼쪽/오른쪽 화살표 11"/>
          <p:cNvSpPr/>
          <p:nvPr/>
        </p:nvSpPr>
        <p:spPr>
          <a:xfrm rot="5400000">
            <a:off x="4234169" y="2627763"/>
            <a:ext cx="504434" cy="250688"/>
          </a:xfrm>
          <a:prstGeom prst="left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왼쪽/오른쪽 화살표 12"/>
          <p:cNvSpPr/>
          <p:nvPr/>
        </p:nvSpPr>
        <p:spPr>
          <a:xfrm>
            <a:off x="6121306" y="3673722"/>
            <a:ext cx="466918" cy="250688"/>
          </a:xfrm>
          <a:prstGeom prst="left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743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12.4.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단지 시설 및 시설물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679696"/>
              </p:ext>
            </p:extLst>
          </p:nvPr>
        </p:nvGraphicFramePr>
        <p:xfrm>
          <a:off x="348815" y="1556792"/>
          <a:ext cx="8496944" cy="424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3" imgW="6858118" imgH="3305067" progId="Excel.Sheet.12">
                  <p:embed/>
                </p:oleObj>
              </mc:Choice>
              <mc:Fallback>
                <p:oleObj name="워크시트" r:id="rId3" imgW="6858118" imgH="330506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815" y="1556792"/>
                        <a:ext cx="8496944" cy="4248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2656328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12.5. 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사업성 분석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대각선 방향의 모서리가 둥근 사각형 2"/>
          <p:cNvSpPr/>
          <p:nvPr/>
        </p:nvSpPr>
        <p:spPr>
          <a:xfrm>
            <a:off x="518382" y="1448780"/>
            <a:ext cx="2685465" cy="396044"/>
          </a:xfrm>
          <a:prstGeom prst="round2Diag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지역경제 발전에 기여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89186" y="1931861"/>
            <a:ext cx="784887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just"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주민참여 및 지역주민 고용에 따른 각종 세 수익 효과의 직업군 형성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환경 친화 천혜의 관광도시로서의 이미지 상승 효과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관광객 증가에 따른 지방 관광산업의 특성화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.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4.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지방소멸 기금 활용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 -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일자리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0" indent="0" algn="just"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4.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   지방소멸 기금을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  <a:p>
            <a:pPr marL="342900" indent="-342900" algn="just">
              <a:buAutoNum type="arabicPeriod"/>
              <a:defRPr/>
            </a:pPr>
            <a:endParaRPr lang="en-US" altLang="ko-KR" sz="1600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  <p:sp>
        <p:nvSpPr>
          <p:cNvPr id="7" name="대각선 방향의 모서리가 둥근 사각형 6"/>
          <p:cNvSpPr/>
          <p:nvPr/>
        </p:nvSpPr>
        <p:spPr>
          <a:xfrm>
            <a:off x="524743" y="5280265"/>
            <a:ext cx="2685465" cy="401991"/>
          </a:xfrm>
          <a:prstGeom prst="round2Diag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관광객에 의한 간접 효과  </a:t>
            </a:r>
          </a:p>
        </p:txBody>
      </p:sp>
      <p:sp>
        <p:nvSpPr>
          <p:cNvPr id="8" name="대각선 방향의 모서리가 둥근 사각형 7"/>
          <p:cNvSpPr/>
          <p:nvPr/>
        </p:nvSpPr>
        <p:spPr>
          <a:xfrm>
            <a:off x="540355" y="4309297"/>
            <a:ext cx="2685465" cy="360040"/>
          </a:xfrm>
          <a:prstGeom prst="round2Diag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세 수익의 효과  </a:t>
            </a:r>
          </a:p>
        </p:txBody>
      </p:sp>
      <p:sp>
        <p:nvSpPr>
          <p:cNvPr id="9" name="대각선 방향의 모서리가 둥근 사각형 8"/>
          <p:cNvSpPr/>
          <p:nvPr/>
        </p:nvSpPr>
        <p:spPr>
          <a:xfrm>
            <a:off x="518381" y="3315042"/>
            <a:ext cx="2685465" cy="369970"/>
          </a:xfrm>
          <a:prstGeom prst="round2Diag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역사적 효과를 기대하다 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89388" y="3777916"/>
            <a:ext cx="7848872" cy="4621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고구려 재현을 통하여 평양성의 거리를 접할 수 있는 특화된 명품 관광</a:t>
            </a:r>
            <a:endParaRPr lang="en-US" altLang="ko-KR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09469" y="4730530"/>
            <a:ext cx="7848872" cy="4621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총 사업비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1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차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160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억 원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–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총 투자비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450 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억 원 및 년간 예상 매출 </a:t>
            </a:r>
            <a:r>
              <a:rPr lang="en-US" altLang="ko-KR" sz="1600">
                <a:solidFill>
                  <a:schemeClr val="tx1"/>
                </a:solidFill>
                <a:latin typeface="Baskerville Old Face"/>
                <a:ea typeface="궁서"/>
              </a:rPr>
              <a:t>120</a:t>
            </a:r>
            <a:r>
              <a:rPr lang="ko-KR" altLang="en-US" sz="1600">
                <a:solidFill>
                  <a:schemeClr val="tx1"/>
                </a:solidFill>
                <a:latin typeface="Baskerville Old Face"/>
                <a:ea typeface="궁서"/>
              </a:rPr>
              <a:t>억 원 대한 세수익 </a:t>
            </a:r>
            <a:endParaRPr lang="ko-KR" altLang="en-US" sz="1600">
              <a:solidFill>
                <a:schemeClr val="tx1"/>
              </a:solidFill>
              <a:latin typeface="Baskerville Old Face"/>
              <a:ea typeface="궁서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42458" y="5769886"/>
            <a:ext cx="7848872" cy="4621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예상 년간 </a:t>
            </a:r>
            <a:r>
              <a:rPr lang="ko-KR" altLang="en-US" sz="1600" dirty="0" err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집객률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200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만 명으로 발생되는 각종 관광 수익 </a:t>
            </a:r>
            <a:endParaRPr lang="en-US" altLang="ko-KR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2983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12.6.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프로젝트의 관점 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91317" y="1571613"/>
            <a:ext cx="3534569" cy="84927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볼거리</a:t>
            </a:r>
            <a:r>
              <a:rPr lang="en-US" altLang="ko-KR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b="1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살거리</a:t>
            </a:r>
            <a:r>
              <a:rPr lang="en-US" altLang="ko-KR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  <a:r>
              <a:rPr lang="ko-KR" altLang="en-US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en-US" altLang="ko-KR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ctr" eaLnBrk="1" latinLnBrk="1" hangingPunct="1">
              <a:defRPr/>
            </a:pPr>
            <a:r>
              <a:rPr lang="ko-KR" altLang="en-US" b="1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먹을거리를</a:t>
            </a:r>
            <a:r>
              <a:rPr lang="ko-KR" altLang="en-US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특화</a:t>
            </a:r>
          </a:p>
        </p:txBody>
      </p:sp>
      <p:sp>
        <p:nvSpPr>
          <p:cNvPr id="6" name="순서도: 논리합 5"/>
          <p:cNvSpPr/>
          <p:nvPr/>
        </p:nvSpPr>
        <p:spPr>
          <a:xfrm>
            <a:off x="519869" y="2738041"/>
            <a:ext cx="3029024" cy="2667794"/>
          </a:xfrm>
          <a:prstGeom prst="flowChartOr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2007674" y="4279653"/>
            <a:ext cx="1214437" cy="4286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800" b="1" dirty="0">
                <a:solidFill>
                  <a:srgbClr val="FFFFFF"/>
                </a:solidFill>
                <a:ea typeface="굴림" pitchFamily="50" charset="-127"/>
              </a:rPr>
              <a:t>수익성</a:t>
            </a:r>
          </a:p>
        </p:txBody>
      </p:sp>
      <p:sp>
        <p:nvSpPr>
          <p:cNvPr id="8" name="타원 7"/>
          <p:cNvSpPr/>
          <p:nvPr/>
        </p:nvSpPr>
        <p:spPr>
          <a:xfrm>
            <a:off x="683568" y="3402653"/>
            <a:ext cx="1214437" cy="4286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800" b="1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특화된관광</a:t>
            </a:r>
            <a:r>
              <a:rPr lang="ko-KR" altLang="en-US" sz="18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상품</a:t>
            </a:r>
          </a:p>
        </p:txBody>
      </p:sp>
      <p:sp>
        <p:nvSpPr>
          <p:cNvPr id="9" name="타원 8"/>
          <p:cNvSpPr/>
          <p:nvPr/>
        </p:nvSpPr>
        <p:spPr>
          <a:xfrm>
            <a:off x="2498725" y="3152621"/>
            <a:ext cx="428625" cy="500063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0" name="폭발 1 9"/>
          <p:cNvSpPr/>
          <p:nvPr/>
        </p:nvSpPr>
        <p:spPr>
          <a:xfrm>
            <a:off x="5214148" y="1785926"/>
            <a:ext cx="2500330" cy="2143140"/>
          </a:xfrm>
          <a:prstGeom prst="irregularSeal1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sunse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200" dirty="0"/>
              <a:t>특화된 역사 관광상품 개발로 </a:t>
            </a:r>
            <a:endParaRPr lang="en-US" altLang="ko-KR" sz="1200" dirty="0"/>
          </a:p>
          <a:p>
            <a:pPr algn="ctr" eaLnBrk="1" latinLnBrk="1" hangingPunct="1">
              <a:defRPr/>
            </a:pPr>
            <a:r>
              <a:rPr lang="ko-KR" altLang="en-US" sz="1200" dirty="0"/>
              <a:t>관광지 부각</a:t>
            </a:r>
            <a:endParaRPr lang="en-US" altLang="ko-KR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548892" y="3929066"/>
            <a:ext cx="5487603" cy="20002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국내 최대 관광객 방문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고구려 재현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-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역사문화 관광지 개발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관광객의 배후 숙박시설  형성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단지내의 위락시설 개발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–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사계절  관광지화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인접관광지의 배후 숙박시설 및 놀이시설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 </a:t>
            </a: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승마 문화 부각</a:t>
            </a:r>
          </a:p>
        </p:txBody>
      </p:sp>
      <p:sp>
        <p:nvSpPr>
          <p:cNvPr id="12" name="오른쪽으로 구부러진 화살표 11"/>
          <p:cNvSpPr/>
          <p:nvPr/>
        </p:nvSpPr>
        <p:spPr>
          <a:xfrm rot="5400000">
            <a:off x="3961310" y="1380042"/>
            <a:ext cx="795337" cy="2863258"/>
          </a:xfrm>
          <a:prstGeom prst="curv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2983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>
                <a:latin typeface="Baskerville Old Face" panose="02020602080505020303" pitchFamily="18" charset="0"/>
              </a:rPr>
              <a:t>12.7. </a:t>
            </a:r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마케팅 방안 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/>
        </p:nvSpPr>
        <p:spPr>
          <a:xfrm>
            <a:off x="2570163" y="4786313"/>
            <a:ext cx="1214437" cy="4286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800" b="1">
                <a:solidFill>
                  <a:srgbClr val="FFFFFF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수익성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259632" y="1556793"/>
            <a:ext cx="6264695" cy="729208"/>
          </a:xfrm>
          <a:prstGeom prst="roundRect">
            <a:avLst/>
          </a:prstGeom>
          <a:solidFill>
            <a:srgbClr val="0070C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b="1" dirty="0">
                <a:solidFill>
                  <a:schemeClr val="bg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정확한 </a:t>
            </a:r>
            <a:r>
              <a:rPr lang="en-US" altLang="ko-KR" b="1" dirty="0">
                <a:solidFill>
                  <a:schemeClr val="bg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TARGET  MARKETING</a:t>
            </a:r>
            <a:r>
              <a:rPr lang="ko-KR" altLang="en-US" b="1" dirty="0">
                <a:solidFill>
                  <a:schemeClr val="bg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과  관심 유발</a:t>
            </a:r>
            <a:r>
              <a:rPr lang="en-US" altLang="ko-KR" b="1" dirty="0">
                <a:solidFill>
                  <a:schemeClr val="bg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신뢰성 부여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927868" y="2428868"/>
            <a:ext cx="1500198" cy="1214446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b="1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마케팅  </a:t>
            </a:r>
            <a:r>
              <a:rPr lang="ko-KR" altLang="en-US" b="1" dirty="0" err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컨셉</a:t>
            </a:r>
            <a:endParaRPr lang="ko-KR" altLang="en-US" b="1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27868" y="3857628"/>
            <a:ext cx="1500198" cy="214314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b="1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접 근  방 식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785256" y="2428868"/>
            <a:ext cx="5357850" cy="1214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latinLnBrk="1" hangingPunct="1">
              <a:buFont typeface="Arial" charset="0"/>
              <a:buChar char="•"/>
              <a:defRPr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차별화된 전략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– </a:t>
            </a:r>
            <a:r>
              <a:rPr lang="ko-KR" altLang="en-US" b="1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역사 명품관광 상품 </a:t>
            </a:r>
            <a:endParaRPr lang="en-US" altLang="ko-KR" b="1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b="1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	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스포츠 관광상품과 차별화 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  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sz="2000" b="1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* 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특화된 관광상품 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영화를 통한 홍보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– 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영화 장면을 연출하여 공연</a:t>
            </a: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)     </a:t>
            </a: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 </a:t>
            </a: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 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785256" y="3857628"/>
            <a:ext cx="1285884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주의 집중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785256" y="4429132"/>
            <a:ext cx="1285884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흥미유발</a:t>
            </a:r>
            <a:endParaRPr lang="en-US" altLang="ko-KR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785256" y="5000636"/>
            <a:ext cx="1285884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욕구자극</a:t>
            </a:r>
            <a:endParaRPr lang="en-US" altLang="ko-KR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785256" y="5572140"/>
            <a:ext cx="1285884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구매유도</a:t>
            </a:r>
            <a:endParaRPr lang="en-US" altLang="ko-KR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42578" y="3857628"/>
            <a:ext cx="4000528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잠재적  대기 수요층 확보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142578" y="4429132"/>
            <a:ext cx="4000528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차별화된  관광 상품 </a:t>
            </a:r>
            <a:r>
              <a:rPr lang="en-US" altLang="ko-KR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-  </a:t>
            </a:r>
            <a:r>
              <a:rPr lang="ko-KR" altLang="en-US" sz="1600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역사 관광 상품 구성 </a:t>
            </a:r>
            <a:endParaRPr lang="en-US" altLang="ko-KR" sz="1600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142578" y="5000636"/>
            <a:ext cx="4000528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가격 경쟁력 확보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142578" y="5572140"/>
            <a:ext cx="4000528" cy="428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합리적인 가격 결정</a:t>
            </a:r>
            <a:endParaRPr lang="en-US" altLang="ko-KR" dirty="0">
              <a:solidFill>
                <a:schemeClr val="tx1"/>
              </a:solidFill>
              <a:latin typeface="Baskerville Old Face" panose="02020602080505020303" pitchFamily="18" charset="0"/>
              <a:ea typeface="궁서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850601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>
                <a:latin typeface="Baskerville Old Face"/>
              </a:rPr>
              <a:t>12.8. </a:t>
            </a:r>
            <a:r>
              <a:rPr lang="ko-KR" altLang="en-US">
                <a:latin typeface="휴먼옛체"/>
                <a:ea typeface="휴먼옛체"/>
              </a:rPr>
              <a:t>홍보 광고 전략  </a:t>
            </a:r>
            <a:endParaRPr lang="ko-KR" altLang="en-US">
              <a:latin typeface="휴먼옛체"/>
              <a:ea typeface="휴먼옛체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/>
        </p:nvSpPr>
        <p:spPr>
          <a:xfrm>
            <a:off x="2570163" y="4786313"/>
            <a:ext cx="1214437" cy="4286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800" b="1">
                <a:solidFill>
                  <a:srgbClr val="FFFFFF"/>
                </a:solidFill>
                <a:ea typeface="굴림" pitchFamily="50" charset="-127"/>
              </a:rPr>
              <a:t>수익성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927349" y="2250282"/>
            <a:ext cx="2001838" cy="2107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latinLnBrk="1" hangingPunct="1">
              <a:defRPr/>
            </a:pPr>
            <a:endParaRPr lang="en-US" altLang="ko-KR" dirty="0">
              <a:solidFill>
                <a:srgbClr val="FFFFFF"/>
              </a:solidFill>
              <a:ea typeface="굴림" pitchFamily="50" charset="-127"/>
            </a:endParaRPr>
          </a:p>
          <a:p>
            <a:pPr eaLnBrk="1" latinLnBrk="1" hangingPunct="1"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인터넷 홍보 활용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세부적 상품정보      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및 입지관련 특화   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상품</a:t>
            </a:r>
          </a:p>
          <a:p>
            <a:pPr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ea typeface="굴림" pitchFamily="50" charset="-127"/>
              </a:rPr>
              <a:t>  </a:t>
            </a:r>
            <a:endParaRPr lang="en-US" altLang="ko-KR" dirty="0">
              <a:solidFill>
                <a:schemeClr val="tx1"/>
              </a:solidFill>
              <a:ea typeface="굴림" pitchFamily="50" charset="-127"/>
            </a:endParaRPr>
          </a:p>
          <a:p>
            <a:pPr eaLnBrk="1" latinLnBrk="1" hangingPunct="1">
              <a:defRPr/>
            </a:pPr>
            <a:endParaRPr lang="ko-KR" altLang="en-US" dirty="0">
              <a:solidFill>
                <a:schemeClr val="tx1"/>
              </a:solidFill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4224" y="2250282"/>
            <a:ext cx="2000250" cy="2107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latinLnBrk="1" hangingPunct="1">
              <a:defRPr/>
            </a:pPr>
            <a:endParaRPr lang="en-US" altLang="ko-KR" dirty="0">
              <a:solidFill>
                <a:srgbClr val="FFFFFF"/>
              </a:solidFill>
              <a:ea typeface="굴림" pitchFamily="50" charset="-127"/>
            </a:endParaRPr>
          </a:p>
          <a:p>
            <a:pPr eaLnBrk="1" latinLnBrk="1" hangingPunct="1"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상품정보 제공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*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상품의 특화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전문인을 통해 극대화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84224" y="2250282"/>
            <a:ext cx="2000250" cy="214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기 본 방 향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927349" y="2250282"/>
            <a:ext cx="2001838" cy="214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적용방향 및 대체</a:t>
            </a:r>
          </a:p>
        </p:txBody>
      </p:sp>
      <p:sp>
        <p:nvSpPr>
          <p:cNvPr id="10" name="아래쪽 화살표 9"/>
          <p:cNvSpPr/>
          <p:nvPr/>
        </p:nvSpPr>
        <p:spPr>
          <a:xfrm rot="10800000" flipV="1">
            <a:off x="1417221" y="3196831"/>
            <a:ext cx="428625" cy="267887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41349" y="1893094"/>
            <a:ext cx="4430713" cy="26074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998664" y="1678782"/>
            <a:ext cx="1785936" cy="4286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b="1">
                <a:solidFill>
                  <a:schemeClr val="tx1"/>
                </a:solidFill>
                <a:latin typeface="궁서"/>
                <a:ea typeface="궁서"/>
              </a:rPr>
              <a:t>광고 전략</a:t>
            </a:r>
            <a:endParaRPr lang="ko-KR" altLang="en-US" b="1">
              <a:solidFill>
                <a:schemeClr val="tx1"/>
              </a:solidFill>
              <a:latin typeface="궁서"/>
              <a:ea typeface="궁서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153713" y="1893094"/>
            <a:ext cx="3500437" cy="246459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latinLnBrk="1" hangingPunct="1">
              <a:defRPr/>
            </a:pPr>
            <a:endParaRPr lang="en-US" altLang="ko-KR" dirty="0">
              <a:solidFill>
                <a:schemeClr val="tx1"/>
              </a:solidFill>
              <a:ea typeface="굴림" pitchFamily="50" charset="-127"/>
            </a:endParaRPr>
          </a:p>
          <a:p>
            <a:pPr eaLnBrk="1" latinLnBrk="1" hangingPunct="1">
              <a:buFont typeface="Arial" charset="0"/>
              <a:buChar char="•"/>
              <a:defRPr/>
            </a:pPr>
            <a:endParaRPr lang="en-US" altLang="ko-KR" dirty="0">
              <a:solidFill>
                <a:schemeClr val="tx1"/>
              </a:solidFill>
              <a:ea typeface="굴림" pitchFamily="50" charset="-127"/>
            </a:endParaRPr>
          </a:p>
          <a:p>
            <a:pPr eaLnBrk="1" latinLnBrk="1" hangingPunct="1">
              <a:buFont typeface="Arial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차별화된 전략과 특화된 서비스 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-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역사관광 상품으로 특화된 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    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관광상품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-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영화</a:t>
            </a: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드라마 제작으로 홍보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   -</a:t>
            </a:r>
            <a:r>
              <a:rPr lang="ko-KR" altLang="en-US" sz="160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청소년 연령별 특화된 사업        </a:t>
            </a:r>
            <a:endParaRPr lang="en-US" altLang="ko-KR" sz="1600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eaLnBrk="1" latinLnBrk="1" hangingPunct="1">
              <a:defRPr/>
            </a:pPr>
            <a:r>
              <a:rPr lang="en-US" altLang="ko-KR" dirty="0">
                <a:solidFill>
                  <a:schemeClr val="tx1"/>
                </a:solidFill>
                <a:ea typeface="굴림" pitchFamily="50" charset="-127"/>
              </a:rPr>
              <a:t>    </a:t>
            </a:r>
            <a:endParaRPr lang="ko-KR" altLang="en-US" dirty="0">
              <a:solidFill>
                <a:schemeClr val="tx1"/>
              </a:solidFill>
              <a:ea typeface="굴림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616697" y="1678781"/>
            <a:ext cx="2571750" cy="4286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b="1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Promotion  </a:t>
            </a:r>
            <a:r>
              <a:rPr lang="ko-KR" altLang="en-US" b="1" dirty="0">
                <a:solidFill>
                  <a:schemeClr val="tx1"/>
                </a:solidFill>
                <a:latin typeface="Baskerville Old Face" panose="02020602080505020303" pitchFamily="18" charset="0"/>
                <a:ea typeface="궁서" panose="02030600000101010101" pitchFamily="18" charset="-127"/>
              </a:rPr>
              <a:t>전략</a:t>
            </a:r>
          </a:p>
        </p:txBody>
      </p:sp>
      <p:sp>
        <p:nvSpPr>
          <p:cNvPr id="15" name="순서도: 대체 처리 14"/>
          <p:cNvSpPr/>
          <p:nvPr/>
        </p:nvSpPr>
        <p:spPr>
          <a:xfrm>
            <a:off x="1631534" y="5572125"/>
            <a:ext cx="5748778" cy="593179"/>
          </a:xfrm>
          <a:prstGeom prst="flowChartAlternateProcess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역사관광 상품을 통한 차별화 전략</a:t>
            </a:r>
          </a:p>
        </p:txBody>
      </p:sp>
      <p:sp>
        <p:nvSpPr>
          <p:cNvPr id="16" name="아래쪽 화살표 15"/>
          <p:cNvSpPr/>
          <p:nvPr/>
        </p:nvSpPr>
        <p:spPr>
          <a:xfrm>
            <a:off x="1874455" y="4587968"/>
            <a:ext cx="4857784" cy="8572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rgbClr val="ffffff"/>
              </a:solidFill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130823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435" y="1631979"/>
            <a:ext cx="3486988" cy="208505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>
                <a:latin typeface="휴먼옛체" panose="02030504000101010101" pitchFamily="18" charset="-127"/>
                <a:ea typeface="휴먼옛체" panose="02030504000101010101" pitchFamily="18" charset="-127"/>
              </a:rPr>
              <a:t>승마장 이미지   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3528" y="1340768"/>
            <a:ext cx="8496944" cy="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/>
        </p:nvSpPr>
        <p:spPr>
          <a:xfrm>
            <a:off x="2570163" y="4786313"/>
            <a:ext cx="1214437" cy="4286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800" b="1">
                <a:solidFill>
                  <a:srgbClr val="FFFFFF"/>
                </a:solidFill>
                <a:ea typeface="굴림" pitchFamily="50" charset="-127"/>
              </a:rPr>
              <a:t>수익성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27910" y="4005065"/>
            <a:ext cx="7560513" cy="1995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귀족 스포츠의 대명사로 지목되던 승마를 할 수 있다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! </a:t>
            </a:r>
          </a:p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승마장 시설이 되어 있어 공공성이 확보된 데다가 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도심에서 가까우면서도 산중의 고요함을 체험할 수 있는 입지여건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</a:t>
            </a:r>
          </a:p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국민 눈높이에 맞는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algn="ctr" eaLnBrk="1" latinLnBrk="1" hangingPunct="1">
              <a:defRPr/>
            </a:pPr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비용으로 승마를 즐길 수 있다</a:t>
            </a:r>
            <a:r>
              <a:rPr lang="en-US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. </a:t>
            </a:r>
            <a:br>
              <a:rPr lang="en-US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</a:br>
            <a:endParaRPr lang="ko-KR" altLang="en-US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0" b="17571"/>
          <a:stretch/>
        </p:blipFill>
        <p:spPr>
          <a:xfrm>
            <a:off x="858521" y="1628800"/>
            <a:ext cx="3353440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23712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제목 6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882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제목 6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070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MS PGothic"/>
        <a:font script="Hang" typeface="맑은 고딕"/>
        <a:font script="Hans" typeface="黑体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MS PGothic"/>
        <a:font script="Hang" typeface="맑은 고딕"/>
        <a:font script="Hans" typeface="黑体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 rotWithShape="1">
          <a:blip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1667</ep:Words>
  <ep:PresentationFormat>화면 슬라이드 쇼(4:3)</ep:PresentationFormat>
  <ep:Paragraphs>387</ep:Paragraphs>
  <ep:Slides>35</ep:Slides>
  <ep:Notes>21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ep:HeadingPairs>
  <ep:TitlesOfParts>
    <vt:vector size="36" baseType="lpstr">
      <vt:lpstr>광장</vt:lpstr>
      <vt:lpstr>역사놀이공원 (고구려 역사문화 체험의 장)</vt:lpstr>
      <vt:lpstr>사 업 계 획 서</vt:lpstr>
      <vt:lpstr>INDEX</vt:lpstr>
      <vt:lpstr>1. 본 사업의 목적</vt:lpstr>
      <vt:lpstr>2. 기획 배경</vt:lpstr>
      <vt:lpstr>3. 기획방향</vt:lpstr>
      <vt:lpstr>4. 기대효과</vt:lpstr>
      <vt:lpstr>5. 업무 방향</vt:lpstr>
      <vt:lpstr>6. 회사 설립 운영</vt:lpstr>
      <vt:lpstr>6-1. 조직도</vt:lpstr>
      <vt:lpstr>7-1. 사업내용 1</vt:lpstr>
      <vt:lpstr>7-2. 사업내용 2</vt:lpstr>
      <vt:lpstr>7.3. 사업내용 3</vt:lpstr>
      <vt:lpstr>8.1. 건립 위치 및 조건</vt:lpstr>
      <vt:lpstr>8.2. 운영 계획</vt:lpstr>
      <vt:lpstr>8.3.  고용 창출 효과</vt:lpstr>
      <vt:lpstr>9. 1. 총 사업비 및 자금 조달 계획</vt:lpstr>
      <vt:lpstr>9.2.  건립비 내역서</vt:lpstr>
      <vt:lpstr>9.3. 수지 분석 및 원금 상환</vt:lpstr>
      <vt:lpstr>10. 시장 분석</vt:lpstr>
      <vt:lpstr>10. 시장 비교</vt:lpstr>
      <vt:lpstr>11.1. 개발 환경 분석 및 배치 (배치도)</vt:lpstr>
      <vt:lpstr>11.2. 사업지 개요 – 위치 및 분류</vt:lpstr>
      <vt:lpstr>11.3. 교통 환경 분석</vt:lpstr>
      <vt:lpstr>12.1. 개발 Concept 개요, 목적</vt:lpstr>
      <vt:lpstr>12.2. 단계 및 계획의 구성</vt:lpstr>
      <vt:lpstr>12.3. 개발 사업의 구성</vt:lpstr>
      <vt:lpstr>12.4. 단지 시설 및 시설물</vt:lpstr>
      <vt:lpstr>12.5.  사업성 분석</vt:lpstr>
      <vt:lpstr>12.6. 프로젝트의 관점</vt:lpstr>
      <vt:lpstr>12.7. 마케팅 방안</vt:lpstr>
      <vt:lpstr>12.8. 홍보 광고 전략</vt:lpstr>
      <vt:lpstr>승마장 이미지</vt:lpstr>
      <vt:lpstr>슬라이드 34</vt:lpstr>
      <vt:lpstr>슬라이드 35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2020-11-01T23:23:29.000</dcterms:created>
  <dc:creator>R560</dc:creator>
  <cp:lastModifiedBy>Administrator</cp:lastModifiedBy>
  <dcterms:modified xsi:type="dcterms:W3CDTF">2022-02-28T10:21:46.789</dcterms:modified>
  <cp:revision>97</cp:revision>
  <dc:title>대 조 선 제 국 (고구려 역사문화 체험의 장)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